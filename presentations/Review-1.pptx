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5029200" cy="5029200"/>
          </a:xfrm>
          <a:prstGeom prst="ellipse">
            <a:avLst/>
          </a:prstGeom>
          <a:solidFill>
            <a:srgbClr val="3E7C97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3657600" cy="3657600"/>
          </a:xfrm>
          <a:prstGeom prst="ellipse">
            <a:avLst/>
          </a:prstGeom>
          <a:solidFill>
            <a:srgbClr val="F2A65A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38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Implementation of a Database Management System for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Attendance, Shift and Leave Management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and application for shift-based workforce operations — rosters, attendance, overtime, leave and payroll-ready reporting.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2011680" cy="0"/>
          </a:xfrm>
          <a:prstGeom prst="line">
            <a:avLst/>
          </a:prstGeom>
          <a:noFill/>
          <a:ln w="31750">
            <a:solidFill>
              <a:srgbClr val="F2A6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303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WEEK 7  ·  5 MARKS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Identification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Shift-based organizations rely on rosters, attendance, overtime and leave records to run daily operations and payroll.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consolidation of these records is error-prone — leading to staffing gaps, incorrect payroll and disputed leave balances.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well-normalized, constraint-driven database removes these inconsistencies and gives managers a single source of truth.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78040" y="1463040"/>
            <a:ext cx="4434840" cy="4480560"/>
          </a:xfrm>
          <a:prstGeom prst="roundRect">
            <a:avLst>
              <a:gd name="adj" fmla="val 2474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35240" y="1874520"/>
            <a:ext cx="777240" cy="7772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6281" y="1975561"/>
            <a:ext cx="575158" cy="57515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63524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Failure Points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200400"/>
            <a:ext cx="3794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shift assignments go unnoticed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Clock-out before clock-in produces bad hours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approved beyond available balance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paid without authorization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 missing daily summaries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3F6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721" y="2021281"/>
            <a:ext cx="575158" cy="5751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9202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3464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entities, attributes, relationships and user roles from shift-based operations.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3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92024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21281"/>
            <a:ext cx="575158" cy="5751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43800" y="19202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Schema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83464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ER model into a relational schema, normalized up to 3NF.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3F6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57200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721" y="4673041"/>
            <a:ext cx="575158" cy="57515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45720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54864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keys, uniqueness and business rules with constraints and checks.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25196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3F6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0" y="457200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721" y="4673041"/>
            <a:ext cx="575158" cy="57515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43800" y="45720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Reporting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83680" y="54864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queries, views and reports for rosters, lateness, overtime and leave.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User Roles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creation and shift scheduling per department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capture via clock-in / clock-out punches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work-hour summaries and lateness/absence detection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requests with authorization workflow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types, balances, applications and approvals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calendar integrated with roster and leave logic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0866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086600" y="187452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0301" y="1948221"/>
            <a:ext cx="419527" cy="41952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818120" y="18562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21762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roster, clocks in/out, applies for leave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086600" y="2834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301" y="2908341"/>
            <a:ext cx="419527" cy="41952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818120" y="2816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Approver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7818120" y="3136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overtime and leave, monitors coverage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086600" y="379476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301" y="386846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818120" y="37764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Administrator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7818120" y="40965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shifts, holidays, leave policies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086600" y="475488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0301" y="4828581"/>
            <a:ext cx="419527" cy="41952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818120" y="47365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Officer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7818120" y="50566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summaries for pay processing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3C567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685800" cy="685800"/>
          </a:xfrm>
          <a:prstGeom prst="ellipse">
            <a:avLst/>
          </a:prstGeom>
          <a:solidFill>
            <a:srgbClr val="3E7C9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794" y="1826514"/>
            <a:ext cx="507492" cy="5074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0020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preparation across departments and shifts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63640" y="1737360"/>
            <a:ext cx="685800" cy="685800"/>
          </a:xfrm>
          <a:prstGeom prst="ellipse">
            <a:avLst/>
          </a:prstGeom>
          <a:solidFill>
            <a:srgbClr val="3E7C9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794" y="1826514"/>
            <a:ext cx="507492" cy="5074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32320" y="160020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Clock-in / clock-out entry with punch validation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154680"/>
            <a:ext cx="685800" cy="685800"/>
          </a:xfrm>
          <a:prstGeom prst="ellipse">
            <a:avLst/>
          </a:prstGeom>
          <a:solidFill>
            <a:srgbClr val="3E7C9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" y="3243834"/>
            <a:ext cx="507492" cy="5074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301752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work-hour calculation per employee, per day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63640" y="3154680"/>
            <a:ext cx="685800" cy="685800"/>
          </a:xfrm>
          <a:prstGeom prst="ellipse">
            <a:avLst/>
          </a:prstGeom>
          <a:solidFill>
            <a:srgbClr val="3E7C97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2794" y="3243834"/>
            <a:ext cx="507492" cy="50749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132320" y="301752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request creation and authorization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572000"/>
            <a:ext cx="685800" cy="685800"/>
          </a:xfrm>
          <a:prstGeom prst="ellipse">
            <a:avLst/>
          </a:prstGeom>
          <a:solidFill>
            <a:srgbClr val="3E7C9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" y="4661154"/>
            <a:ext cx="507492" cy="50749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17320" y="44348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application, balance check and approval routing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263640" y="4572000"/>
            <a:ext cx="685800" cy="685800"/>
          </a:xfrm>
          <a:prstGeom prst="ellipse">
            <a:avLst/>
          </a:prstGeom>
          <a:solidFill>
            <a:srgbClr val="3E7C97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2794" y="4661154"/>
            <a:ext cx="507492" cy="50749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132320" y="44348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rosters, lateness, absence, overtime, coverage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Entities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from requirement analysis — the basis for the conceptual ER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828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691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7340" y="1892808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550" y="1976018"/>
            <a:ext cx="473659" cy="47365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1691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11980" y="1892808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190" y="1976018"/>
            <a:ext cx="473659" cy="47365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63640" y="1691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46620" y="1892808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830" y="1976018"/>
            <a:ext cx="473659" cy="47365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9098280" y="1691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0081260" y="1892808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4470" y="1976018"/>
            <a:ext cx="473659" cy="47365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89720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94360" y="33832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577340" y="3584448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0550" y="3667658"/>
            <a:ext cx="473659" cy="47365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8580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Punch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429000" y="33832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411980" y="3584448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5190" y="3667658"/>
            <a:ext cx="473659" cy="473659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352044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Summary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263640" y="33832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7246620" y="3584448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9830" y="3667658"/>
            <a:ext cx="473659" cy="473659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35508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Request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9098280" y="33832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10081260" y="3584448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4470" y="3667658"/>
            <a:ext cx="473659" cy="473659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18972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594360" y="507492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1577340" y="5276088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0550" y="5359298"/>
            <a:ext cx="473659" cy="473659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685800" y="59893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Balance</a:t>
            </a:r>
            <a:endParaRPr lang="en-US" sz="1200" dirty="0"/>
          </a:p>
        </p:txBody>
      </p:sp>
      <p:sp>
        <p:nvSpPr>
          <p:cNvPr id="41" name="Shape 30"/>
          <p:cNvSpPr/>
          <p:nvPr/>
        </p:nvSpPr>
        <p:spPr>
          <a:xfrm>
            <a:off x="3429000" y="507492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4411980" y="5276088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5190" y="5359298"/>
            <a:ext cx="473659" cy="473659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3520440" y="59893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Application</a:t>
            </a:r>
            <a:endParaRPr lang="en-US" sz="1200" dirty="0"/>
          </a:p>
        </p:txBody>
      </p:sp>
      <p:sp>
        <p:nvSpPr>
          <p:cNvPr id="45" name="Shape 33"/>
          <p:cNvSpPr/>
          <p:nvPr/>
        </p:nvSpPr>
        <p:spPr>
          <a:xfrm>
            <a:off x="6263640" y="507492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7246620" y="5276088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9830" y="5359298"/>
            <a:ext cx="473659" cy="473659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6355080" y="59893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00" dirty="0"/>
          </a:p>
        </p:txBody>
      </p:sp>
      <p:sp>
        <p:nvSpPr>
          <p:cNvPr id="49" name="Shape 36"/>
          <p:cNvSpPr/>
          <p:nvPr/>
        </p:nvSpPr>
        <p:spPr>
          <a:xfrm>
            <a:off x="9098280" y="507492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50" name="Shape 37"/>
          <p:cNvSpPr/>
          <p:nvPr/>
        </p:nvSpPr>
        <p:spPr>
          <a:xfrm>
            <a:off x="10081260" y="5276088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64470" y="5359298"/>
            <a:ext cx="473659" cy="473659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9189720" y="59893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Design — ER Diagram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4" name="Shape 2"/>
          <p:cNvSpPr/>
          <p:nvPr/>
        </p:nvSpPr>
        <p:spPr>
          <a:xfrm>
            <a:off x="1508760" y="1623060"/>
            <a:ext cx="2103120" cy="9144"/>
          </a:xfrm>
          <a:prstGeom prst="line">
            <a:avLst/>
          </a:prstGeom>
          <a:noFill/>
          <a:ln w="15875">
            <a:solidFill>
              <a:srgbClr val="B9C6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11880" y="1623060"/>
            <a:ext cx="2103120" cy="9144"/>
          </a:xfrm>
          <a:prstGeom prst="line">
            <a:avLst/>
          </a:prstGeom>
          <a:noFill/>
          <a:ln w="15875">
            <a:solidFill>
              <a:srgbClr val="B9C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11880" y="1623060"/>
            <a:ext cx="9144" cy="1280160"/>
          </a:xfrm>
          <a:prstGeom prst="line">
            <a:avLst/>
          </a:prstGeom>
          <a:noFill/>
          <a:ln w="15875">
            <a:solidFill>
              <a:srgbClr val="B9C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611880" y="1623060"/>
            <a:ext cx="2103120" cy="1280160"/>
          </a:xfrm>
          <a:prstGeom prst="line">
            <a:avLst/>
          </a:prstGeom>
          <a:noFill/>
          <a:ln w="15875">
            <a:solidFill>
              <a:srgbClr val="B9C6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0" y="2903220"/>
            <a:ext cx="9144" cy="1280160"/>
          </a:xfrm>
          <a:prstGeom prst="line">
            <a:avLst/>
          </a:prstGeom>
          <a:noFill/>
          <a:ln w="15875">
            <a:solidFill>
              <a:srgbClr val="B9C6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623060"/>
            <a:ext cx="9144" cy="2560320"/>
          </a:xfrm>
          <a:prstGeom prst="line">
            <a:avLst/>
          </a:prstGeom>
          <a:noFill/>
          <a:ln w="15875">
            <a:solidFill>
              <a:srgbClr val="B9C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4183380"/>
            <a:ext cx="9144" cy="1280160"/>
          </a:xfrm>
          <a:prstGeom prst="line">
            <a:avLst/>
          </a:prstGeom>
          <a:noFill/>
          <a:ln w="15875">
            <a:solidFill>
              <a:srgbClr val="B9C6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611880" y="2903220"/>
            <a:ext cx="2103120" cy="2560320"/>
          </a:xfrm>
          <a:prstGeom prst="line">
            <a:avLst/>
          </a:prstGeom>
          <a:noFill/>
          <a:ln w="15875">
            <a:solidFill>
              <a:srgbClr val="B9C6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2903220"/>
            <a:ext cx="2103120" cy="2560320"/>
          </a:xfrm>
          <a:prstGeom prst="line">
            <a:avLst/>
          </a:prstGeom>
          <a:noFill/>
          <a:ln w="15875">
            <a:solidFill>
              <a:srgbClr val="B9C6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623060"/>
            <a:ext cx="4206240" cy="2560320"/>
          </a:xfrm>
          <a:prstGeom prst="line">
            <a:avLst/>
          </a:prstGeom>
          <a:noFill/>
          <a:ln w="15875">
            <a:solidFill>
              <a:srgbClr val="B9C6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7818120" y="1623060"/>
            <a:ext cx="2103120" cy="2560320"/>
          </a:xfrm>
          <a:prstGeom prst="line">
            <a:avLst/>
          </a:prstGeom>
          <a:noFill/>
          <a:ln w="15875">
            <a:solidFill>
              <a:srgbClr val="B9C6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18120" y="4183380"/>
            <a:ext cx="9144" cy="1280160"/>
          </a:xfrm>
          <a:prstGeom prst="line">
            <a:avLst/>
          </a:prstGeom>
          <a:noFill/>
          <a:ln w="15875">
            <a:solidFill>
              <a:srgbClr val="B9C6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21240" y="1623060"/>
            <a:ext cx="9144" cy="1280160"/>
          </a:xfrm>
          <a:prstGeom prst="line">
            <a:avLst/>
          </a:prstGeom>
          <a:noFill/>
          <a:ln w="15875">
            <a:solidFill>
              <a:srgbClr val="B9C6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1623060"/>
            <a:ext cx="6309360" cy="1280160"/>
          </a:xfrm>
          <a:prstGeom prst="line">
            <a:avLst/>
          </a:prstGeom>
          <a:noFill/>
          <a:ln w="15875">
            <a:solidFill>
              <a:srgbClr val="B9C6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611880" y="1623060"/>
            <a:ext cx="4206240" cy="1280160"/>
          </a:xfrm>
          <a:prstGeom prst="line">
            <a:avLst/>
          </a:prstGeom>
          <a:noFill/>
          <a:ln w="15875">
            <a:solidFill>
              <a:srgbClr val="B9C6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137160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0" y="137160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4320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137160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49440" y="137160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2A65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52560" y="137160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2A65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5256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0" y="265176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3E7C9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4320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65176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3E7C9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4632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52560" y="265176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3E7C9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05256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0" y="393192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3E7C9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743200" y="3931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949440" y="393192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3E7C9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49440" y="3931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0" y="521208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3E7C9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743200" y="5212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949440" y="521208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3E7C9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949440" y="5212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" y="626364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1E3A5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60120" y="6217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/ master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606040" y="626364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3E7C9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2926080" y="6217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0" y="626364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F2A65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892040" y="6217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6583680" y="62636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conceptual view — full ERD specifies cardinalities (1:M / M:N) and participation constraints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Rules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1637690"/>
            <a:ext cx="473659" cy="47365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270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overlapping shifts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40680" y="152704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cannot be rostered to two shifts at the same time.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267712"/>
            <a:ext cx="10881360" cy="7315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42316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" y="2506370"/>
            <a:ext cx="473659" cy="47365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3957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punch order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440680" y="239572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Clock-out must always occur after the corresponding clock-in.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136392"/>
            <a:ext cx="10881360" cy="7315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14" name="Shape 10"/>
          <p:cNvSpPr/>
          <p:nvPr/>
        </p:nvSpPr>
        <p:spPr>
          <a:xfrm>
            <a:off x="548640" y="329184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" y="3375050"/>
            <a:ext cx="473659" cy="47365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264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within balance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5440680" y="326440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applications cannot exceed the employee’s available balance.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005072"/>
            <a:ext cx="10881360" cy="7315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19" name="Shape 14"/>
          <p:cNvSpPr/>
          <p:nvPr/>
        </p:nvSpPr>
        <p:spPr>
          <a:xfrm>
            <a:off x="548640" y="416052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" y="4243730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41330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overtime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440680" y="413308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hours are payable only once formally approved.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4873752"/>
            <a:ext cx="10881360" cy="7315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24" name="Shape 18"/>
          <p:cNvSpPr/>
          <p:nvPr/>
        </p:nvSpPr>
        <p:spPr>
          <a:xfrm>
            <a:off x="548640" y="502920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" y="5112410"/>
            <a:ext cx="473659" cy="473659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17320" y="5001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summary per day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5440680" y="500176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daily attendance summary is generated per employee, per day.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Relational Schema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tables, primary keys and foreign-key relationships (pre-3NF review)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950208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42048" y="1417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 (FK)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64240" cy="384048"/>
          </a:xfrm>
          <a:prstGeom prst="rect">
            <a:avLst/>
          </a:prstGeom>
          <a:solidFill>
            <a:srgbClr val="F3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7830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950208" y="17830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dept_id (PK)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242048" y="17830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671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950208" y="21671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 (PK)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242048" y="216712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dept_id → DEPARTMENT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551176"/>
            <a:ext cx="11064240" cy="384048"/>
          </a:xfrm>
          <a:prstGeom prst="rect">
            <a:avLst/>
          </a:prstGeom>
          <a:solidFill>
            <a:srgbClr val="F3F6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25511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950208" y="25511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shift_id (PK)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242048" y="25511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93522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293522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roster_id (PK)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242048" y="293522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emp_id, shift_id, holiday_id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319272"/>
            <a:ext cx="11064240" cy="384048"/>
          </a:xfrm>
          <a:prstGeom prst="rect">
            <a:avLst/>
          </a:prstGeom>
          <a:solidFill>
            <a:srgbClr val="F3F6F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" y="33192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ATTENDANCE_PUNCH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950208" y="33192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punch_id (PK)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242048" y="33192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emp_id, roster_id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7033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DAILY_SUMMARY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950208" y="37033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summary_id (PK)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242048" y="37033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emp_id, roster_id (unique per day)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087368"/>
            <a:ext cx="11064240" cy="384048"/>
          </a:xfrm>
          <a:prstGeom prst="rect">
            <a:avLst/>
          </a:prstGeom>
          <a:solidFill>
            <a:srgbClr val="F3F6F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" y="40873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OVERTIME_REQUEST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950208" y="40873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ot_id (PK)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242048" y="40873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summary_id, approval_id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44714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LEAVE_TYPE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950208" y="44714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leave_type_id (PK)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242048" y="447141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855464"/>
            <a:ext cx="11064240" cy="384048"/>
          </a:xfrm>
          <a:prstGeom prst="rect">
            <a:avLst/>
          </a:prstGeom>
          <a:solidFill>
            <a:srgbClr val="F3F6F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8368" y="48554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LEAVE_BALANCE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950208" y="48554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balance_id (PK)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242048" y="48554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emp_id, leave_type_id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5239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LEAVE_APPLICATION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3950208" y="5239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application_id (PK)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242048" y="52395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emp_id, leave_type_id, approval_id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5623560"/>
            <a:ext cx="11064240" cy="384048"/>
          </a:xfrm>
          <a:prstGeom prst="rect">
            <a:avLst/>
          </a:prstGeom>
          <a:solidFill>
            <a:srgbClr val="F3F6F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58368" y="5623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3950208" y="5623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approval_id (PK)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242048" y="56235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approver_id → EMPLOYEE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60076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3950208" y="60076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holiday_id (PK)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7242048" y="60076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8640" y="1417320"/>
            <a:ext cx="11064240" cy="4974336"/>
          </a:xfrm>
          <a:prstGeom prst="rect">
            <a:avLst/>
          </a:prstGeom>
          <a:ln w="12700">
            <a:solidFill>
              <a:srgbClr val="D6DEE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3E7C97">
              <a:alpha val="2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WEEK 7  ·  5 MARKS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for Review 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72800" cy="18288"/>
          </a:xfrm>
          <a:prstGeom prst="rect">
            <a:avLst/>
          </a:prstGeom>
          <a:solidFill>
            <a:srgbClr val="3C567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74520"/>
            <a:ext cx="777240" cy="7772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1975561"/>
            <a:ext cx="575158" cy="5751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745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Problem, Scope &amp; Requirements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2585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identification, project scope, objectives, target users and functional requirements — covered in this presentation.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291840"/>
            <a:ext cx="777240" cy="7772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21" y="3392881"/>
            <a:ext cx="575158" cy="5751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32918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Conceptual Design / ER Diagram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600200" y="367588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covering employees, departments, shifts, rosters, attendance punches, summaries, overtime requests, leave types, balances, applications, approvals and holidays.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709160"/>
            <a:ext cx="777240" cy="7772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" y="4810201"/>
            <a:ext cx="575158" cy="57515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70916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Initial Relational Schema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509320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tables with primary keys and inter-table relationships, derived directly from the ER model — presented as a starting point ahead of full 3NF normalization.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3E7C9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F2A65A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2026-09-08T16:51:01Z</dcterms:created>
  <dcterms:modified xsi:type="dcterms:W3CDTF">2026-09-08T16:51:01Z</dcterms:modified>
</cp:coreProperties>
</file>