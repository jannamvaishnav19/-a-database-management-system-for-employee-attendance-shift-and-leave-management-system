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2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e18fd510-70f5-d54f-b388-6788ec683a90}">
          <p14:sldIdLst>
            <p14:sldId id="256"/>
            <p14:sldId id="257"/>
          </p14:sldIdLst>
        </p14:section>
        <p14:section name="Normalised design" id="{ca503ea4-845f-e33d-3225-5d4893d5cf5e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Integrity constraints" id="{467f1fc6-ff34-b20a-d7f6-ed467ae5afcb}">
          <p14:sldIdLst>
            <p14:sldId id="264"/>
            <p14:sldId id="265"/>
            <p14:sldId id="266"/>
          </p14:sldIdLst>
        </p14:section>
        <p14:section name="Data and queries" id="{9b274fd0-d697-40ac-2538-f59112c6ae43}">
          <p14:sldIdLst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Progress and demo" id="{f912c727-0c81-7532-ec85-cbb3c9977d76}">
          <p14:sldIdLst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23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4232E"/>
                </a:solidFill>
                <a:latin typeface="+mn-lt"/>
              </a:rPr>
              <a:t>Daily summary status (180 rows)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Daily summaries</c:v>
                </c:pt>
              </c:strCache>
            </c:strRef>
          </c:tx>
          <c:spPr>
            <a:solidFill>
              <a:srgbClr val="1F8A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3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PRESENT</c:v>
                  </c:pt>
                  <c:pt idx="1">
                    <c:v>LATE</c:v>
                  </c:pt>
                  <c:pt idx="2">
                    <c:v>HOLIDAY</c:v>
                  </c:pt>
                  <c:pt idx="3">
                    <c:v>ABSENT</c:v>
                  </c:pt>
                  <c:pt idx="4">
                    <c:v>ON_LEAVE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116</c:v>
                </c:pt>
                <c:pt idx="1">
                  <c:v>34</c:v>
                </c:pt>
                <c:pt idx="2">
                  <c:v>15</c:v>
                </c:pt>
                <c:pt idx="3">
                  <c:v>9</c:v>
                </c:pt>
                <c:pt idx="4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423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4232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0"/>
        </c:scaling>
        <c:delete val="0"/>
        <c:axPos val="l"/>
        <c:majorGridlines>
          <c:spPr>
            <a:ln w="6350" cap="flat">
              <a:solidFill>
                <a:srgbClr val="D3DC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C889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23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4232E"/>
                </a:solidFill>
                <a:latin typeface="+mn-lt"/>
              </a:rPr>
              <a:t>Lateness, absence and overtime by department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 days</c:v>
                </c:pt>
              </c:strCache>
            </c:strRef>
          </c:tx>
          <c:spPr>
            <a:solidFill>
              <a:srgbClr val="F2A3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23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Customer Support</c:v>
                  </c:pt>
                  <c:pt idx="1">
                    <c:v>Logistics</c:v>
                  </c:pt>
                  <c:pt idx="2">
                    <c:v>Production</c:v>
                  </c:pt>
                  <c:pt idx="3">
                    <c:v>Security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9</c:v>
                </c:pt>
                <c:pt idx="2">
                  <c:v>12</c:v>
                </c:pt>
                <c:pt idx="3">
                  <c:v>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Absent days</c:v>
                </c:pt>
              </c:strCache>
            </c:strRef>
          </c:tx>
          <c:spPr>
            <a:solidFill>
              <a:srgbClr val="D953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23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Customer Support</c:v>
                  </c:pt>
                  <c:pt idx="1">
                    <c:v>Logistics</c:v>
                  </c:pt>
                  <c:pt idx="2">
                    <c:v>Production</c:v>
                  </c:pt>
                  <c:pt idx="3">
                    <c:v>Security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</c:v>
                </c:pt>
                <c:pt idx="1">
                  <c:v>3</c:v>
                </c:pt>
                <c:pt idx="2">
                  <c:v>1</c:v>
                </c:pt>
                <c:pt idx="3">
                  <c:v>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Overtime hours</c:v>
                </c:pt>
              </c:strCache>
            </c:strRef>
          </c:tx>
          <c:spPr>
            <a:solidFill>
              <a:srgbClr val="1F8A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23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Customer Support</c:v>
                  </c:pt>
                  <c:pt idx="1">
                    <c:v>Logistics</c:v>
                  </c:pt>
                  <c:pt idx="2">
                    <c:v>Production</c:v>
                  </c:pt>
                  <c:pt idx="3">
                    <c:v>Security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5.3</c:v>
                </c:pt>
                <c:pt idx="1">
                  <c:v>1.3</c:v>
                </c:pt>
                <c:pt idx="2">
                  <c:v>10.8</c:v>
                </c:pt>
                <c:pt idx="3">
                  <c:v>5.5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423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4232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"/>
        </c:scaling>
        <c:delete val="0"/>
        <c:axPos val="l"/>
        <c:majorGridlines>
          <c:spPr>
            <a:ln w="6350" cap="flat">
              <a:solidFill>
                <a:srgbClr val="D3DC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C889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4232E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relational database for shift-based organisations covering rosters, attendance, overtime and leave. Review 2 covers normalisation, DDL with constraints, SQL reports and the working prototype.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four Review 2 deliverables and where each is on the slides. Review 1 (ER model, initial schema) is already complete and is the base for this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ER model from Review 1 became 12 relations. Group them by domain: organisation, scheduling, attendance and leave. Foreign keys are shown under each table name.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four stages. Start from a single flat attendance sheet; remove repeating groups (1NF), partial dependencies (2NF) and transitive dependencies (3NF). The anomalies row shows the practical benefit.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row lists the functional dependencies for a relation and why it is in 3NF. Every determinant is a candidate key, so the schema also satisfies BCNF.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Continue the dependency table. Point out that days in leave_application is a generated column, so the (from_date, to_date) → days dependency cannot create an update anomaly.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Concise data dictionary: purpose of each table plus its key columns and constraints.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Second half of the data dictionary. Note the leave_approval trigger that checks and deducts balance.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business rule from the project statement is enforced by the database itself, so no application can bypass it. Triggers are used where a CHECK cannot look at other rows.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declarative constraints on the left and the roster overlap trigger on the right. shift_range() adds one day when a shift ends at or before its start, so night shifts compare correctly.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row is an invalid operation we actually ran against the prototype, with the real error returned by PostgreSQL. The green line shows the valid path: approving leave inside a transaction.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 covers 21 Sep to 3 Oct 2026 for four departments. It is generated by repeatable SQL so results are reproducible. It includes lateness, absences, overtime decisions and leave.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Roster uses a view that joins four tables. Lateness aggregates the lateness view: count and average minutes per employee. A punch counts as late only after the shift grace period.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Absence uses a nested query to compare each employee with the average absence count. Overtime sums only approved minutes, because the trigger blocks anything else from reaching daily_summary.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balances come from a view that computes remaining days. Shift coverage groups the roster by date, department and shift and compares the head-count with the department minimum.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department summary view combines joins, FILTER aggregates and rounding. The chart compares late days, absent days and overtime hours per department.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views give ready-made reports. Indexes target the columns used by the reports. The EXPLAIN output proves the planner uses an index. Leave approval is a single INSERT whose trigger runs atomically.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required for Review 2 is complete and tested. The front-end application is the Review 3 deliverable and has not been started.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these five steps live in the psql console. Step 4 shows each rule rejecting bad data; step 5 shows a valid transaction updating the balance.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previewing Review 3: the application will use the same schema, so every rule shown today also protects the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42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417320"/>
            <a:ext cx="649224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03320"/>
            <a:ext cx="63093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DBMS PBL  |  Project 38  |  Review 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31520" y="777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1"/>
                </a:solidFill>
              </a:rPr>
              <a:t>DBMS PBL   |   REVIEW 2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1417320"/>
            <a:ext cx="6492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Employee Attendance, Shift &amp; Leave Management System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703320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Project 38: normalised design, constraint-enforced DDL, SQL reports and a working database prototype</a:t>
            </a:r>
            <a:endParaRPr lang="en-US" sz="1800" dirty="0"/>
          </a:p>
        </p:txBody>
      </p:sp>
      <p:sp>
        <p:nvSpPr>
          <p:cNvPr id="5" name="team line"/>
          <p:cNvSpPr txBox="1"/>
          <p:nvPr/>
        </p:nvSpPr>
        <p:spPr>
          <a:xfrm>
            <a:off x="731520" y="589788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Team: [Student names and roll numbers]     Guide: [Faculty name]     October 2026</a:t>
            </a:r>
            <a:endParaRPr lang="en-US" sz="1300" dirty="0"/>
          </a:p>
        </p:txBody>
      </p:sp>
      <p:pic>
        <p:nvPicPr>
          <p:cNvPr id="6" name="Image 0" descr="24-hour clock ring split into Morning, Evening and Night shif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685800"/>
            <a:ext cx="4114800" cy="4114800"/>
          </a:xfrm>
          <a:prstGeom prst="rect">
            <a:avLst/>
          </a:prstGeom>
        </p:spPr>
      </p:pic>
      <p:sp>
        <p:nvSpPr>
          <p:cNvPr id="7" name="legend dot"/>
          <p:cNvSpPr/>
          <p:nvPr/>
        </p:nvSpPr>
        <p:spPr>
          <a:xfrm>
            <a:off x="7635240" y="5138928"/>
            <a:ext cx="164592" cy="16459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legend Morning 06-14"/>
          <p:cNvSpPr txBox="1"/>
          <p:nvPr/>
        </p:nvSpPr>
        <p:spPr>
          <a:xfrm>
            <a:off x="7882128" y="50474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Morning 06-14</a:t>
            </a:r>
            <a:endParaRPr lang="en-US" sz="1300" dirty="0"/>
          </a:p>
        </p:txBody>
      </p:sp>
      <p:sp>
        <p:nvSpPr>
          <p:cNvPr id="9" name="legend dot"/>
          <p:cNvSpPr/>
          <p:nvPr/>
        </p:nvSpPr>
        <p:spPr>
          <a:xfrm>
            <a:off x="9189720" y="5138928"/>
            <a:ext cx="164592" cy="16459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legend Evening 14-22"/>
          <p:cNvSpPr txBox="1"/>
          <p:nvPr/>
        </p:nvSpPr>
        <p:spPr>
          <a:xfrm>
            <a:off x="9436608" y="50474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Evening 14-22</a:t>
            </a:r>
            <a:endParaRPr lang="en-US" sz="1300" dirty="0"/>
          </a:p>
        </p:txBody>
      </p:sp>
      <p:sp>
        <p:nvSpPr>
          <p:cNvPr id="11" name="legend dot"/>
          <p:cNvSpPr/>
          <p:nvPr/>
        </p:nvSpPr>
        <p:spPr>
          <a:xfrm>
            <a:off x="10698480" y="5138928"/>
            <a:ext cx="164592" cy="16459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legend Night 22-06"/>
          <p:cNvSpPr txBox="1"/>
          <p:nvPr/>
        </p:nvSpPr>
        <p:spPr>
          <a:xfrm>
            <a:off x="10945368" y="50474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Night 22-06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Review 2 deliverables, all covered</a:t>
            </a:r>
            <a:endParaRPr lang="en-US" sz="3400" dirty="0"/>
          </a:p>
        </p:txBody>
      </p:sp>
      <p:sp>
        <p:nvSpPr>
          <p:cNvPr id="4" name="card 1"/>
          <p:cNvSpPr/>
          <p:nvPr/>
        </p:nvSpPr>
        <p:spPr>
          <a:xfrm>
            <a:off x="548640" y="1371600"/>
            <a:ext cx="5349240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badge 1"/>
          <p:cNvSpPr txBox="1"/>
          <p:nvPr/>
        </p:nvSpPr>
        <p:spPr>
          <a:xfrm>
            <a:off x="822960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600200" y="16459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3NF design and data dictionary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233172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12 relations with functional dependencies; every determinant is a key.</a:t>
            </a:r>
            <a:endParaRPr lang="en-US" sz="1600" dirty="0"/>
          </a:p>
        </p:txBody>
      </p:sp>
      <p:sp>
        <p:nvSpPr>
          <p:cNvPr id="8" name="chip Slides 3-8"/>
          <p:cNvSpPr txBox="1"/>
          <p:nvPr/>
        </p:nvSpPr>
        <p:spPr>
          <a:xfrm>
            <a:off x="1600200" y="3063240"/>
            <a:ext cx="1371600" cy="2926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Slides 3-8</a:t>
            </a:r>
            <a:endParaRPr lang="en-US" sz="1200" dirty="0"/>
          </a:p>
        </p:txBody>
      </p:sp>
      <p:sp>
        <p:nvSpPr>
          <p:cNvPr id="9" name="card 2"/>
          <p:cNvSpPr/>
          <p:nvPr/>
        </p:nvSpPr>
        <p:spPr>
          <a:xfrm>
            <a:off x="6263640" y="1371600"/>
            <a:ext cx="5349240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badge 2"/>
          <p:cNvSpPr txBox="1"/>
          <p:nvPr/>
        </p:nvSpPr>
        <p:spPr>
          <a:xfrm>
            <a:off x="6537960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7315200" y="16459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DDL with integrity constraints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7315200" y="233172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Five business rules enforced inside the database, proven by rejection tests.</a:t>
            </a:r>
            <a:endParaRPr lang="en-US" sz="1600" dirty="0"/>
          </a:p>
        </p:txBody>
      </p:sp>
      <p:sp>
        <p:nvSpPr>
          <p:cNvPr id="13" name="chip Slides 9-11"/>
          <p:cNvSpPr txBox="1"/>
          <p:nvPr/>
        </p:nvSpPr>
        <p:spPr>
          <a:xfrm>
            <a:off x="7315200" y="3063240"/>
            <a:ext cx="1371600" cy="2926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Slides 9-11</a:t>
            </a:r>
            <a:endParaRPr lang="en-US" sz="1200" dirty="0"/>
          </a:p>
        </p:txBody>
      </p:sp>
      <p:sp>
        <p:nvSpPr>
          <p:cNvPr id="14" name="card 3"/>
          <p:cNvSpPr/>
          <p:nvPr/>
        </p:nvSpPr>
        <p:spPr>
          <a:xfrm>
            <a:off x="548640" y="3840480"/>
            <a:ext cx="5349240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badge 3"/>
          <p:cNvSpPr txBox="1"/>
          <p:nvPr/>
        </p:nvSpPr>
        <p:spPr>
          <a:xfrm>
            <a:off x="822960" y="4114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600200" y="41148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Sample data and SQL reports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1600200" y="480060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Joins, subqueries, aggregation and views for seven report types.</a:t>
            </a:r>
            <a:endParaRPr lang="en-US" sz="1600" dirty="0"/>
          </a:p>
        </p:txBody>
      </p:sp>
      <p:sp>
        <p:nvSpPr>
          <p:cNvPr id="18" name="chip Slides 12-17"/>
          <p:cNvSpPr txBox="1"/>
          <p:nvPr/>
        </p:nvSpPr>
        <p:spPr>
          <a:xfrm>
            <a:off x="1600200" y="5532120"/>
            <a:ext cx="1371600" cy="2926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Slides 12-17</a:t>
            </a:r>
            <a:endParaRPr lang="en-US" sz="1200" dirty="0"/>
          </a:p>
        </p:txBody>
      </p:sp>
      <p:sp>
        <p:nvSpPr>
          <p:cNvPr id="19" name="card 4"/>
          <p:cNvSpPr/>
          <p:nvPr/>
        </p:nvSpPr>
        <p:spPr>
          <a:xfrm>
            <a:off x="6263640" y="3840480"/>
            <a:ext cx="5349240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badge 4"/>
          <p:cNvSpPr txBox="1"/>
          <p:nvPr/>
        </p:nvSpPr>
        <p:spPr>
          <a:xfrm>
            <a:off x="6537960" y="4114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4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7315200" y="41148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Progress and prototype demo</a:t>
            </a:r>
            <a:endParaRPr lang="en-US" sz="2200" dirty="0"/>
          </a:p>
        </p:txBody>
      </p:sp>
      <p:sp>
        <p:nvSpPr>
          <p:cNvPr id="22" name="Text 19"/>
          <p:cNvSpPr txBox="1"/>
          <p:nvPr/>
        </p:nvSpPr>
        <p:spPr>
          <a:xfrm>
            <a:off x="7315200" y="480060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runnable PostgreSQL prototype, scripted end to end.</a:t>
            </a:r>
            <a:endParaRPr lang="en-US" sz="1600" dirty="0"/>
          </a:p>
        </p:txBody>
      </p:sp>
      <p:sp>
        <p:nvSpPr>
          <p:cNvPr id="23" name="chip Slides 18-19"/>
          <p:cNvSpPr txBox="1"/>
          <p:nvPr/>
        </p:nvSpPr>
        <p:spPr>
          <a:xfrm>
            <a:off x="7315200" y="5532120"/>
            <a:ext cx="1371600" cy="2926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Slides 18-19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Final schema: 12 tables in 4 domains</a:t>
            </a:r>
            <a:endParaRPr lang="en-US" sz="3400" dirty="0"/>
          </a:p>
        </p:txBody>
      </p:sp>
      <p:sp>
        <p:nvSpPr>
          <p:cNvPr id="4" name="Organisation panel"/>
          <p:cNvSpPr/>
          <p:nvPr/>
        </p:nvSpPr>
        <p:spPr>
          <a:xfrm>
            <a:off x="548640" y="1280160"/>
            <a:ext cx="2606040" cy="466344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hip ORGANISATION"/>
          <p:cNvSpPr txBox="1"/>
          <p:nvPr/>
        </p:nvSpPr>
        <p:spPr>
          <a:xfrm>
            <a:off x="731520" y="1417320"/>
            <a:ext cx="2240280" cy="31089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ORGANISATION</a:t>
            </a:r>
            <a:endParaRPr lang="en-US" sz="1200" dirty="0"/>
          </a:p>
        </p:txBody>
      </p:sp>
      <p:sp>
        <p:nvSpPr>
          <p:cNvPr id="6" name="department card"/>
          <p:cNvSpPr/>
          <p:nvPr/>
        </p:nvSpPr>
        <p:spPr>
          <a:xfrm>
            <a:off x="731520" y="1874520"/>
            <a:ext cx="2240280" cy="804672"/>
          </a:xfrm>
          <a:prstGeom prst="roundRect">
            <a:avLst>
              <a:gd name="adj" fmla="val 6818"/>
            </a:avLst>
          </a:prstGeom>
          <a:solidFill>
            <a:schemeClr val="bg1"/>
          </a:solidFill>
          <a:ln w="9525">
            <a:solidFill>
              <a:srgbClr val="D3DCE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41248" y="19385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department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41248" y="224028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PK dept_id</a:t>
            </a:r>
            <a:endParaRPr lang="en-US" sz="1200" dirty="0"/>
          </a:p>
        </p:txBody>
      </p:sp>
      <p:sp>
        <p:nvSpPr>
          <p:cNvPr id="9" name="employee card"/>
          <p:cNvSpPr/>
          <p:nvPr/>
        </p:nvSpPr>
        <p:spPr>
          <a:xfrm>
            <a:off x="731520" y="2770632"/>
            <a:ext cx="2240280" cy="804672"/>
          </a:xfrm>
          <a:prstGeom prst="roundRect">
            <a:avLst>
              <a:gd name="adj" fmla="val 6818"/>
            </a:avLst>
          </a:prstGeom>
          <a:solidFill>
            <a:schemeClr val="bg1"/>
          </a:solidFill>
          <a:ln w="9525">
            <a:solidFill>
              <a:srgbClr val="D3DCE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41248" y="28346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employee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41248" y="313639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PK emp_id | FK dept_id, manager_id</a:t>
            </a:r>
            <a:endParaRPr lang="en-US" sz="1200" dirty="0"/>
          </a:p>
        </p:txBody>
      </p:sp>
      <p:sp>
        <p:nvSpPr>
          <p:cNvPr id="12" name="holiday card"/>
          <p:cNvSpPr/>
          <p:nvPr/>
        </p:nvSpPr>
        <p:spPr>
          <a:xfrm>
            <a:off x="731520" y="3666744"/>
            <a:ext cx="2240280" cy="804672"/>
          </a:xfrm>
          <a:prstGeom prst="roundRect">
            <a:avLst>
              <a:gd name="adj" fmla="val 6818"/>
            </a:avLst>
          </a:prstGeom>
          <a:solidFill>
            <a:schemeClr val="bg1"/>
          </a:solidFill>
          <a:ln w="9525">
            <a:solidFill>
              <a:srgbClr val="D3DCE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41248" y="37307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holiday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841248" y="403250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PK holiday_id</a:t>
            </a:r>
            <a:endParaRPr lang="en-US" sz="1200" dirty="0"/>
          </a:p>
        </p:txBody>
      </p:sp>
      <p:sp>
        <p:nvSpPr>
          <p:cNvPr id="15" name="Scheduling panel"/>
          <p:cNvSpPr/>
          <p:nvPr/>
        </p:nvSpPr>
        <p:spPr>
          <a:xfrm>
            <a:off x="3364992" y="1280160"/>
            <a:ext cx="2606040" cy="466344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chip SCHEDULING"/>
          <p:cNvSpPr txBox="1"/>
          <p:nvPr/>
        </p:nvSpPr>
        <p:spPr>
          <a:xfrm>
            <a:off x="3547872" y="1417320"/>
            <a:ext cx="2240280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SCHEDULING</a:t>
            </a:r>
            <a:endParaRPr lang="en-US" sz="1200" dirty="0"/>
          </a:p>
        </p:txBody>
      </p:sp>
      <p:sp>
        <p:nvSpPr>
          <p:cNvPr id="17" name="shift card"/>
          <p:cNvSpPr/>
          <p:nvPr/>
        </p:nvSpPr>
        <p:spPr>
          <a:xfrm>
            <a:off x="3547872" y="1874520"/>
            <a:ext cx="2240280" cy="804672"/>
          </a:xfrm>
          <a:prstGeom prst="roundRect">
            <a:avLst>
              <a:gd name="adj" fmla="val 6818"/>
            </a:avLst>
          </a:prstGeom>
          <a:solidFill>
            <a:schemeClr val="bg1"/>
          </a:solidFill>
          <a:ln w="9525">
            <a:solidFill>
              <a:srgbClr val="D3DCE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657600" y="19385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shift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3657600" y="224028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PK shift_id</a:t>
            </a:r>
            <a:endParaRPr lang="en-US" sz="1200" dirty="0"/>
          </a:p>
        </p:txBody>
      </p:sp>
      <p:sp>
        <p:nvSpPr>
          <p:cNvPr id="20" name="roster card"/>
          <p:cNvSpPr/>
          <p:nvPr/>
        </p:nvSpPr>
        <p:spPr>
          <a:xfrm>
            <a:off x="3547872" y="2770632"/>
            <a:ext cx="2240280" cy="804672"/>
          </a:xfrm>
          <a:prstGeom prst="roundRect">
            <a:avLst>
              <a:gd name="adj" fmla="val 6818"/>
            </a:avLst>
          </a:prstGeom>
          <a:solidFill>
            <a:schemeClr val="bg1"/>
          </a:solidFill>
          <a:ln w="9525">
            <a:solidFill>
              <a:srgbClr val="D3DCE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657600" y="28346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roster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3657600" y="313639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PK roster_id | FK emp_id, shift_id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3547872" y="3712464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Rule: no overlapping shifts</a:t>
            </a:r>
            <a:endParaRPr lang="en-US" sz="1300" dirty="0"/>
          </a:p>
        </p:txBody>
      </p:sp>
      <p:sp>
        <p:nvSpPr>
          <p:cNvPr id="24" name="Attendance panel"/>
          <p:cNvSpPr/>
          <p:nvPr/>
        </p:nvSpPr>
        <p:spPr>
          <a:xfrm>
            <a:off x="6181344" y="1280160"/>
            <a:ext cx="2606040" cy="466344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chip ATTENDANCE"/>
          <p:cNvSpPr txBox="1"/>
          <p:nvPr/>
        </p:nvSpPr>
        <p:spPr>
          <a:xfrm>
            <a:off x="6364224" y="1417320"/>
            <a:ext cx="2240280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ATTENDANCE</a:t>
            </a:r>
            <a:endParaRPr lang="en-US" sz="1200" dirty="0"/>
          </a:p>
        </p:txBody>
      </p:sp>
      <p:sp>
        <p:nvSpPr>
          <p:cNvPr id="26" name="attendance_punch card"/>
          <p:cNvSpPr/>
          <p:nvPr/>
        </p:nvSpPr>
        <p:spPr>
          <a:xfrm>
            <a:off x="6364224" y="1874520"/>
            <a:ext cx="2240280" cy="804672"/>
          </a:xfrm>
          <a:prstGeom prst="roundRect">
            <a:avLst>
              <a:gd name="adj" fmla="val 6818"/>
            </a:avLst>
          </a:prstGeom>
          <a:solidFill>
            <a:schemeClr val="bg1"/>
          </a:solidFill>
          <a:ln w="9525">
            <a:solidFill>
              <a:srgbClr val="D3DCE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473952" y="19385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attendance_punch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6473952" y="224028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FK roster_id (one pair per shift)</a:t>
            </a:r>
            <a:endParaRPr lang="en-US" sz="1200" dirty="0"/>
          </a:p>
        </p:txBody>
      </p:sp>
      <p:sp>
        <p:nvSpPr>
          <p:cNvPr id="29" name="daily_summary card"/>
          <p:cNvSpPr/>
          <p:nvPr/>
        </p:nvSpPr>
        <p:spPr>
          <a:xfrm>
            <a:off x="6364224" y="2770632"/>
            <a:ext cx="2240280" cy="804672"/>
          </a:xfrm>
          <a:prstGeom prst="roundRect">
            <a:avLst>
              <a:gd name="adj" fmla="val 6818"/>
            </a:avLst>
          </a:prstGeom>
          <a:solidFill>
            <a:schemeClr val="bg1"/>
          </a:solidFill>
          <a:ln w="9525">
            <a:solidFill>
              <a:srgbClr val="D3DCE0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473952" y="28346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daily_summary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6473952" y="313639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FK emp_id | one row per day</a:t>
            </a:r>
            <a:endParaRPr lang="en-US" sz="1200" dirty="0"/>
          </a:p>
        </p:txBody>
      </p:sp>
      <p:sp>
        <p:nvSpPr>
          <p:cNvPr id="32" name="overtime_request card"/>
          <p:cNvSpPr/>
          <p:nvPr/>
        </p:nvSpPr>
        <p:spPr>
          <a:xfrm>
            <a:off x="6364224" y="3666744"/>
            <a:ext cx="2240280" cy="804672"/>
          </a:xfrm>
          <a:prstGeom prst="roundRect">
            <a:avLst>
              <a:gd name="adj" fmla="val 6818"/>
            </a:avLst>
          </a:prstGeom>
          <a:solidFill>
            <a:schemeClr val="bg1"/>
          </a:solidFill>
          <a:ln w="9525">
            <a:solidFill>
              <a:srgbClr val="D3DCE0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473952" y="37307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overtime_request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6473952" y="403250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FK emp_id, approved_by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6364224" y="4608576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Rules: clock-out after clock-in, one summary per day, authorised overtime</a:t>
            </a:r>
            <a:endParaRPr lang="en-US" sz="1300" dirty="0"/>
          </a:p>
        </p:txBody>
      </p:sp>
      <p:sp>
        <p:nvSpPr>
          <p:cNvPr id="36" name="Leave panel"/>
          <p:cNvSpPr/>
          <p:nvPr/>
        </p:nvSpPr>
        <p:spPr>
          <a:xfrm>
            <a:off x="8997696" y="1280160"/>
            <a:ext cx="2606040" cy="466344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7" name="chip LEAVE"/>
          <p:cNvSpPr txBox="1"/>
          <p:nvPr/>
        </p:nvSpPr>
        <p:spPr>
          <a:xfrm>
            <a:off x="9180576" y="1417320"/>
            <a:ext cx="2240280" cy="310896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LEAVE</a:t>
            </a:r>
            <a:endParaRPr lang="en-US" sz="1200" dirty="0"/>
          </a:p>
        </p:txBody>
      </p:sp>
      <p:sp>
        <p:nvSpPr>
          <p:cNvPr id="38" name="leave_type card"/>
          <p:cNvSpPr/>
          <p:nvPr/>
        </p:nvSpPr>
        <p:spPr>
          <a:xfrm>
            <a:off x="9180576" y="1874520"/>
            <a:ext cx="2240280" cy="804672"/>
          </a:xfrm>
          <a:prstGeom prst="roundRect">
            <a:avLst>
              <a:gd name="adj" fmla="val 6818"/>
            </a:avLst>
          </a:prstGeom>
          <a:solidFill>
            <a:schemeClr val="bg1"/>
          </a:solidFill>
          <a:ln w="9525">
            <a:solidFill>
              <a:srgbClr val="D3DCE0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9290304" y="19385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leave_type</a:t>
            </a:r>
            <a:endParaRPr lang="en-US" sz="1400" dirty="0"/>
          </a:p>
        </p:txBody>
      </p:sp>
      <p:sp>
        <p:nvSpPr>
          <p:cNvPr id="40" name="Text 37"/>
          <p:cNvSpPr txBox="1"/>
          <p:nvPr/>
        </p:nvSpPr>
        <p:spPr>
          <a:xfrm>
            <a:off x="9290304" y="224028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PK leave_type_id</a:t>
            </a:r>
            <a:endParaRPr lang="en-US" sz="1200" dirty="0"/>
          </a:p>
        </p:txBody>
      </p:sp>
      <p:sp>
        <p:nvSpPr>
          <p:cNvPr id="41" name="leave_balance card"/>
          <p:cNvSpPr/>
          <p:nvPr/>
        </p:nvSpPr>
        <p:spPr>
          <a:xfrm>
            <a:off x="9180576" y="2770632"/>
            <a:ext cx="2240280" cy="804672"/>
          </a:xfrm>
          <a:prstGeom prst="roundRect">
            <a:avLst>
              <a:gd name="adj" fmla="val 6818"/>
            </a:avLst>
          </a:prstGeom>
          <a:solidFill>
            <a:schemeClr val="bg1"/>
          </a:solidFill>
          <a:ln w="9525">
            <a:solidFill>
              <a:srgbClr val="D3DCE0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9290304" y="28346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leave_balance</a:t>
            </a:r>
            <a:endParaRPr lang="en-US" sz="1400" dirty="0"/>
          </a:p>
        </p:txBody>
      </p:sp>
      <p:sp>
        <p:nvSpPr>
          <p:cNvPr id="43" name="Text 40"/>
          <p:cNvSpPr txBox="1"/>
          <p:nvPr/>
        </p:nvSpPr>
        <p:spPr>
          <a:xfrm>
            <a:off x="9290304" y="313639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PK (emp_id, leave_type_id, year)</a:t>
            </a:r>
            <a:endParaRPr lang="en-US" sz="1200" dirty="0"/>
          </a:p>
        </p:txBody>
      </p:sp>
      <p:sp>
        <p:nvSpPr>
          <p:cNvPr id="44" name="leave_application card"/>
          <p:cNvSpPr/>
          <p:nvPr/>
        </p:nvSpPr>
        <p:spPr>
          <a:xfrm>
            <a:off x="9180576" y="3666744"/>
            <a:ext cx="2240280" cy="804672"/>
          </a:xfrm>
          <a:prstGeom prst="roundRect">
            <a:avLst>
              <a:gd name="adj" fmla="val 6818"/>
            </a:avLst>
          </a:prstGeom>
          <a:solidFill>
            <a:schemeClr val="bg1"/>
          </a:solidFill>
          <a:ln w="9525">
            <a:solidFill>
              <a:srgbClr val="D3DCE0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9290304" y="37307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leave_application</a:t>
            </a:r>
            <a:endParaRPr lang="en-US" sz="1400" dirty="0"/>
          </a:p>
        </p:txBody>
      </p:sp>
      <p:sp>
        <p:nvSpPr>
          <p:cNvPr id="46" name="Text 43"/>
          <p:cNvSpPr txBox="1"/>
          <p:nvPr/>
        </p:nvSpPr>
        <p:spPr>
          <a:xfrm>
            <a:off x="9290304" y="403250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FK emp_id, leave_type_id</a:t>
            </a:r>
            <a:endParaRPr lang="en-US" sz="1200" dirty="0"/>
          </a:p>
        </p:txBody>
      </p:sp>
      <p:sp>
        <p:nvSpPr>
          <p:cNvPr id="47" name="leave_approval card"/>
          <p:cNvSpPr/>
          <p:nvPr/>
        </p:nvSpPr>
        <p:spPr>
          <a:xfrm>
            <a:off x="9180576" y="4562856"/>
            <a:ext cx="2240280" cy="804672"/>
          </a:xfrm>
          <a:prstGeom prst="roundRect">
            <a:avLst>
              <a:gd name="adj" fmla="val 6818"/>
            </a:avLst>
          </a:prstGeom>
          <a:solidFill>
            <a:schemeClr val="bg1"/>
          </a:solidFill>
          <a:ln w="9525">
            <a:solidFill>
              <a:srgbClr val="D3DCE0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9290304" y="46268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leave_approval</a:t>
            </a:r>
            <a:endParaRPr lang="en-US" sz="1400" dirty="0"/>
          </a:p>
        </p:txBody>
      </p:sp>
      <p:sp>
        <p:nvSpPr>
          <p:cNvPr id="49" name="Text 46"/>
          <p:cNvSpPr txBox="1"/>
          <p:nvPr/>
        </p:nvSpPr>
        <p:spPr>
          <a:xfrm>
            <a:off x="9290304" y="4928616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FK app_id, approver_id</a:t>
            </a:r>
            <a:endParaRPr lang="en-US" sz="1200" dirty="0"/>
          </a:p>
        </p:txBody>
      </p:sp>
      <p:sp>
        <p:nvSpPr>
          <p:cNvPr id="50" name="Text 47"/>
          <p:cNvSpPr txBox="1"/>
          <p:nvPr/>
        </p:nvSpPr>
        <p:spPr>
          <a:xfrm>
            <a:off x="9180576" y="550468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Rule: leave within balance</a:t>
            </a:r>
            <a:endParaRPr lang="en-US" sz="1300" dirty="0"/>
          </a:p>
        </p:txBody>
      </p:sp>
      <p:sp>
        <p:nvSpPr>
          <p:cNvPr id="51" name="Text 48"/>
          <p:cNvSpPr txBox="1"/>
          <p:nvPr/>
        </p:nvSpPr>
        <p:spPr>
          <a:xfrm>
            <a:off x="548640" y="60533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employee.manager_id references employee (reporting line)  |  every foreign key is enforced  |  all keys are surrogate integers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From one flat sheet to 3NF</a:t>
            </a:r>
            <a:endParaRPr lang="en-US" sz="3400" dirty="0"/>
          </a:p>
        </p:txBody>
      </p:sp>
      <p:sp>
        <p:nvSpPr>
          <p:cNvPr id="4" name="stage UNF"/>
          <p:cNvSpPr/>
          <p:nvPr/>
        </p:nvSpPr>
        <p:spPr>
          <a:xfrm>
            <a:off x="548640" y="1325880"/>
            <a:ext cx="2606040" cy="288036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hip UNF"/>
          <p:cNvSpPr txBox="1"/>
          <p:nvPr/>
        </p:nvSpPr>
        <p:spPr>
          <a:xfrm>
            <a:off x="777240" y="1554480"/>
            <a:ext cx="822960" cy="34747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UNF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0574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One flat sheet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697480"/>
            <a:ext cx="2194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Employee, department, shift timings, punches, overtime and leave in one wide row, with repeating groups.</a:t>
            </a:r>
            <a:endParaRPr lang="en-US" sz="1400" dirty="0"/>
          </a:p>
        </p:txBody>
      </p:sp>
      <p:sp>
        <p:nvSpPr>
          <p:cNvPr id="8" name="stage arrow"/>
          <p:cNvSpPr txBox="1"/>
          <p:nvPr/>
        </p:nvSpPr>
        <p:spPr>
          <a:xfrm>
            <a:off x="3154680" y="2514600"/>
            <a:ext cx="21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&gt;</a:t>
            </a:r>
            <a:endParaRPr lang="en-US" sz="2000" dirty="0"/>
          </a:p>
        </p:txBody>
      </p:sp>
      <p:sp>
        <p:nvSpPr>
          <p:cNvPr id="9" name="stage 1NF"/>
          <p:cNvSpPr/>
          <p:nvPr/>
        </p:nvSpPr>
        <p:spPr>
          <a:xfrm>
            <a:off x="3364992" y="1325880"/>
            <a:ext cx="2606040" cy="288036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hip 1NF"/>
          <p:cNvSpPr txBox="1"/>
          <p:nvPr/>
        </p:nvSpPr>
        <p:spPr>
          <a:xfrm>
            <a:off x="3593592" y="1554480"/>
            <a:ext cx="822960" cy="34747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1NF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593592" y="20574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Atomic values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3593592" y="2697480"/>
            <a:ext cx="2194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Punches, overtime and leave requests become their own rows. Every table gets a primary key.</a:t>
            </a:r>
            <a:endParaRPr lang="en-US" sz="1400" dirty="0"/>
          </a:p>
        </p:txBody>
      </p:sp>
      <p:sp>
        <p:nvSpPr>
          <p:cNvPr id="13" name="stage arrow"/>
          <p:cNvSpPr txBox="1"/>
          <p:nvPr/>
        </p:nvSpPr>
        <p:spPr>
          <a:xfrm>
            <a:off x="5971032" y="2514600"/>
            <a:ext cx="21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&gt;</a:t>
            </a:r>
            <a:endParaRPr lang="en-US" sz="2000" dirty="0"/>
          </a:p>
        </p:txBody>
      </p:sp>
      <p:sp>
        <p:nvSpPr>
          <p:cNvPr id="14" name="stage 2NF"/>
          <p:cNvSpPr/>
          <p:nvPr/>
        </p:nvSpPr>
        <p:spPr>
          <a:xfrm>
            <a:off x="6181344" y="1325880"/>
            <a:ext cx="2606040" cy="288036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chip 2NF"/>
          <p:cNvSpPr txBox="1"/>
          <p:nvPr/>
        </p:nvSpPr>
        <p:spPr>
          <a:xfrm>
            <a:off x="6409944" y="1554480"/>
            <a:ext cx="822960" cy="34747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2NF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409944" y="20574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No partial dependencies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6409944" y="2697480"/>
            <a:ext cx="2194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Shift timings depend on shift_id alone, department data on dept_id; balances keyed by employee, type and year.</a:t>
            </a:r>
            <a:endParaRPr lang="en-US" sz="1400" dirty="0"/>
          </a:p>
        </p:txBody>
      </p:sp>
      <p:sp>
        <p:nvSpPr>
          <p:cNvPr id="18" name="stage arrow"/>
          <p:cNvSpPr txBox="1"/>
          <p:nvPr/>
        </p:nvSpPr>
        <p:spPr>
          <a:xfrm>
            <a:off x="8787384" y="2514600"/>
            <a:ext cx="21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&gt;</a:t>
            </a:r>
            <a:endParaRPr lang="en-US" sz="2000" dirty="0"/>
          </a:p>
        </p:txBody>
      </p:sp>
      <p:sp>
        <p:nvSpPr>
          <p:cNvPr id="19" name="stage 3NF"/>
          <p:cNvSpPr/>
          <p:nvPr/>
        </p:nvSpPr>
        <p:spPr>
          <a:xfrm>
            <a:off x="8997696" y="1325880"/>
            <a:ext cx="2606040" cy="2880360"/>
          </a:xfrm>
          <a:prstGeom prst="roundRect">
            <a:avLst>
              <a:gd name="adj" fmla="val 350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chip 3NF"/>
          <p:cNvSpPr txBox="1"/>
          <p:nvPr/>
        </p:nvSpPr>
        <p:spPr>
          <a:xfrm>
            <a:off x="9226296" y="1554480"/>
            <a:ext cx="822960" cy="3474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3NF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9226296" y="20574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No transitive dependencies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9226296" y="2697480"/>
            <a:ext cx="2194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dept_name is reached through employee.dept_id; punches keep roster_id only; days is a generated column.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4480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Anomalies removed</a:t>
            </a:r>
            <a:endParaRPr lang="en-US" sz="2000" dirty="0"/>
          </a:p>
        </p:txBody>
      </p:sp>
      <p:sp>
        <p:nvSpPr>
          <p:cNvPr id="24" name="chip Update"/>
          <p:cNvSpPr txBox="1"/>
          <p:nvPr/>
        </p:nvSpPr>
        <p:spPr>
          <a:xfrm>
            <a:off x="548640" y="4983480"/>
            <a:ext cx="914400" cy="2926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Update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5376672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Change a shift timing once in shift, not in every roster row.</a:t>
            </a:r>
            <a:endParaRPr lang="en-US" sz="1400" dirty="0"/>
          </a:p>
        </p:txBody>
      </p:sp>
      <p:sp>
        <p:nvSpPr>
          <p:cNvPr id="26" name="chip Insert"/>
          <p:cNvSpPr txBox="1"/>
          <p:nvPr/>
        </p:nvSpPr>
        <p:spPr>
          <a:xfrm>
            <a:off x="4297680" y="4983480"/>
            <a:ext cx="914400" cy="2926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Insert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4297680" y="5376672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new department or leave type can exist before any employee uses it.</a:t>
            </a:r>
            <a:endParaRPr lang="en-US" sz="1400" dirty="0"/>
          </a:p>
        </p:txBody>
      </p:sp>
      <p:sp>
        <p:nvSpPr>
          <p:cNvPr id="28" name="chip Delete"/>
          <p:cNvSpPr txBox="1"/>
          <p:nvPr/>
        </p:nvSpPr>
        <p:spPr>
          <a:xfrm>
            <a:off x="8046720" y="4983480"/>
            <a:ext cx="914400" cy="2926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Delete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8046720" y="5376672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Removing a day's punch never loses the employee or shift details.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Functional dependencies (1 of 2)</a:t>
            </a:r>
            <a:endParaRPr lang="en-US" sz="3400" dirty="0"/>
          </a:p>
        </p:txBody>
      </p:sp>
      <p:graphicFrame>
        <p:nvGraphicFramePr>
          <p:cNvPr id="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5577840"/>
                <a:gridCol w="356616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Relation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Functional dependencies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Why it is in 3NF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department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dept_id → dept_name, location, min_staff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dept_name → dept_id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dept_id is the key; dept_name is a candidate key (UNIQUE)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employee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emp_id → all other attributes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emp_code → emp_id,  email → emp_id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All determinants are candidate keys; department name is not repeated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shift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shift_id → shift_name, start_time, end_time, grace_minutes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Timings stored once; roster refers to shift_id only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holiday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holiday_id → holiday_date, holiday_name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holiday_date → holiday_id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Both determinants are keys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roster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roster_id → emp_id, shift_id, work_date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(emp_id, shift_id, work_date) → roster_id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Shift times are not copied into roster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attendance_punch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punch_id → roster_id, clock_in, clock_out, source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roster_id → punch_id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Employee and date come from roster, not stored again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Functional dependencies (2 of 2)</a:t>
            </a:r>
            <a:endParaRPr lang="en-US" sz="3400" dirty="0"/>
          </a:p>
        </p:txBody>
      </p:sp>
      <p:graphicFrame>
        <p:nvGraphicFramePr>
          <p:cNvPr id="7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5760720"/>
                <a:gridCol w="3383280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Relation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Functional dependencies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Why it is in 3NF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daily_summary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summary_id → all other attributes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(emp_id, work_date) → all other attributes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One row per employee-day; figures derived once from punches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overtime_request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ot_id → all other attributes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(emp_id, work_date) → ot_id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Approver stored as an employee id only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leave_type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leave_type_id → type_name, annual_quota, is_paid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type_name → leave_type_id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Leave policy stored once, not per employee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leave_balance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(emp_id, leave_type_id, bal_year) → entitled_days, used_days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Both attributes depend on the whole composite key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leave_application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app_id → all other attributes (days included)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(from_date, to_date) → days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days is a GENERATED column, so it cannot drift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leave_approval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approval_id → all other attributes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app_id → approval_id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One decision per application; determinants are keys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callout panel"/>
          <p:cNvSpPr/>
          <p:nvPr/>
        </p:nvSpPr>
        <p:spPr>
          <a:xfrm>
            <a:off x="548640" y="5943600"/>
            <a:ext cx="11064240" cy="411480"/>
          </a:xfrm>
          <a:prstGeom prst="roundRect">
            <a:avLst>
              <a:gd name="adj" fmla="val 1777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callout text"/>
          <p:cNvSpPr txBox="1"/>
          <p:nvPr/>
        </p:nvSpPr>
        <p:spPr>
          <a:xfrm>
            <a:off x="731520" y="594360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Every determinant above is a candidate key, so all 12 relations satisfy 3NF (and BCNF).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Data dictionary: organisation and scheduling</a:t>
            </a:r>
            <a:endParaRPr lang="en-US" sz="3400" dirty="0"/>
          </a:p>
        </p:txBody>
      </p:sp>
      <p:graphicFrame>
        <p:nvGraphicFramePr>
          <p:cNvPr id="8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108960"/>
                <a:gridCol w="603504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Table</a:t>
                      </a:r>
                      <a:endParaRPr lang="en-US" sz="14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Purpose</a:t>
                      </a:r>
                      <a:endParaRPr lang="en-US" sz="14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Key columns and constraints</a:t>
                      </a:r>
                      <a:endParaRPr lang="en-US" sz="14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department</a:t>
                      </a:r>
                      <a:endParaRPr lang="en-US" sz="14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Business units and staffing minimum</a:t>
                      </a:r>
                      <a:endParaRPr lang="en-US" sz="14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PK dept_id | dept_name UNIQUE | min_staff CHECK &gt; 0</a:t>
                      </a:r>
                      <a:endParaRPr lang="en-US" sz="14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employee</a:t>
                      </a:r>
                      <a:endParaRPr lang="en-US" sz="14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Staff master record</a:t>
                      </a:r>
                      <a:endParaRPr lang="en-US" sz="14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PK emp_id | emp_code, email UNIQUE | FK dept_id, manager_id | status CHECK</a:t>
                      </a:r>
                      <a:endParaRPr lang="en-US" sz="14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shift</a:t>
                      </a:r>
                      <a:endParaRPr lang="en-US" sz="14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Shift definitions</a:t>
                      </a:r>
                      <a:endParaRPr lang="en-US" sz="14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PK shift_id | shift_name UNIQUE | start_time &lt;&gt; end_time | grace_minutes &gt;= 0 | end &lt;= start means overnight</a:t>
                      </a:r>
                      <a:endParaRPr lang="en-US" sz="14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holiday</a:t>
                      </a:r>
                      <a:endParaRPr lang="en-US" sz="14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Public holidays</a:t>
                      </a:r>
                      <a:endParaRPr lang="en-US" sz="14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PK holiday_id | holiday_date UNIQUE NOT NULL</a:t>
                      </a:r>
                      <a:endParaRPr lang="en-US" sz="14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roster</a:t>
                      </a:r>
                      <a:endParaRPr lang="en-US" sz="14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Who works which shift on which date</a:t>
                      </a:r>
                      <a:endParaRPr lang="en-US" sz="14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PK roster_id | FK emp_id, shift_id | UNIQUE (emp, shift, date) | no-overlap trigger</a:t>
                      </a:r>
                      <a:endParaRPr lang="en-US" sz="14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attendance_punch</a:t>
                      </a:r>
                      <a:endParaRPr lang="en-US" sz="14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Clock-in and clock-out per rostered shift</a:t>
                      </a:r>
                      <a:endParaRPr lang="en-US" sz="14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PK punch_id | roster_id UNIQUE FK | CHECK clock_out &gt; clock_in | source CHECK</a:t>
                      </a:r>
                      <a:endParaRPr lang="en-US" sz="14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Data dictionary: attendance and leave</a:t>
            </a:r>
            <a:endParaRPr lang="en-US" sz="3400" dirty="0"/>
          </a:p>
        </p:txBody>
      </p:sp>
      <p:graphicFrame>
        <p:nvGraphicFramePr>
          <p:cNvPr id="9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108960"/>
                <a:gridCol w="603504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Table</a:t>
                      </a:r>
                      <a:endParaRPr lang="en-US" sz="14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Purpose</a:t>
                      </a:r>
                      <a:endParaRPr lang="en-US" sz="14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Key columns and constraints</a:t>
                      </a:r>
                      <a:endParaRPr lang="en-US" sz="14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daily_summary</a:t>
                      </a:r>
                      <a:endParaRPr lang="en-US" sz="14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One row per employee per day</a:t>
                      </a:r>
                      <a:endParaRPr lang="en-US" sz="14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PK summary_id | UNIQUE (emp_id, work_date) | minutes &gt;= 0 | status CHECK | overtime trigger</a:t>
                      </a:r>
                      <a:endParaRPr lang="en-US" sz="14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overtime_request</a:t>
                      </a:r>
                      <a:endParaRPr lang="en-US" sz="14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Overtime requests and decisions</a:t>
                      </a:r>
                      <a:endParaRPr lang="en-US" sz="14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PK ot_id | UNIQUE (emp, date) | req_minutes 1-240 | decision CHECK | no self-approval</a:t>
                      </a:r>
                      <a:endParaRPr lang="en-US" sz="14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leave_type</a:t>
                      </a:r>
                      <a:endParaRPr lang="en-US" sz="14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Leave policy</a:t>
                      </a:r>
                      <a:endParaRPr lang="en-US" sz="14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PK leave_type_id | type_name UNIQUE | annual_quota &gt;= 0 | is_paid</a:t>
                      </a:r>
                      <a:endParaRPr lang="en-US" sz="14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leave_balance</a:t>
                      </a:r>
                      <a:endParaRPr lang="en-US" sz="14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Entitled vs used days per year</a:t>
                      </a:r>
                      <a:endParaRPr lang="en-US" sz="14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PK (emp_id, leave_type_id, bal_year) | CHECK used &lt;= entitled</a:t>
                      </a:r>
                      <a:endParaRPr lang="en-US" sz="14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leave_application</a:t>
                      </a:r>
                      <a:endParaRPr lang="en-US" sz="14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Leave requests</a:t>
                      </a:r>
                      <a:endParaRPr lang="en-US" sz="14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PK app_id | FK emp_id, leave_type_id | days GENERATED | CHECK to_date &gt;= from_date</a:t>
                      </a:r>
                      <a:endParaRPr lang="en-US" sz="14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leave_approval</a:t>
                      </a:r>
                      <a:endParaRPr lang="en-US" sz="14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Approver decision on a request</a:t>
                      </a:r>
                      <a:endParaRPr lang="en-US" sz="14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PK approval_id | app_id UNIQUE FK | FK approver_id | trigger checks and deducts balance</a:t>
                      </a:r>
                      <a:endParaRPr lang="en-US" sz="14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Five business rules, enforced by the database</a:t>
            </a:r>
            <a:endParaRPr lang="en-US" sz="3400" dirty="0"/>
          </a:p>
        </p:txBody>
      </p:sp>
      <p:sp>
        <p:nvSpPr>
          <p:cNvPr id="4" name="rule row 1"/>
          <p:cNvSpPr/>
          <p:nvPr/>
        </p:nvSpPr>
        <p:spPr>
          <a:xfrm>
            <a:off x="548640" y="1280160"/>
            <a:ext cx="110642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badge 1"/>
          <p:cNvSpPr txBox="1"/>
          <p:nvPr/>
        </p:nvSpPr>
        <p:spPr>
          <a:xfrm>
            <a:off x="777240" y="14859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508760" y="128016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No overlapping shifts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937760" y="128016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Trigger on roster compares time ranges; handles night shifts that cross midnight.</a:t>
            </a:r>
            <a:endParaRPr lang="en-US" sz="1400" dirty="0"/>
          </a:p>
        </p:txBody>
      </p:sp>
      <p:sp>
        <p:nvSpPr>
          <p:cNvPr id="8" name="chip TRIGGER"/>
          <p:cNvSpPr txBox="1"/>
          <p:nvPr/>
        </p:nvSpPr>
        <p:spPr>
          <a:xfrm>
            <a:off x="9921240" y="1554480"/>
            <a:ext cx="1508760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TRIGGER</a:t>
            </a:r>
            <a:endParaRPr lang="en-US" sz="1100" dirty="0"/>
          </a:p>
        </p:txBody>
      </p:sp>
      <p:sp>
        <p:nvSpPr>
          <p:cNvPr id="9" name="rule row 2"/>
          <p:cNvSpPr/>
          <p:nvPr/>
        </p:nvSpPr>
        <p:spPr>
          <a:xfrm>
            <a:off x="548640" y="2258568"/>
            <a:ext cx="110642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badge 2"/>
          <p:cNvSpPr txBox="1"/>
          <p:nvPr/>
        </p:nvSpPr>
        <p:spPr>
          <a:xfrm>
            <a:off x="777240" y="246430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508760" y="2258568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Clock-out after clock-in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4937760" y="2258568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CHECK (clock_out IS NULL OR clock_out &gt; clock_in) on attendance_punch.</a:t>
            </a:r>
            <a:endParaRPr lang="en-US" sz="1400" dirty="0"/>
          </a:p>
        </p:txBody>
      </p:sp>
      <p:sp>
        <p:nvSpPr>
          <p:cNvPr id="13" name="chip CHECK"/>
          <p:cNvSpPr txBox="1"/>
          <p:nvPr/>
        </p:nvSpPr>
        <p:spPr>
          <a:xfrm>
            <a:off x="9921240" y="2532888"/>
            <a:ext cx="1508760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CHECK</a:t>
            </a:r>
            <a:endParaRPr lang="en-US" sz="1100" dirty="0"/>
          </a:p>
        </p:txBody>
      </p:sp>
      <p:sp>
        <p:nvSpPr>
          <p:cNvPr id="14" name="rule row 3"/>
          <p:cNvSpPr/>
          <p:nvPr/>
        </p:nvSpPr>
        <p:spPr>
          <a:xfrm>
            <a:off x="548640" y="3236976"/>
            <a:ext cx="110642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badge 3"/>
          <p:cNvSpPr txBox="1"/>
          <p:nvPr/>
        </p:nvSpPr>
        <p:spPr>
          <a:xfrm>
            <a:off x="777240" y="344271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508760" y="3236976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Leave within balance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4937760" y="3236976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CHECK used &lt;= entitled, plus an approval trigger that verifies and deducts days.</a:t>
            </a:r>
            <a:endParaRPr lang="en-US" sz="1400" dirty="0"/>
          </a:p>
        </p:txBody>
      </p:sp>
      <p:sp>
        <p:nvSpPr>
          <p:cNvPr id="18" name="chip CHECK + TRIGGER"/>
          <p:cNvSpPr txBox="1"/>
          <p:nvPr/>
        </p:nvSpPr>
        <p:spPr>
          <a:xfrm>
            <a:off x="9921240" y="3511296"/>
            <a:ext cx="1508760" cy="31089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CHECK + TRIGGER</a:t>
            </a:r>
            <a:endParaRPr lang="en-US" sz="1100" dirty="0"/>
          </a:p>
        </p:txBody>
      </p:sp>
      <p:sp>
        <p:nvSpPr>
          <p:cNvPr id="19" name="rule row 4"/>
          <p:cNvSpPr/>
          <p:nvPr/>
        </p:nvSpPr>
        <p:spPr>
          <a:xfrm>
            <a:off x="548640" y="4215384"/>
            <a:ext cx="110642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badge 4"/>
          <p:cNvSpPr txBox="1"/>
          <p:nvPr/>
        </p:nvSpPr>
        <p:spPr>
          <a:xfrm>
            <a:off x="777240" y="442112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4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1508760" y="4215384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Authorised overtime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4937760" y="4215384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Summary trigger needs an APPROVED request covering the minutes; no self-approval.</a:t>
            </a:r>
            <a:endParaRPr lang="en-US" sz="1400" dirty="0"/>
          </a:p>
        </p:txBody>
      </p:sp>
      <p:sp>
        <p:nvSpPr>
          <p:cNvPr id="23" name="chip TRIGGER + CHECK"/>
          <p:cNvSpPr txBox="1"/>
          <p:nvPr/>
        </p:nvSpPr>
        <p:spPr>
          <a:xfrm>
            <a:off x="9921240" y="4489704"/>
            <a:ext cx="1508760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TRIGGER + CHECK</a:t>
            </a:r>
            <a:endParaRPr lang="en-US" sz="1100" dirty="0"/>
          </a:p>
        </p:txBody>
      </p:sp>
      <p:sp>
        <p:nvSpPr>
          <p:cNvPr id="24" name="rule row 5"/>
          <p:cNvSpPr/>
          <p:nvPr/>
        </p:nvSpPr>
        <p:spPr>
          <a:xfrm>
            <a:off x="548640" y="5193792"/>
            <a:ext cx="110642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badge 5"/>
          <p:cNvSpPr txBox="1"/>
          <p:nvPr/>
        </p:nvSpPr>
        <p:spPr>
          <a:xfrm>
            <a:off x="777240" y="539953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5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1508760" y="5193792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One summary per day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4937760" y="5193792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UNIQUE (emp_id, work_date) on daily_summary.</a:t>
            </a:r>
            <a:endParaRPr lang="en-US" sz="1400" dirty="0"/>
          </a:p>
        </p:txBody>
      </p:sp>
      <p:sp>
        <p:nvSpPr>
          <p:cNvPr id="28" name="chip UNIQUE"/>
          <p:cNvSpPr txBox="1"/>
          <p:nvPr/>
        </p:nvSpPr>
        <p:spPr>
          <a:xfrm>
            <a:off x="9921240" y="5468112"/>
            <a:ext cx="1508760" cy="310896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UNIQUE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DDL excerpts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188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Rules 2 and 3: declarative CHECK constraints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6355080" y="11887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Rule 1: roster trigger (excerpt)</a:t>
            </a:r>
            <a:endParaRPr lang="en-US" sz="1400" dirty="0"/>
          </a:p>
        </p:txBody>
      </p:sp>
      <p:sp>
        <p:nvSpPr>
          <p:cNvPr id="6" name="ddl constraints panel"/>
          <p:cNvSpPr/>
          <p:nvPr/>
        </p:nvSpPr>
        <p:spPr>
          <a:xfrm>
            <a:off x="548640" y="1508760"/>
            <a:ext cx="5623560" cy="4206240"/>
          </a:xfrm>
          <a:prstGeom prst="roundRect">
            <a:avLst>
              <a:gd name="adj" fmla="val 173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ddl constraints"/>
          <p:cNvSpPr txBox="1"/>
          <p:nvPr/>
        </p:nvSpPr>
        <p:spPr>
          <a:xfrm>
            <a:off x="658368" y="1600200"/>
            <a:ext cx="5404104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Rule 2: clock-out after clock-in</a:t>
            </a:r>
            <a:pPr indent="0" marL="0">
              <a:lnSpc>
                <a:spcPct val="100000"/>
              </a:lnSpc>
              <a:buNone/>
            </a:pP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attendance_punch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punch_id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SERIAL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roster_id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</a:t>
            </a:r>
            <a:pPr indent="0" marL="0">
              <a:lnSpc>
                <a:spcPct val="100000"/>
              </a:lnSpc>
              <a:buNone/>
            </a:pP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roster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roster_id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pPr indent="0" marL="0">
              <a:lnSpc>
                <a:spcPct val="100000"/>
              </a:lnSpc>
              <a:buNone/>
            </a:pP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clock_in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clock_out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CONSTRAINT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ck_clock_out_after_in</a:t>
            </a:r>
            <a:pPr indent="0" marL="0">
              <a:lnSpc>
                <a:spcPct val="100000"/>
              </a:lnSpc>
              <a:buNone/>
            </a:pP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clock_out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ct val="100000"/>
              </a:lnSpc>
              <a:buNone/>
            </a:pP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clock_out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clock_in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pPr indent="0" marL="0">
              <a:lnSpc>
                <a:spcPct val="100000"/>
              </a:lnSpc>
              <a:buNone/>
            </a:pP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Rule 3: leave within balance</a:t>
            </a:r>
            <a:pPr indent="0" marL="0">
              <a:lnSpc>
                <a:spcPct val="100000"/>
              </a:lnSpc>
              <a:buNone/>
            </a:pP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leave_balance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emp_id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leave_type_id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bal_year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entitled_days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NUMERIC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ED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ED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used_days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NUMERIC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ED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ED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ED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emp_id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leave_type_id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bal_year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pPr indent="0" marL="0">
              <a:lnSpc>
                <a:spcPct val="100000"/>
              </a:lnSpc>
              <a:buNone/>
            </a:pP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CONSTRAINT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ck_leave_within_balance</a:t>
            </a:r>
            <a:pPr indent="0" marL="0">
              <a:lnSpc>
                <a:spcPct val="100000"/>
              </a:lnSpc>
              <a:buNone/>
            </a:pP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used_days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&gt;=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ED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0000"/>
              </a:lnSpc>
              <a:buNone/>
            </a:pP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used_days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&lt;=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entitled_days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</p:txBody>
      </p:sp>
      <p:sp>
        <p:nvSpPr>
          <p:cNvPr id="8" name="callout panel"/>
          <p:cNvSpPr/>
          <p:nvPr/>
        </p:nvSpPr>
        <p:spPr>
          <a:xfrm>
            <a:off x="548640" y="5806440"/>
            <a:ext cx="562356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callout text"/>
          <p:cNvSpPr txBox="1"/>
          <p:nvPr/>
        </p:nvSpPr>
        <p:spPr>
          <a:xfrm>
            <a:off x="731520" y="5806440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Rule 3 is completed by an approval trigger that checks the balance and deducts the days (slide 17).</a:t>
            </a:r>
            <a:endParaRPr lang="en-US" sz="1300" dirty="0"/>
          </a:p>
        </p:txBody>
      </p:sp>
      <p:sp>
        <p:nvSpPr>
          <p:cNvPr id="10" name="roster trigger panel"/>
          <p:cNvSpPr/>
          <p:nvPr/>
        </p:nvSpPr>
        <p:spPr>
          <a:xfrm>
            <a:off x="6355080" y="1508760"/>
            <a:ext cx="5257800" cy="4206240"/>
          </a:xfrm>
          <a:prstGeom prst="roundRect">
            <a:avLst>
              <a:gd name="adj" fmla="val 173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1" name="roster trigger"/>
          <p:cNvSpPr txBox="1"/>
          <p:nvPr/>
        </p:nvSpPr>
        <p:spPr>
          <a:xfrm>
            <a:off x="6464808" y="1600200"/>
            <a:ext cx="5038344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fn_roster_no_overlap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RETURNS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trigger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$$</a:t>
            </a:r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s = shift row of the NEW roster entry</a:t>
            </a:r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EXISTS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ED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roster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shift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shift_id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emp_id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emp_id</a:t>
            </a:r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shift_range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work_date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start_time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end_time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&amp;&amp;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shift_range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work_date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start_time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end_time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RAISE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EXCEPTION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ED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'Overlapping shift ...'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$$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LANGUAGE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plpgsql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TRIGGER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trg_roster_no_overlap</a:t>
            </a:r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roster</a:t>
            </a:r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EACH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</a:t>
            </a:r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fn_roster_no_overlap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100" dirty="0"/>
          </a:p>
        </p:txBody>
      </p:sp>
      <p:sp>
        <p:nvSpPr>
          <p:cNvPr id="12" name="callout panel"/>
          <p:cNvSpPr/>
          <p:nvPr/>
        </p:nvSpPr>
        <p:spPr>
          <a:xfrm>
            <a:off x="6355080" y="5806440"/>
            <a:ext cx="525780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callout text"/>
          <p:cNvSpPr txBox="1"/>
          <p:nvPr/>
        </p:nvSpPr>
        <p:spPr>
          <a:xfrm>
            <a:off x="6537960" y="580644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shift_range() adds one day when end &lt;= start, so Night (22:00-06:00) overlaps correctly.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Constraint tests: invalid data is rejected</a:t>
            </a:r>
            <a:endParaRPr lang="en-US" sz="3400" dirty="0"/>
          </a:p>
        </p:txBody>
      </p:sp>
      <p:graphicFrame>
        <p:nvGraphicFramePr>
          <p:cNvPr id="12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749040"/>
                <a:gridCol w="2103120"/>
                <a:gridCol w="46634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#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Attempted action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Rule tested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Database response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T1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Roster E004 on General (09:00-17:00) while already on Evening (14:00-22:00)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No overlapping shifts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Overlapping shift: employee 4 already rostered during General shift on 2026-09-21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T2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Punch with clock-in 09:00 and clock-out 08:00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Clock-out after clock-in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violates check constraint "ck_clock_out_after_in"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T3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Approve 14 days Casual Leave for E005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Leave within balance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Insufficient leave balance: 14 day(s) requested, 12.0 available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T4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Set 90 min overtime where no request is approved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Authorised overtime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Unauthorised overtime: no approved request covering 90 min for employee 2 on 2026-09-24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T5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Second daily summary for E002 on 24-Sep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One summary per day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duplicate key violates unique constraint "uq_one_summary_per_day"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T6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Employee approves own overtime request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Authorised overtime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violates check constraint "ck_ot_no_self_approval"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callout panel"/>
          <p:cNvSpPr/>
          <p:nvPr/>
        </p:nvSpPr>
        <p:spPr>
          <a:xfrm>
            <a:off x="548640" y="5623560"/>
            <a:ext cx="11064240" cy="685800"/>
          </a:xfrm>
          <a:prstGeom prst="roundRect">
            <a:avLst>
              <a:gd name="adj" fmla="val 1066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callout text"/>
          <p:cNvSpPr txBox="1"/>
          <p:nvPr/>
        </p:nvSpPr>
        <p:spPr>
          <a:xfrm>
            <a:off x="731520" y="562356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Valid path: approving a 3-day Casual Leave for E005 inside a transaction sets the status to APPROVED and moves used days from 0.0 to 3.0 (9.0 remaining). ROLLBACK restores the data.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Sample data: two realistic weeks</a:t>
            </a:r>
            <a:endParaRPr lang="en-US" sz="3400" dirty="0"/>
          </a:p>
        </p:txBody>
      </p:sp>
      <p:sp>
        <p:nvSpPr>
          <p:cNvPr id="4" name="stat Employees"/>
          <p:cNvSpPr/>
          <p:nvPr/>
        </p:nvSpPr>
        <p:spPr>
          <a:xfrm>
            <a:off x="548640" y="1280160"/>
            <a:ext cx="1691640" cy="1325880"/>
          </a:xfrm>
          <a:prstGeom prst="roundRect">
            <a:avLst>
              <a:gd name="adj" fmla="val 689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37160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accent1"/>
                </a:solidFill>
              </a:rPr>
              <a:t>15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0574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Employees</a:t>
            </a:r>
            <a:endParaRPr lang="en-US" sz="1300" dirty="0"/>
          </a:p>
        </p:txBody>
      </p:sp>
      <p:sp>
        <p:nvSpPr>
          <p:cNvPr id="7" name="stat Departments"/>
          <p:cNvSpPr/>
          <p:nvPr/>
        </p:nvSpPr>
        <p:spPr>
          <a:xfrm>
            <a:off x="2423160" y="1280160"/>
            <a:ext cx="1691640" cy="1325880"/>
          </a:xfrm>
          <a:prstGeom prst="roundRect">
            <a:avLst>
              <a:gd name="adj" fmla="val 689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423160" y="137160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accent1"/>
                </a:solidFill>
              </a:rPr>
              <a:t>4</a:t>
            </a:r>
            <a:endParaRPr lang="en-US" sz="3800" dirty="0"/>
          </a:p>
        </p:txBody>
      </p:sp>
      <p:sp>
        <p:nvSpPr>
          <p:cNvPr id="9" name="Text 6"/>
          <p:cNvSpPr txBox="1"/>
          <p:nvPr/>
        </p:nvSpPr>
        <p:spPr>
          <a:xfrm>
            <a:off x="2423160" y="20574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Departments</a:t>
            </a:r>
            <a:endParaRPr lang="en-US" sz="1300" dirty="0"/>
          </a:p>
        </p:txBody>
      </p:sp>
      <p:sp>
        <p:nvSpPr>
          <p:cNvPr id="10" name="stat Rostered shifts"/>
          <p:cNvSpPr/>
          <p:nvPr/>
        </p:nvSpPr>
        <p:spPr>
          <a:xfrm>
            <a:off x="4297680" y="1280160"/>
            <a:ext cx="1691640" cy="1325880"/>
          </a:xfrm>
          <a:prstGeom prst="roundRect">
            <a:avLst>
              <a:gd name="adj" fmla="val 689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297680" y="137160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accent1"/>
                </a:solidFill>
              </a:rPr>
              <a:t>159</a:t>
            </a:r>
            <a:endParaRPr lang="en-US" sz="3800" dirty="0"/>
          </a:p>
        </p:txBody>
      </p:sp>
      <p:sp>
        <p:nvSpPr>
          <p:cNvPr id="12" name="Text 9"/>
          <p:cNvSpPr txBox="1"/>
          <p:nvPr/>
        </p:nvSpPr>
        <p:spPr>
          <a:xfrm>
            <a:off x="4297680" y="20574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Rostered shifts</a:t>
            </a:r>
            <a:endParaRPr lang="en-US" sz="1300" dirty="0"/>
          </a:p>
        </p:txBody>
      </p:sp>
      <p:sp>
        <p:nvSpPr>
          <p:cNvPr id="13" name="stat Punches"/>
          <p:cNvSpPr/>
          <p:nvPr/>
        </p:nvSpPr>
        <p:spPr>
          <a:xfrm>
            <a:off x="6172200" y="1280160"/>
            <a:ext cx="1691640" cy="1325880"/>
          </a:xfrm>
          <a:prstGeom prst="roundRect">
            <a:avLst>
              <a:gd name="adj" fmla="val 689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172200" y="137160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accent1"/>
                </a:solidFill>
              </a:rPr>
              <a:t>150</a:t>
            </a:r>
            <a:endParaRPr lang="en-US" sz="3800" dirty="0"/>
          </a:p>
        </p:txBody>
      </p:sp>
      <p:sp>
        <p:nvSpPr>
          <p:cNvPr id="15" name="Text 12"/>
          <p:cNvSpPr txBox="1"/>
          <p:nvPr/>
        </p:nvSpPr>
        <p:spPr>
          <a:xfrm>
            <a:off x="6172200" y="20574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Punches</a:t>
            </a:r>
            <a:endParaRPr lang="en-US" sz="1300" dirty="0"/>
          </a:p>
        </p:txBody>
      </p:sp>
      <p:sp>
        <p:nvSpPr>
          <p:cNvPr id="16" name="stat Overtime requests"/>
          <p:cNvSpPr/>
          <p:nvPr/>
        </p:nvSpPr>
        <p:spPr>
          <a:xfrm>
            <a:off x="8046720" y="1280160"/>
            <a:ext cx="1691640" cy="1325880"/>
          </a:xfrm>
          <a:prstGeom prst="roundRect">
            <a:avLst>
              <a:gd name="adj" fmla="val 689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046720" y="137160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accent1"/>
                </a:solidFill>
              </a:rPr>
              <a:t>28</a:t>
            </a:r>
            <a:endParaRPr lang="en-US" sz="3800" dirty="0"/>
          </a:p>
        </p:txBody>
      </p:sp>
      <p:sp>
        <p:nvSpPr>
          <p:cNvPr id="18" name="Text 15"/>
          <p:cNvSpPr txBox="1"/>
          <p:nvPr/>
        </p:nvSpPr>
        <p:spPr>
          <a:xfrm>
            <a:off x="8046720" y="20574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Overtime requests</a:t>
            </a:r>
            <a:endParaRPr lang="en-US" sz="1300" dirty="0"/>
          </a:p>
        </p:txBody>
      </p:sp>
      <p:sp>
        <p:nvSpPr>
          <p:cNvPr id="19" name="stat Daily summaries"/>
          <p:cNvSpPr/>
          <p:nvPr/>
        </p:nvSpPr>
        <p:spPr>
          <a:xfrm>
            <a:off x="9921240" y="1280160"/>
            <a:ext cx="1691640" cy="1325880"/>
          </a:xfrm>
          <a:prstGeom prst="roundRect">
            <a:avLst>
              <a:gd name="adj" fmla="val 689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921240" y="137160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accent1"/>
                </a:solidFill>
              </a:rPr>
              <a:t>180</a:t>
            </a:r>
            <a:endParaRPr lang="en-US" sz="3800" dirty="0"/>
          </a:p>
        </p:txBody>
      </p:sp>
      <p:sp>
        <p:nvSpPr>
          <p:cNvPr id="21" name="Text 18"/>
          <p:cNvSpPr txBox="1"/>
          <p:nvPr/>
        </p:nvSpPr>
        <p:spPr>
          <a:xfrm>
            <a:off x="9921240" y="20574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Daily summaries</a:t>
            </a:r>
            <a:endParaRPr lang="en-US" sz="1300" dirty="0"/>
          </a:p>
        </p:txBody>
      </p:sp>
      <p:graphicFrame>
        <p:nvGraphicFramePr>
          <p:cNvPr id="22" name="status chart" descr=""/>
          <p:cNvGraphicFramePr/>
          <p:nvPr/>
        </p:nvGraphicFramePr>
        <p:xfrm>
          <a:off x="548640" y="2880360"/>
          <a:ext cx="59436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Text 19"/>
          <p:cNvSpPr txBox="1"/>
          <p:nvPr/>
        </p:nvSpPr>
        <p:spPr>
          <a:xfrm>
            <a:off x="6858000" y="2926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What the data covers</a:t>
            </a:r>
            <a:endParaRPr lang="en-US" sz="2000" dirty="0"/>
          </a:p>
        </p:txBody>
      </p:sp>
      <p:sp>
        <p:nvSpPr>
          <p:cNvPr id="24" name="data bullets"/>
          <p:cNvSpPr txBox="1"/>
          <p:nvPr/>
        </p:nvSpPr>
        <p:spPr>
          <a:xfrm>
            <a:off x="6858000" y="3383280"/>
            <a:ext cx="4754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Mon-Sat, 21 Sep to 3 Oct, rotating Morning, Evening and Night shifts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Gandhi Jayanti (2 Oct) as a public holiday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5 leave applications: 3 approved, 1 rejected, 1 pending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28 overtime requests: 21 approved, 7 rejected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Generated by repeatable SQL, so results never change between runs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Reports: roster and lateness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34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Roster, 21 Sep</a:t>
            </a:r>
            <a:endParaRPr lang="en-US" sz="1800" dirty="0"/>
          </a:p>
        </p:txBody>
      </p:sp>
      <p:sp>
        <p:nvSpPr>
          <p:cNvPr id="5" name="chip JOIN | VIEW"/>
          <p:cNvSpPr txBox="1"/>
          <p:nvPr/>
        </p:nvSpPr>
        <p:spPr>
          <a:xfrm>
            <a:off x="4343400" y="1252728"/>
            <a:ext cx="155448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JOIN | VIEW</a:t>
            </a:r>
            <a:endParaRPr lang="en-US" sz="1050" dirty="0"/>
          </a:p>
        </p:txBody>
      </p:sp>
      <p:sp>
        <p:nvSpPr>
          <p:cNvPr id="6" name="Roster, 21 Sep sql panel"/>
          <p:cNvSpPr/>
          <p:nvPr/>
        </p:nvSpPr>
        <p:spPr>
          <a:xfrm>
            <a:off x="548640" y="1645920"/>
            <a:ext cx="5349240" cy="1691640"/>
          </a:xfrm>
          <a:prstGeom prst="roundRect">
            <a:avLst>
              <a:gd name="adj" fmla="val 432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Roster, 21 Sep sql"/>
          <p:cNvSpPr txBox="1"/>
          <p:nvPr/>
        </p:nvSpPr>
        <p:spPr>
          <a:xfrm>
            <a:off x="658368" y="1737360"/>
            <a:ext cx="51297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work_date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full_name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shift_name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start_time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end_time</a:t>
            </a:r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v_roster</a:t>
            </a:r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dept_name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ED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'Production'</a:t>
            </a:r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work_date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ED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'2026-09-21'</a:t>
            </a:r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start_time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</p:txBody>
      </p:sp>
      <p:graphicFrame>
        <p:nvGraphicFramePr>
          <p:cNvPr id="14" name="Roster, 21 Sep resul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474720"/>
          <a:ext cx="53492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554480"/>
                <a:gridCol w="1051560"/>
                <a:gridCol w="1005840"/>
                <a:gridCol w="100584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Date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Employee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Shift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Start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End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09-21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Suresh Patel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Morning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06:00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14:00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09-21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Ravi Kumar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Evening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14:00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22:00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09-21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Meena Iyer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Evening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14:00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22:00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09-21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Anita Sharma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Night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22:00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06:00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09-21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Arjun Reddy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Night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22:00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06:00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9" name="callout panel"/>
          <p:cNvSpPr/>
          <p:nvPr/>
        </p:nvSpPr>
        <p:spPr>
          <a:xfrm>
            <a:off x="548640" y="5669280"/>
            <a:ext cx="534924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allout text"/>
          <p:cNvSpPr txBox="1"/>
          <p:nvPr/>
        </p:nvSpPr>
        <p:spPr>
          <a:xfrm>
            <a:off x="731520" y="566928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Only one Production employee is on Morning that day, below the minimum of two.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6263640" y="1234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Lateness</a:t>
            </a:r>
            <a:endParaRPr lang="en-US" sz="1800" dirty="0"/>
          </a:p>
        </p:txBody>
      </p:sp>
      <p:sp>
        <p:nvSpPr>
          <p:cNvPr id="12" name="chip GROUP BY | AVG"/>
          <p:cNvSpPr txBox="1"/>
          <p:nvPr/>
        </p:nvSpPr>
        <p:spPr>
          <a:xfrm>
            <a:off x="10058400" y="1252728"/>
            <a:ext cx="155448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GROUP BY | AVG</a:t>
            </a:r>
            <a:endParaRPr lang="en-US" sz="1050" dirty="0"/>
          </a:p>
        </p:txBody>
      </p:sp>
      <p:sp>
        <p:nvSpPr>
          <p:cNvPr id="13" name="Lateness sql panel"/>
          <p:cNvSpPr/>
          <p:nvPr/>
        </p:nvSpPr>
        <p:spPr>
          <a:xfrm>
            <a:off x="6263640" y="1645920"/>
            <a:ext cx="5349240" cy="1691640"/>
          </a:xfrm>
          <a:prstGeom prst="roundRect">
            <a:avLst>
              <a:gd name="adj" fmla="val 432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Lateness sql"/>
          <p:cNvSpPr txBox="1"/>
          <p:nvPr/>
        </p:nvSpPr>
        <p:spPr>
          <a:xfrm>
            <a:off x="6373368" y="1737360"/>
            <a:ext cx="51297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full_name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(*)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late_days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late_minutes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ED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avg_late_min</a:t>
            </a:r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v_lateness</a:t>
            </a:r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full_name</a:t>
            </a:r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late_days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avg_late_min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</a:t>
            </a:r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ED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</p:txBody>
      </p:sp>
      <p:graphicFrame>
        <p:nvGraphicFramePr>
          <p:cNvPr id="27" name="Lateness resul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3474720"/>
          <a:ext cx="5349240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1371600"/>
                <a:gridCol w="15544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Employee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Late days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Avg late (min)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Ravi Kumar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18.3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Farhan Ali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25.7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Gopal Yadav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21.0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Sneha Das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20.7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6" name="callout panel"/>
          <p:cNvSpPr/>
          <p:nvPr/>
        </p:nvSpPr>
        <p:spPr>
          <a:xfrm>
            <a:off x="6263640" y="5669280"/>
            <a:ext cx="534924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callout text"/>
          <p:cNvSpPr txBox="1"/>
          <p:nvPr/>
        </p:nvSpPr>
        <p:spPr>
          <a:xfrm>
            <a:off x="6446520" y="566928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Ravi Kumar was late 4 times; a punch counts as late only after the 10-minute grace.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Reports: absence and overtime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34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Absence</a:t>
            </a:r>
            <a:endParaRPr lang="en-US" sz="1800" dirty="0"/>
          </a:p>
        </p:txBody>
      </p:sp>
      <p:sp>
        <p:nvSpPr>
          <p:cNvPr id="5" name="chip SUBQUERY | HAVING"/>
          <p:cNvSpPr txBox="1"/>
          <p:nvPr/>
        </p:nvSpPr>
        <p:spPr>
          <a:xfrm>
            <a:off x="4343400" y="1252728"/>
            <a:ext cx="155448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SUBQUERY | HAVING</a:t>
            </a:r>
            <a:endParaRPr lang="en-US" sz="1050" dirty="0"/>
          </a:p>
        </p:txBody>
      </p:sp>
      <p:sp>
        <p:nvSpPr>
          <p:cNvPr id="6" name="Absence sql panel"/>
          <p:cNvSpPr/>
          <p:nvPr/>
        </p:nvSpPr>
        <p:spPr>
          <a:xfrm>
            <a:off x="548640" y="1645920"/>
            <a:ext cx="5349240" cy="1691640"/>
          </a:xfrm>
          <a:prstGeom prst="roundRect">
            <a:avLst>
              <a:gd name="adj" fmla="val 432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Absence sql"/>
          <p:cNvSpPr txBox="1"/>
          <p:nvPr/>
        </p:nvSpPr>
        <p:spPr>
          <a:xfrm>
            <a:off x="658368" y="1737360"/>
            <a:ext cx="51297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full_name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(*)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absent_days</a:t>
            </a:r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v_absence</a:t>
            </a:r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full_name</a:t>
            </a:r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HAVING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(*)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(*)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v_absence</a:t>
            </a:r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emp_code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</p:txBody>
      </p:sp>
      <p:graphicFrame>
        <p:nvGraphicFramePr>
          <p:cNvPr id="15" name="Absence resul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474720"/>
          <a:ext cx="5349240" cy="914400"/>
        </p:xfrm>
        <a:graphic>
          <a:graphicData uri="http://schemas.openxmlformats.org/drawingml/2006/table">
            <a:tbl>
              <a:tblPr/>
              <a:tblGrid>
                <a:gridCol w="3520440"/>
                <a:gridCol w="18288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Employee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Absent days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Neha Singh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9" name="callout panel"/>
          <p:cNvSpPr/>
          <p:nvPr/>
        </p:nvSpPr>
        <p:spPr>
          <a:xfrm>
            <a:off x="548640" y="5669280"/>
            <a:ext cx="534924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allout text"/>
          <p:cNvSpPr txBox="1"/>
          <p:nvPr/>
        </p:nvSpPr>
        <p:spPr>
          <a:xfrm>
            <a:off x="731520" y="566928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The nested query finds employees absent more often than average; Neha Singh (2 days) is the only one.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6263640" y="1234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Overtime</a:t>
            </a:r>
            <a:endParaRPr lang="en-US" sz="1800" dirty="0"/>
          </a:p>
        </p:txBody>
      </p:sp>
      <p:sp>
        <p:nvSpPr>
          <p:cNvPr id="12" name="chip JOIN | SUM"/>
          <p:cNvSpPr txBox="1"/>
          <p:nvPr/>
        </p:nvSpPr>
        <p:spPr>
          <a:xfrm>
            <a:off x="10058400" y="1252728"/>
            <a:ext cx="155448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JOIN | SUM</a:t>
            </a:r>
            <a:endParaRPr lang="en-US" sz="1050" dirty="0"/>
          </a:p>
        </p:txBody>
      </p:sp>
      <p:sp>
        <p:nvSpPr>
          <p:cNvPr id="13" name="Overtime sql panel"/>
          <p:cNvSpPr/>
          <p:nvPr/>
        </p:nvSpPr>
        <p:spPr>
          <a:xfrm>
            <a:off x="6263640" y="1645920"/>
            <a:ext cx="5349240" cy="1691640"/>
          </a:xfrm>
          <a:prstGeom prst="roundRect">
            <a:avLst>
              <a:gd name="adj" fmla="val 432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Overtime sql"/>
          <p:cNvSpPr txBox="1"/>
          <p:nvPr/>
        </p:nvSpPr>
        <p:spPr>
          <a:xfrm>
            <a:off x="6373368" y="1737360"/>
            <a:ext cx="51297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full_name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overtime_minutes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ot_min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overtime_minutes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/60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ED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ED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ot_hours</a:t>
            </a:r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daily_summary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</a:t>
            </a:r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emp_id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overtime_minutes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ED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full_name</a:t>
            </a:r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ot_min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ED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</p:txBody>
      </p:sp>
      <p:graphicFrame>
        <p:nvGraphicFramePr>
          <p:cNvPr id="29" name="Overtime resul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3474720"/>
          <a:ext cx="5349240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1463040"/>
                <a:gridCol w="146304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Employee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OT minutes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OT hours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Ravi Kumar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240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4.0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Suresh Patel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225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3.8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Rahul Mehta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165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2.8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Lakshmi Menon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165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2.8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6" name="callout panel"/>
          <p:cNvSpPr/>
          <p:nvPr/>
        </p:nvSpPr>
        <p:spPr>
          <a:xfrm>
            <a:off x="6263640" y="5669280"/>
            <a:ext cx="534924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callout text"/>
          <p:cNvSpPr txBox="1"/>
          <p:nvPr/>
        </p:nvSpPr>
        <p:spPr>
          <a:xfrm>
            <a:off x="6446520" y="566928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Only approved overtime is counted: 21 of 28 requests were approved.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Reports: leave balances and shift coverage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34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Leave balances</a:t>
            </a:r>
            <a:endParaRPr lang="en-US" sz="1800" dirty="0"/>
          </a:p>
        </p:txBody>
      </p:sp>
      <p:sp>
        <p:nvSpPr>
          <p:cNvPr id="5" name="chip JOIN | VIEW"/>
          <p:cNvSpPr txBox="1"/>
          <p:nvPr/>
        </p:nvSpPr>
        <p:spPr>
          <a:xfrm>
            <a:off x="4343400" y="1252728"/>
            <a:ext cx="155448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JOIN | VIEW</a:t>
            </a:r>
            <a:endParaRPr lang="en-US" sz="1050" dirty="0"/>
          </a:p>
        </p:txBody>
      </p:sp>
      <p:sp>
        <p:nvSpPr>
          <p:cNvPr id="6" name="Leave balances sql panel"/>
          <p:cNvSpPr/>
          <p:nvPr/>
        </p:nvSpPr>
        <p:spPr>
          <a:xfrm>
            <a:off x="548640" y="1645920"/>
            <a:ext cx="5349240" cy="1691640"/>
          </a:xfrm>
          <a:prstGeom prst="roundRect">
            <a:avLst>
              <a:gd name="adj" fmla="val 432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Leave balances sql"/>
          <p:cNvSpPr txBox="1"/>
          <p:nvPr/>
        </p:nvSpPr>
        <p:spPr>
          <a:xfrm>
            <a:off x="658368" y="1737360"/>
            <a:ext cx="51297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full_name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type_name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entitled_days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used_days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remaining_days</a:t>
            </a:r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v_leave_balance</a:t>
            </a:r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used_days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ED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full_name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</p:txBody>
      </p:sp>
      <p:graphicFrame>
        <p:nvGraphicFramePr>
          <p:cNvPr id="16" name="Leave balances resul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474720"/>
          <a:ext cx="5349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508760"/>
                <a:gridCol w="777240"/>
                <a:gridCol w="777240"/>
                <a:gridCol w="8229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Employee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Type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Ent.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Used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Left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Pooja Nair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Casual Leave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12.0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1.0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11.0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Rahul Mehta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Earned Leave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15.0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3.0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12.0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Suresh Patel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Sick Leave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10.0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2.0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8.0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9" name="callout panel"/>
          <p:cNvSpPr/>
          <p:nvPr/>
        </p:nvSpPr>
        <p:spPr>
          <a:xfrm>
            <a:off x="548640" y="5669280"/>
            <a:ext cx="534924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allout text"/>
          <p:cNvSpPr txBox="1"/>
          <p:nvPr/>
        </p:nvSpPr>
        <p:spPr>
          <a:xfrm>
            <a:off x="731520" y="566928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Balances change only through the approval trigger, never by hand.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6263640" y="1234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Shift coverage</a:t>
            </a:r>
            <a:endParaRPr lang="en-US" sz="1800" dirty="0"/>
          </a:p>
        </p:txBody>
      </p:sp>
      <p:sp>
        <p:nvSpPr>
          <p:cNvPr id="12" name="chip GROUP BY | CASE"/>
          <p:cNvSpPr txBox="1"/>
          <p:nvPr/>
        </p:nvSpPr>
        <p:spPr>
          <a:xfrm>
            <a:off x="10058400" y="1252728"/>
            <a:ext cx="155448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GROUP BY | CASE</a:t>
            </a:r>
            <a:endParaRPr lang="en-US" sz="1050" dirty="0"/>
          </a:p>
        </p:txBody>
      </p:sp>
      <p:sp>
        <p:nvSpPr>
          <p:cNvPr id="13" name="Shift coverage sql panel"/>
          <p:cNvSpPr/>
          <p:nvPr/>
        </p:nvSpPr>
        <p:spPr>
          <a:xfrm>
            <a:off x="6263640" y="1645920"/>
            <a:ext cx="5349240" cy="1691640"/>
          </a:xfrm>
          <a:prstGeom prst="roundRect">
            <a:avLst>
              <a:gd name="adj" fmla="val 432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Shift coverage sql"/>
          <p:cNvSpPr txBox="1"/>
          <p:nvPr/>
        </p:nvSpPr>
        <p:spPr>
          <a:xfrm>
            <a:off x="6373368" y="1737360"/>
            <a:ext cx="51297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work_date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dept_name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shift_name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scheduled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min_staff</a:t>
            </a:r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v_shift_coverage</a:t>
            </a:r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coverage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ED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'UNDERSTAFFED'</a:t>
            </a:r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work_date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dept_name</a:t>
            </a:r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ED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</p:txBody>
      </p:sp>
      <p:graphicFrame>
        <p:nvGraphicFramePr>
          <p:cNvPr id="31" name="Shift coverage resul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3474720"/>
          <a:ext cx="534924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1234440"/>
                <a:gridCol w="1143000"/>
                <a:gridCol w="1097280"/>
                <a:gridCol w="10972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Date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Dept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Shift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Sched.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Min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09-21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Production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Morning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09-24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Production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Morning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09-25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Production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Morning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09-26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Production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Morning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6" name="callout panel"/>
          <p:cNvSpPr/>
          <p:nvPr/>
        </p:nvSpPr>
        <p:spPr>
          <a:xfrm>
            <a:off x="6263640" y="5669280"/>
            <a:ext cx="534924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callout text"/>
          <p:cNvSpPr txBox="1"/>
          <p:nvPr/>
        </p:nvSpPr>
        <p:spPr>
          <a:xfrm>
            <a:off x="6446520" y="566928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9 of 126 department-shift slots are understaffed, all in Production.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Reports: department summary view</a:t>
            </a:r>
            <a:endParaRPr lang="en-US" sz="3400" dirty="0"/>
          </a:p>
        </p:txBody>
      </p:sp>
      <p:sp>
        <p:nvSpPr>
          <p:cNvPr id="4" name="dept view panel"/>
          <p:cNvSpPr/>
          <p:nvPr/>
        </p:nvSpPr>
        <p:spPr>
          <a:xfrm>
            <a:off x="548640" y="1280160"/>
            <a:ext cx="5029200" cy="3611880"/>
          </a:xfrm>
          <a:prstGeom prst="roundRect">
            <a:avLst>
              <a:gd name="adj" fmla="val 2025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dept view"/>
          <p:cNvSpPr txBox="1"/>
          <p:nvPr/>
        </p:nvSpPr>
        <p:spPr>
          <a:xfrm>
            <a:off x="658368" y="1371600"/>
            <a:ext cx="4809744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v_dept_summary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dept_name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DISTINCT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emp_id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headcount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(*)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ED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'PRESENT'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ED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'LATE'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days_present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(*)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ED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'LATE'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late_days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(*)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ED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'ABSENT'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absent_days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worked_minutes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/60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ED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ED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total_hours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overtime_minutes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/60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ED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ED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overtime_hours</a:t>
            </a:r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department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dept_id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dept_id</a:t>
            </a:r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daily_summary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</a:t>
            </a:r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emp_id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emp_id</a:t>
            </a:r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dept_name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</p:txBody>
      </p:sp>
      <p:sp>
        <p:nvSpPr>
          <p:cNvPr id="6" name="callout panel"/>
          <p:cNvSpPr/>
          <p:nvPr/>
        </p:nvSpPr>
        <p:spPr>
          <a:xfrm>
            <a:off x="548640" y="5074920"/>
            <a:ext cx="502920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callout text"/>
          <p:cNvSpPr txBox="1"/>
          <p:nvPr/>
        </p:nvSpPr>
        <p:spPr>
          <a:xfrm>
            <a:off x="731520" y="507492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Production logs the most late arrivals (12 days) and overtime (10.8 h); Logistics and Security lead on absences (3 days each).</a:t>
            </a:r>
            <a:endParaRPr lang="en-US" sz="1400" dirty="0"/>
          </a:p>
        </p:txBody>
      </p:sp>
      <p:graphicFrame>
        <p:nvGraphicFramePr>
          <p:cNvPr id="17" name="dept resul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1280160"/>
          <a:ext cx="57607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640080"/>
                <a:gridCol w="822960"/>
                <a:gridCol w="594360"/>
                <a:gridCol w="731520"/>
                <a:gridCol w="640080"/>
                <a:gridCol w="59436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Department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Staff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Present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Late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Absent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Hours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OT h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Customer Support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28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229.1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5.3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Logistics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319.6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1.3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Production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52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426.6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10.8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Security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244.0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5.5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dept chart" descr=""/>
          <p:cNvGraphicFramePr/>
          <p:nvPr/>
        </p:nvGraphicFramePr>
        <p:xfrm>
          <a:off x="5852160" y="3017520"/>
          <a:ext cx="576072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Views, indexing and transactions</a:t>
            </a:r>
            <a:endParaRPr lang="en-US" sz="3400" dirty="0"/>
          </a:p>
        </p:txBody>
      </p:sp>
      <p:sp>
        <p:nvSpPr>
          <p:cNvPr id="4" name="v_roster card"/>
          <p:cNvSpPr/>
          <p:nvPr/>
        </p:nvSpPr>
        <p:spPr>
          <a:xfrm>
            <a:off x="548640" y="1280160"/>
            <a:ext cx="310896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4447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v_roster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8745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Roster by department, date and shift</a:t>
            </a:r>
            <a:endParaRPr lang="en-US" sz="1400" dirty="0"/>
          </a:p>
        </p:txBody>
      </p:sp>
      <p:sp>
        <p:nvSpPr>
          <p:cNvPr id="7" name="v_lateness card"/>
          <p:cNvSpPr/>
          <p:nvPr/>
        </p:nvSpPr>
        <p:spPr>
          <a:xfrm>
            <a:off x="3794760" y="1280160"/>
            <a:ext cx="310896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977640" y="14447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v_lateness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3977640" y="18745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Late arrivals beyond the grace period</a:t>
            </a:r>
            <a:endParaRPr lang="en-US" sz="1400" dirty="0"/>
          </a:p>
        </p:txBody>
      </p:sp>
      <p:sp>
        <p:nvSpPr>
          <p:cNvPr id="10" name="v_absence card"/>
          <p:cNvSpPr/>
          <p:nvPr/>
        </p:nvSpPr>
        <p:spPr>
          <a:xfrm>
            <a:off x="548640" y="2651760"/>
            <a:ext cx="310896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28163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v_absence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32461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Rostered days with no punch</a:t>
            </a:r>
            <a:endParaRPr lang="en-US" sz="1400" dirty="0"/>
          </a:p>
        </p:txBody>
      </p:sp>
      <p:sp>
        <p:nvSpPr>
          <p:cNvPr id="13" name="v_leave_balance card"/>
          <p:cNvSpPr/>
          <p:nvPr/>
        </p:nvSpPr>
        <p:spPr>
          <a:xfrm>
            <a:off x="3794760" y="2651760"/>
            <a:ext cx="310896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977640" y="28163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v_leave_balance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3977640" y="32461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Entitled, used and remaining days</a:t>
            </a:r>
            <a:endParaRPr lang="en-US" sz="1400" dirty="0"/>
          </a:p>
        </p:txBody>
      </p:sp>
      <p:sp>
        <p:nvSpPr>
          <p:cNvPr id="16" name="v_shift_coverage card"/>
          <p:cNvSpPr/>
          <p:nvPr/>
        </p:nvSpPr>
        <p:spPr>
          <a:xfrm>
            <a:off x="548640" y="4023360"/>
            <a:ext cx="310896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1520" y="41879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v_shift_coverage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731520" y="46177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Scheduled vs minimum staff per shift</a:t>
            </a:r>
            <a:endParaRPr lang="en-US" sz="1400" dirty="0"/>
          </a:p>
        </p:txBody>
      </p:sp>
      <p:sp>
        <p:nvSpPr>
          <p:cNvPr id="19" name="v_dept_summary card"/>
          <p:cNvSpPr/>
          <p:nvPr/>
        </p:nvSpPr>
        <p:spPr>
          <a:xfrm>
            <a:off x="3794760" y="4023360"/>
            <a:ext cx="310896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977640" y="41879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v_dept_summary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3977640" y="46177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Hours, lateness, absence and overtime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7223760" y="12344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6 secondary indexes</a:t>
            </a:r>
            <a:endParaRPr lang="en-US" sz="1800" dirty="0"/>
          </a:p>
        </p:txBody>
      </p:sp>
      <p:sp>
        <p:nvSpPr>
          <p:cNvPr id="23" name="indexes panel"/>
          <p:cNvSpPr/>
          <p:nvPr/>
        </p:nvSpPr>
        <p:spPr>
          <a:xfrm>
            <a:off x="7223760" y="1645920"/>
            <a:ext cx="4389120" cy="1417320"/>
          </a:xfrm>
          <a:prstGeom prst="roundRect">
            <a:avLst>
              <a:gd name="adj" fmla="val 516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4" name="indexes"/>
          <p:cNvSpPr txBox="1"/>
          <p:nvPr/>
        </p:nvSpPr>
        <p:spPr>
          <a:xfrm>
            <a:off x="7333488" y="1737360"/>
            <a:ext cx="41696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dept_id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roster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work_date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shift_id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attendance_punch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clock_in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daily_summary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work_date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leave_application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emp_id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overtime_request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work_date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722376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Query plan for a lateness lookup</a:t>
            </a:r>
            <a:endParaRPr lang="en-US" sz="1800" dirty="0"/>
          </a:p>
        </p:txBody>
      </p:sp>
      <p:sp>
        <p:nvSpPr>
          <p:cNvPr id="26" name="explain panel"/>
          <p:cNvSpPr/>
          <p:nvPr/>
        </p:nvSpPr>
        <p:spPr>
          <a:xfrm>
            <a:off x="7223760" y="3657600"/>
            <a:ext cx="4389120" cy="1280160"/>
          </a:xfrm>
          <a:prstGeom prst="roundRect">
            <a:avLst>
              <a:gd name="adj" fmla="val 571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7" name="explain"/>
          <p:cNvSpPr txBox="1"/>
          <p:nvPr/>
        </p:nvSpPr>
        <p:spPr>
          <a:xfrm>
            <a:off x="7333488" y="3749040"/>
            <a:ext cx="4169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EXPLAIN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daily_summary</a:t>
            </a:r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work_date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ED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'2026-09-24'</a:t>
            </a:r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ED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'LATE'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idx_summary_date_stat</a:t>
            </a:r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daily_summary</a:t>
            </a:r>
            <a:endParaRPr lang="en-US" sz="1100" dirty="0"/>
          </a:p>
        </p:txBody>
      </p:sp>
      <p:sp>
        <p:nvSpPr>
          <p:cNvPr id="28" name="callout panel"/>
          <p:cNvSpPr/>
          <p:nvPr/>
        </p:nvSpPr>
        <p:spPr>
          <a:xfrm>
            <a:off x="548640" y="5486400"/>
            <a:ext cx="11064240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9" name="callout text"/>
          <p:cNvSpPr txBox="1"/>
          <p:nvPr/>
        </p:nvSpPr>
        <p:spPr>
          <a:xfrm>
            <a:off x="731520" y="548640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Transaction awareness: approving leave is one INSERT. Its trigger checks the balance, deducts the days and updates the status together, and any failure rolls everything back.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Implementation progress</a:t>
            </a:r>
            <a:endParaRPr lang="en-US" sz="3400" dirty="0"/>
          </a:p>
        </p:txBody>
      </p:sp>
      <p:sp>
        <p:nvSpPr>
          <p:cNvPr id="4" name="progress row 1"/>
          <p:cNvSpPr/>
          <p:nvPr/>
        </p:nvSpPr>
        <p:spPr>
          <a:xfrm>
            <a:off x="548640" y="1280160"/>
            <a:ext cx="1106424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rogress label 1"/>
          <p:cNvSpPr txBox="1"/>
          <p:nvPr/>
        </p:nvSpPr>
        <p:spPr>
          <a:xfrm>
            <a:off x="777240" y="1280160"/>
            <a:ext cx="6309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Requirements and ER model (Review 1)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12 entities, relationships, initial schema</a:t>
            </a:r>
            <a:endParaRPr lang="en-US" sz="1600" dirty="0"/>
          </a:p>
        </p:txBody>
      </p:sp>
      <p:sp>
        <p:nvSpPr>
          <p:cNvPr id="6" name="bar track"/>
          <p:cNvSpPr/>
          <p:nvPr/>
        </p:nvSpPr>
        <p:spPr>
          <a:xfrm>
            <a:off x="7315200" y="1517904"/>
            <a:ext cx="2926080" cy="146304"/>
          </a:xfrm>
          <a:prstGeom prst="roundRect">
            <a:avLst>
              <a:gd name="adj" fmla="val 50000"/>
            </a:avLst>
          </a:prstGeom>
          <a:solidFill>
            <a:srgbClr val="D3DCE0"/>
          </a:solidFill>
          <a:ln w="12700">
            <a:solidFill>
              <a:srgbClr val="D3DCE0"/>
            </a:solidFill>
            <a:prstDash val="solid"/>
          </a:ln>
        </p:spPr>
      </p:sp>
      <p:sp>
        <p:nvSpPr>
          <p:cNvPr id="7" name="bar fill"/>
          <p:cNvSpPr/>
          <p:nvPr/>
        </p:nvSpPr>
        <p:spPr>
          <a:xfrm>
            <a:off x="7315200" y="1517904"/>
            <a:ext cx="2926080" cy="146304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chip Done"/>
          <p:cNvSpPr txBox="1"/>
          <p:nvPr/>
        </p:nvSpPr>
        <p:spPr>
          <a:xfrm>
            <a:off x="10515600" y="1453896"/>
            <a:ext cx="868680" cy="27432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Done</a:t>
            </a:r>
            <a:endParaRPr lang="en-US" sz="1200" dirty="0"/>
          </a:p>
        </p:txBody>
      </p:sp>
      <p:sp>
        <p:nvSpPr>
          <p:cNvPr id="9" name="progress row 2"/>
          <p:cNvSpPr/>
          <p:nvPr/>
        </p:nvSpPr>
        <p:spPr>
          <a:xfrm>
            <a:off x="548640" y="1993392"/>
            <a:ext cx="1106424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progress label 2"/>
          <p:cNvSpPr txBox="1"/>
          <p:nvPr/>
        </p:nvSpPr>
        <p:spPr>
          <a:xfrm>
            <a:off x="777240" y="1993392"/>
            <a:ext cx="6309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3NF design, dependencies, data dictionary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12 relations; every determinant is a key</a:t>
            </a:r>
            <a:endParaRPr lang="en-US" sz="1600" dirty="0"/>
          </a:p>
        </p:txBody>
      </p:sp>
      <p:sp>
        <p:nvSpPr>
          <p:cNvPr id="11" name="bar track"/>
          <p:cNvSpPr/>
          <p:nvPr/>
        </p:nvSpPr>
        <p:spPr>
          <a:xfrm>
            <a:off x="7315200" y="2231136"/>
            <a:ext cx="2926080" cy="146304"/>
          </a:xfrm>
          <a:prstGeom prst="roundRect">
            <a:avLst>
              <a:gd name="adj" fmla="val 50000"/>
            </a:avLst>
          </a:prstGeom>
          <a:solidFill>
            <a:srgbClr val="D3DCE0"/>
          </a:solidFill>
          <a:ln w="12700">
            <a:solidFill>
              <a:srgbClr val="D3DCE0"/>
            </a:solidFill>
            <a:prstDash val="solid"/>
          </a:ln>
        </p:spPr>
      </p:sp>
      <p:sp>
        <p:nvSpPr>
          <p:cNvPr id="12" name="bar fill"/>
          <p:cNvSpPr/>
          <p:nvPr/>
        </p:nvSpPr>
        <p:spPr>
          <a:xfrm>
            <a:off x="7315200" y="2231136"/>
            <a:ext cx="2926080" cy="146304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chip Done"/>
          <p:cNvSpPr txBox="1"/>
          <p:nvPr/>
        </p:nvSpPr>
        <p:spPr>
          <a:xfrm>
            <a:off x="10515600" y="2167128"/>
            <a:ext cx="868680" cy="27432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Done</a:t>
            </a:r>
            <a:endParaRPr lang="en-US" sz="1200" dirty="0"/>
          </a:p>
        </p:txBody>
      </p:sp>
      <p:sp>
        <p:nvSpPr>
          <p:cNvPr id="14" name="progress row 3"/>
          <p:cNvSpPr/>
          <p:nvPr/>
        </p:nvSpPr>
        <p:spPr>
          <a:xfrm>
            <a:off x="548640" y="2706624"/>
            <a:ext cx="1106424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progress label 3"/>
          <p:cNvSpPr txBox="1"/>
          <p:nvPr/>
        </p:nvSpPr>
        <p:spPr>
          <a:xfrm>
            <a:off x="777240" y="2706624"/>
            <a:ext cx="6309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DDL and integrity constraints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5 business rules, 3 triggers, 6 indexes</a:t>
            </a:r>
            <a:endParaRPr lang="en-US" sz="1600" dirty="0"/>
          </a:p>
        </p:txBody>
      </p:sp>
      <p:sp>
        <p:nvSpPr>
          <p:cNvPr id="16" name="bar track"/>
          <p:cNvSpPr/>
          <p:nvPr/>
        </p:nvSpPr>
        <p:spPr>
          <a:xfrm>
            <a:off x="7315200" y="2944368"/>
            <a:ext cx="2926080" cy="146304"/>
          </a:xfrm>
          <a:prstGeom prst="roundRect">
            <a:avLst>
              <a:gd name="adj" fmla="val 50000"/>
            </a:avLst>
          </a:prstGeom>
          <a:solidFill>
            <a:srgbClr val="D3DCE0"/>
          </a:solidFill>
          <a:ln w="12700">
            <a:solidFill>
              <a:srgbClr val="D3DCE0"/>
            </a:solidFill>
            <a:prstDash val="solid"/>
          </a:ln>
        </p:spPr>
      </p:sp>
      <p:sp>
        <p:nvSpPr>
          <p:cNvPr id="17" name="bar fill"/>
          <p:cNvSpPr/>
          <p:nvPr/>
        </p:nvSpPr>
        <p:spPr>
          <a:xfrm>
            <a:off x="7315200" y="2944368"/>
            <a:ext cx="2926080" cy="146304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chip Done"/>
          <p:cNvSpPr txBox="1"/>
          <p:nvPr/>
        </p:nvSpPr>
        <p:spPr>
          <a:xfrm>
            <a:off x="10515600" y="2880360"/>
            <a:ext cx="868680" cy="27432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Done</a:t>
            </a:r>
            <a:endParaRPr lang="en-US" sz="1200" dirty="0"/>
          </a:p>
        </p:txBody>
      </p:sp>
      <p:sp>
        <p:nvSpPr>
          <p:cNvPr id="19" name="progress row 4"/>
          <p:cNvSpPr/>
          <p:nvPr/>
        </p:nvSpPr>
        <p:spPr>
          <a:xfrm>
            <a:off x="548640" y="3419856"/>
            <a:ext cx="1106424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progress label 4"/>
          <p:cNvSpPr txBox="1"/>
          <p:nvPr/>
        </p:nvSpPr>
        <p:spPr>
          <a:xfrm>
            <a:off x="777240" y="3419856"/>
            <a:ext cx="6309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Sample data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15 employees, two weeks of roster, punches, overtime, leave</a:t>
            </a:r>
            <a:endParaRPr lang="en-US" sz="1600" dirty="0"/>
          </a:p>
        </p:txBody>
      </p:sp>
      <p:sp>
        <p:nvSpPr>
          <p:cNvPr id="21" name="bar track"/>
          <p:cNvSpPr/>
          <p:nvPr/>
        </p:nvSpPr>
        <p:spPr>
          <a:xfrm>
            <a:off x="7315200" y="3657600"/>
            <a:ext cx="2926080" cy="146304"/>
          </a:xfrm>
          <a:prstGeom prst="roundRect">
            <a:avLst>
              <a:gd name="adj" fmla="val 50000"/>
            </a:avLst>
          </a:prstGeom>
          <a:solidFill>
            <a:srgbClr val="D3DCE0"/>
          </a:solidFill>
          <a:ln w="12700">
            <a:solidFill>
              <a:srgbClr val="D3DCE0"/>
            </a:solidFill>
            <a:prstDash val="solid"/>
          </a:ln>
        </p:spPr>
      </p:sp>
      <p:sp>
        <p:nvSpPr>
          <p:cNvPr id="22" name="bar fill"/>
          <p:cNvSpPr/>
          <p:nvPr/>
        </p:nvSpPr>
        <p:spPr>
          <a:xfrm>
            <a:off x="7315200" y="3657600"/>
            <a:ext cx="2926080" cy="146304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chip Done"/>
          <p:cNvSpPr txBox="1"/>
          <p:nvPr/>
        </p:nvSpPr>
        <p:spPr>
          <a:xfrm>
            <a:off x="10515600" y="3593592"/>
            <a:ext cx="868680" cy="27432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Done</a:t>
            </a:r>
            <a:endParaRPr lang="en-US" sz="1200" dirty="0"/>
          </a:p>
        </p:txBody>
      </p:sp>
      <p:sp>
        <p:nvSpPr>
          <p:cNvPr id="24" name="progress row 5"/>
          <p:cNvSpPr/>
          <p:nvPr/>
        </p:nvSpPr>
        <p:spPr>
          <a:xfrm>
            <a:off x="548640" y="4133088"/>
            <a:ext cx="1106424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progress label 5"/>
          <p:cNvSpPr txBox="1"/>
          <p:nvPr/>
        </p:nvSpPr>
        <p:spPr>
          <a:xfrm>
            <a:off x="777240" y="4133088"/>
            <a:ext cx="6309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SQL queries and views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7 report types, 6 views</a:t>
            </a:r>
            <a:endParaRPr lang="en-US" sz="1600" dirty="0"/>
          </a:p>
        </p:txBody>
      </p:sp>
      <p:sp>
        <p:nvSpPr>
          <p:cNvPr id="26" name="bar track"/>
          <p:cNvSpPr/>
          <p:nvPr/>
        </p:nvSpPr>
        <p:spPr>
          <a:xfrm>
            <a:off x="7315200" y="4370832"/>
            <a:ext cx="2926080" cy="146304"/>
          </a:xfrm>
          <a:prstGeom prst="roundRect">
            <a:avLst>
              <a:gd name="adj" fmla="val 50000"/>
            </a:avLst>
          </a:prstGeom>
          <a:solidFill>
            <a:srgbClr val="D3DCE0"/>
          </a:solidFill>
          <a:ln w="12700">
            <a:solidFill>
              <a:srgbClr val="D3DCE0"/>
            </a:solidFill>
            <a:prstDash val="solid"/>
          </a:ln>
        </p:spPr>
      </p:sp>
      <p:sp>
        <p:nvSpPr>
          <p:cNvPr id="27" name="bar fill"/>
          <p:cNvSpPr/>
          <p:nvPr/>
        </p:nvSpPr>
        <p:spPr>
          <a:xfrm>
            <a:off x="7315200" y="4370832"/>
            <a:ext cx="2926080" cy="146304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8" name="chip Done"/>
          <p:cNvSpPr txBox="1"/>
          <p:nvPr/>
        </p:nvSpPr>
        <p:spPr>
          <a:xfrm>
            <a:off x="10515600" y="4306824"/>
            <a:ext cx="868680" cy="27432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Done</a:t>
            </a:r>
            <a:endParaRPr lang="en-US" sz="1200" dirty="0"/>
          </a:p>
        </p:txBody>
      </p:sp>
      <p:sp>
        <p:nvSpPr>
          <p:cNvPr id="29" name="progress row 6"/>
          <p:cNvSpPr/>
          <p:nvPr/>
        </p:nvSpPr>
        <p:spPr>
          <a:xfrm>
            <a:off x="548640" y="4846320"/>
            <a:ext cx="1106424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progress label 6"/>
          <p:cNvSpPr txBox="1"/>
          <p:nvPr/>
        </p:nvSpPr>
        <p:spPr>
          <a:xfrm>
            <a:off x="777240" y="4846320"/>
            <a:ext cx="6309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Constraint testing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6 of 6 invalid operations rejected; valid path commits</a:t>
            </a:r>
            <a:endParaRPr lang="en-US" sz="1600" dirty="0"/>
          </a:p>
        </p:txBody>
      </p:sp>
      <p:sp>
        <p:nvSpPr>
          <p:cNvPr id="31" name="bar track"/>
          <p:cNvSpPr/>
          <p:nvPr/>
        </p:nvSpPr>
        <p:spPr>
          <a:xfrm>
            <a:off x="7315200" y="5084064"/>
            <a:ext cx="2926080" cy="146304"/>
          </a:xfrm>
          <a:prstGeom prst="roundRect">
            <a:avLst>
              <a:gd name="adj" fmla="val 50000"/>
            </a:avLst>
          </a:prstGeom>
          <a:solidFill>
            <a:srgbClr val="D3DCE0"/>
          </a:solidFill>
          <a:ln w="12700">
            <a:solidFill>
              <a:srgbClr val="D3DCE0"/>
            </a:solidFill>
            <a:prstDash val="solid"/>
          </a:ln>
        </p:spPr>
      </p:sp>
      <p:sp>
        <p:nvSpPr>
          <p:cNvPr id="32" name="bar fill"/>
          <p:cNvSpPr/>
          <p:nvPr/>
        </p:nvSpPr>
        <p:spPr>
          <a:xfrm>
            <a:off x="7315200" y="5084064"/>
            <a:ext cx="2926080" cy="146304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3" name="chip Done"/>
          <p:cNvSpPr txBox="1"/>
          <p:nvPr/>
        </p:nvSpPr>
        <p:spPr>
          <a:xfrm>
            <a:off x="10515600" y="5020056"/>
            <a:ext cx="868680" cy="27432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Done</a:t>
            </a:r>
            <a:endParaRPr lang="en-US" sz="1200" dirty="0"/>
          </a:p>
        </p:txBody>
      </p:sp>
      <p:sp>
        <p:nvSpPr>
          <p:cNvPr id="34" name="progress row 7"/>
          <p:cNvSpPr/>
          <p:nvPr/>
        </p:nvSpPr>
        <p:spPr>
          <a:xfrm>
            <a:off x="548640" y="5559552"/>
            <a:ext cx="1106424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5" name="progress label 7"/>
          <p:cNvSpPr txBox="1"/>
          <p:nvPr/>
        </p:nvSpPr>
        <p:spPr>
          <a:xfrm>
            <a:off x="777240" y="5559552"/>
            <a:ext cx="6309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Front-end application (Review 3)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Roster, clock-in/out, overtime, leave and reports in Python or Java</a:t>
            </a:r>
            <a:endParaRPr lang="en-US" sz="1600" dirty="0"/>
          </a:p>
        </p:txBody>
      </p:sp>
      <p:sp>
        <p:nvSpPr>
          <p:cNvPr id="36" name="bar track"/>
          <p:cNvSpPr/>
          <p:nvPr/>
        </p:nvSpPr>
        <p:spPr>
          <a:xfrm>
            <a:off x="7315200" y="5797296"/>
            <a:ext cx="2926080" cy="146304"/>
          </a:xfrm>
          <a:prstGeom prst="roundRect">
            <a:avLst>
              <a:gd name="adj" fmla="val 50000"/>
            </a:avLst>
          </a:prstGeom>
          <a:solidFill>
            <a:srgbClr val="D3DCE0"/>
          </a:solidFill>
          <a:ln w="12700">
            <a:solidFill>
              <a:srgbClr val="D3DCE0"/>
            </a:solidFill>
            <a:prstDash val="solid"/>
          </a:ln>
        </p:spPr>
      </p:sp>
      <p:sp>
        <p:nvSpPr>
          <p:cNvPr id="37" name="chip Next"/>
          <p:cNvSpPr txBox="1"/>
          <p:nvPr/>
        </p:nvSpPr>
        <p:spPr>
          <a:xfrm>
            <a:off x="10515600" y="5733288"/>
            <a:ext cx="86868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Next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Prototype demonstration</a:t>
            </a:r>
            <a:endParaRPr lang="en-US" sz="3400" dirty="0"/>
          </a:p>
        </p:txBody>
      </p:sp>
      <p:sp>
        <p:nvSpPr>
          <p:cNvPr id="4" name="demo step 1"/>
          <p:cNvSpPr/>
          <p:nvPr/>
        </p:nvSpPr>
        <p:spPr>
          <a:xfrm>
            <a:off x="548640" y="1325880"/>
            <a:ext cx="2103120" cy="402336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badge 1"/>
          <p:cNvSpPr txBox="1"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1031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Create schema</a:t>
            </a:r>
            <a:endParaRPr lang="en-US" sz="1800" dirty="0"/>
          </a:p>
        </p:txBody>
      </p:sp>
      <p:sp>
        <p:nvSpPr>
          <p:cNvPr id="7" name="demo cmd 1 panel"/>
          <p:cNvSpPr/>
          <p:nvPr/>
        </p:nvSpPr>
        <p:spPr>
          <a:xfrm>
            <a:off x="685800" y="2880360"/>
            <a:ext cx="1828800" cy="777240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" name="demo cmd 1"/>
          <p:cNvSpPr txBox="1"/>
          <p:nvPr/>
        </p:nvSpPr>
        <p:spPr>
          <a:xfrm>
            <a:off x="795528" y="2971800"/>
            <a:ext cx="16093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psql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-f</a:t>
            </a:r>
            <a:pPr indent="0" marL="0">
              <a:lnSpc>
                <a:spcPct val="100000"/>
              </a:lnSpc>
              <a:buNone/>
            </a:pP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01_schema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84048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12 tables, 3 triggers, 6 indexes</a:t>
            </a:r>
            <a:endParaRPr lang="en-US" sz="1500" dirty="0"/>
          </a:p>
        </p:txBody>
      </p:sp>
      <p:sp>
        <p:nvSpPr>
          <p:cNvPr id="10" name="demo step 2"/>
          <p:cNvSpPr/>
          <p:nvPr/>
        </p:nvSpPr>
        <p:spPr>
          <a:xfrm>
            <a:off x="2788920" y="1325880"/>
            <a:ext cx="2103120" cy="402336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badge 2"/>
          <p:cNvSpPr txBox="1"/>
          <p:nvPr/>
        </p:nvSpPr>
        <p:spPr>
          <a:xfrm>
            <a:off x="2971800" y="15087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2971800" y="21031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Load data</a:t>
            </a:r>
            <a:endParaRPr lang="en-US" sz="1800" dirty="0"/>
          </a:p>
        </p:txBody>
      </p:sp>
      <p:sp>
        <p:nvSpPr>
          <p:cNvPr id="13" name="demo cmd 2 panel"/>
          <p:cNvSpPr/>
          <p:nvPr/>
        </p:nvSpPr>
        <p:spPr>
          <a:xfrm>
            <a:off x="2926080" y="2880360"/>
            <a:ext cx="1828800" cy="777240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demo cmd 2"/>
          <p:cNvSpPr txBox="1"/>
          <p:nvPr/>
        </p:nvSpPr>
        <p:spPr>
          <a:xfrm>
            <a:off x="3035808" y="2971800"/>
            <a:ext cx="16093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psql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-f</a:t>
            </a:r>
            <a:pPr indent="0" marL="0">
              <a:lnSpc>
                <a:spcPct val="100000"/>
              </a:lnSpc>
              <a:buNone/>
            </a:pP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02_data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2971800" y="384048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159 roster rows, 150 punches, 180 summaries</a:t>
            </a:r>
            <a:endParaRPr lang="en-US" sz="1500" dirty="0"/>
          </a:p>
        </p:txBody>
      </p:sp>
      <p:sp>
        <p:nvSpPr>
          <p:cNvPr id="16" name="demo step 3"/>
          <p:cNvSpPr/>
          <p:nvPr/>
        </p:nvSpPr>
        <p:spPr>
          <a:xfrm>
            <a:off x="5029200" y="1325880"/>
            <a:ext cx="2103120" cy="402336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badge 3"/>
          <p:cNvSpPr txBox="1"/>
          <p:nvPr/>
        </p:nvSpPr>
        <p:spPr>
          <a:xfrm>
            <a:off x="5212080" y="15087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5212080" y="21031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Run reports</a:t>
            </a:r>
            <a:endParaRPr lang="en-US" sz="1800" dirty="0"/>
          </a:p>
        </p:txBody>
      </p:sp>
      <p:sp>
        <p:nvSpPr>
          <p:cNvPr id="19" name="demo cmd 3 panel"/>
          <p:cNvSpPr/>
          <p:nvPr/>
        </p:nvSpPr>
        <p:spPr>
          <a:xfrm>
            <a:off x="5166360" y="2880360"/>
            <a:ext cx="1828800" cy="777240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0" name="demo cmd 3"/>
          <p:cNvSpPr txBox="1"/>
          <p:nvPr/>
        </p:nvSpPr>
        <p:spPr>
          <a:xfrm>
            <a:off x="5276088" y="2971800"/>
            <a:ext cx="16093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psql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-f</a:t>
            </a:r>
            <a:pPr indent="0" marL="0">
              <a:lnSpc>
                <a:spcPct val="100000"/>
              </a:lnSpc>
              <a:buNone/>
            </a:pP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03_views_queries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5212080" y="384048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6 views: roster, lateness, absence, leave, coverage, department</a:t>
            </a:r>
            <a:endParaRPr lang="en-US" sz="1500" dirty="0"/>
          </a:p>
        </p:txBody>
      </p:sp>
      <p:sp>
        <p:nvSpPr>
          <p:cNvPr id="22" name="demo step 4"/>
          <p:cNvSpPr/>
          <p:nvPr/>
        </p:nvSpPr>
        <p:spPr>
          <a:xfrm>
            <a:off x="7269480" y="1325880"/>
            <a:ext cx="2103120" cy="402336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badge 4"/>
          <p:cNvSpPr txBox="1"/>
          <p:nvPr/>
        </p:nvSpPr>
        <p:spPr>
          <a:xfrm>
            <a:off x="7452360" y="15087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4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7452360" y="21031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Break the rules</a:t>
            </a:r>
            <a:endParaRPr lang="en-US" sz="1800" dirty="0"/>
          </a:p>
        </p:txBody>
      </p:sp>
      <p:sp>
        <p:nvSpPr>
          <p:cNvPr id="25" name="demo cmd 4 panel"/>
          <p:cNvSpPr/>
          <p:nvPr/>
        </p:nvSpPr>
        <p:spPr>
          <a:xfrm>
            <a:off x="7406640" y="2880360"/>
            <a:ext cx="1828800" cy="777240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6" name="demo cmd 4"/>
          <p:cNvSpPr txBox="1"/>
          <p:nvPr/>
        </p:nvSpPr>
        <p:spPr>
          <a:xfrm>
            <a:off x="7516368" y="2971800"/>
            <a:ext cx="16093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psql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-f</a:t>
            </a:r>
            <a:pPr indent="0" marL="0">
              <a:lnSpc>
                <a:spcPct val="100000"/>
              </a:lnSpc>
              <a:buNone/>
            </a:pP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04_tests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7452360" y="384048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All 6 invalid operations are rejected with clear messages</a:t>
            </a:r>
            <a:endParaRPr lang="en-US" sz="1500" dirty="0"/>
          </a:p>
        </p:txBody>
      </p:sp>
      <p:sp>
        <p:nvSpPr>
          <p:cNvPr id="28" name="demo step 5"/>
          <p:cNvSpPr/>
          <p:nvPr/>
        </p:nvSpPr>
        <p:spPr>
          <a:xfrm>
            <a:off x="9509760" y="1325880"/>
            <a:ext cx="2103120" cy="402336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badge 5"/>
          <p:cNvSpPr txBox="1"/>
          <p:nvPr/>
        </p:nvSpPr>
        <p:spPr>
          <a:xfrm>
            <a:off x="9692640" y="15087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5</a:t>
            </a:r>
            <a:endParaRPr lang="en-US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9692640" y="21031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Approve leave</a:t>
            </a:r>
            <a:endParaRPr lang="en-US" sz="1800" dirty="0"/>
          </a:p>
        </p:txBody>
      </p:sp>
      <p:sp>
        <p:nvSpPr>
          <p:cNvPr id="31" name="demo cmd 5 panel"/>
          <p:cNvSpPr/>
          <p:nvPr/>
        </p:nvSpPr>
        <p:spPr>
          <a:xfrm>
            <a:off x="9646920" y="2880360"/>
            <a:ext cx="1828800" cy="777240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2" name="demo cmd 5"/>
          <p:cNvSpPr txBox="1"/>
          <p:nvPr/>
        </p:nvSpPr>
        <p:spPr>
          <a:xfrm>
            <a:off x="9756648" y="2971800"/>
            <a:ext cx="16093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INTO</a:t>
            </a:r>
            <a:pPr indent="0" marL="0">
              <a:lnSpc>
                <a:spcPct val="100000"/>
              </a:lnSpc>
              <a:buNone/>
            </a:pP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leave_approval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9692640" y="384048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Status becomes APPROVED and the balance drops 12.0 to 9.0</a:t>
            </a:r>
            <a:endParaRPr lang="en-US" sz="1500" dirty="0"/>
          </a:p>
        </p:txBody>
      </p:sp>
      <p:sp>
        <p:nvSpPr>
          <p:cNvPr id="34" name="callout panel"/>
          <p:cNvSpPr/>
          <p:nvPr/>
        </p:nvSpPr>
        <p:spPr>
          <a:xfrm>
            <a:off x="548640" y="5623560"/>
            <a:ext cx="11064240" cy="594360"/>
          </a:xfrm>
          <a:prstGeom prst="roundRect">
            <a:avLst>
              <a:gd name="adj" fmla="val 1230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5" name="callout text"/>
          <p:cNvSpPr txBox="1"/>
          <p:nvPr/>
        </p:nvSpPr>
        <p:spPr>
          <a:xfrm>
            <a:off x="731520" y="562356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Environment: PostgreSQL 16 with the psql console. All four scripts are shared with this deck.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417320"/>
            <a:ext cx="6492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Next: the application layer for Review 3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03320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A simple Python or Java front-end connected to this database</a:t>
            </a:r>
            <a:endParaRPr lang="en-US" sz="1800" dirty="0"/>
          </a:p>
        </p:txBody>
      </p:sp>
      <p:sp>
        <p:nvSpPr>
          <p:cNvPr id="4" name="next steps"/>
          <p:cNvSpPr txBox="1"/>
          <p:nvPr/>
        </p:nvSpPr>
        <p:spPr>
          <a:xfrm>
            <a:off x="731520" y="434340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Roster preparation and clock-in/out entry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Work-hour calculation and overtime approval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Leave processing and balance update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Reports, validation and error handling</a:t>
            </a:r>
            <a:endParaRPr lang="en-US" sz="1600" dirty="0"/>
          </a:p>
        </p:txBody>
      </p:sp>
      <p:sp>
        <p:nvSpPr>
          <p:cNvPr id="5" name="closing"/>
          <p:cNvSpPr txBox="1"/>
          <p:nvPr/>
        </p:nvSpPr>
        <p:spPr>
          <a:xfrm>
            <a:off x="731520" y="5943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Thank you. Questions?</a:t>
            </a:r>
            <a:endParaRPr lang="en-US" sz="2000" dirty="0"/>
          </a:p>
        </p:txBody>
      </p:sp>
      <p:pic>
        <p:nvPicPr>
          <p:cNvPr id="6" name="Image 0" descr="24-hour clock ring split into three shif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28016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hift Clock">
  <a:themeElements>
    <a:clrScheme name="Shift Clock">
      <a:dk1>
        <a:srgbClr val="14232E"/>
      </a:dk1>
      <a:lt1>
        <a:srgbClr val="FFFFFF"/>
      </a:lt1>
      <a:dk2>
        <a:srgbClr val="1F3A4D"/>
      </a:dk2>
      <a:lt2>
        <a:srgbClr val="EEF3F4"/>
      </a:lt2>
      <a:accent1>
        <a:srgbClr val="F2A33A"/>
      </a:accent1>
      <a:accent2>
        <a:srgbClr val="1F8A8A"/>
      </a:accent2>
      <a:accent3>
        <a:srgbClr val="4D6F88"/>
      </a:accent3>
      <a:accent4>
        <a:srgbClr val="D9534F"/>
      </a:accent4>
      <a:accent5>
        <a:srgbClr val="4C9A62"/>
      </a:accent5>
      <a:accent6>
        <a:srgbClr val="7C8896"/>
      </a:accent6>
      <a:hlink>
        <a:srgbClr val="1F8A8A"/>
      </a:hlink>
      <a:folHlink>
        <a:srgbClr val="4D6F88"/>
      </a:folHlink>
    </a:clrScheme>
    <a:fontScheme name="Shift Cloc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Employee Attendance, Shift &amp; Leave Management System - Review 2</dc:title>
  <dc:subject>PptxGenJS Presentation</dc:subject>
  <dc:creator>DBMS PBL - Project 38</dc:creator>
  <cp:lastModifiedBy>DBMS PBL - Project 38</cp:lastModifiedBy>
  <cp:revision>1</cp:revision>
  <dcterms:created xsi:type="dcterms:W3CDTF">2026-10-09T19:14:06Z</dcterms:created>
  <dcterms:modified xsi:type="dcterms:W3CDTF">2026-10-09T19:14:06Z</dcterms:modified>
</cp:coreProperties>
</file>