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3990c3-ed14-cf56-7b13-e527dd08f7c8}">
          <p14:sldIdLst>
            <p14:sldId id="256"/>
          </p14:sldIdLst>
        </p14:section>
        <p14:section name="Context" id="{6e3843ba-332e-8312-468f-744c4f35ca30}">
          <p14:sldIdLst>
            <p14:sldId id="257"/>
            <p14:sldId id="258"/>
            <p14:sldId id="259"/>
          </p14:sldIdLst>
        </p14:section>
        <p14:section name="Application" id="{7fde98a2-809c-1f14-6099-c44cc21eb603}">
          <p14:sldIdLst>
            <p14:sldId id="260"/>
            <p14:sldId id="261"/>
            <p14:sldId id="262"/>
            <p14:sldId id="263"/>
          </p14:sldIdLst>
        </p14:section>
        <p14:section name="Demonstration" id="{4ac618ce-86ae-5b65-526e-a2762d3c75d2}">
          <p14:sldIdLst>
            <p14:sldId id="264"/>
            <p14:sldId id="265"/>
            <p14:sldId id="266"/>
            <p14:sldId id="267"/>
          </p14:sldIdLst>
        </p14:section>
        <p14:section name="Closing" id="{86303910-011c-fd34-61cc-e903c65eb18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database-backed system that manages rosters, attendance, overtime and leave for shift-based organisations. This is the final review: working application, demonstration, source code and test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pain point and the four objectives. Mention the three user roles that drive the menus 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Reviews 1 and 2: the ER model was converted to 12 relational tables and normalised to 3NF. Tables fall into three groups. Keep this short; the focus of Review 3 is the working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show each rule being broken on purpose and the database rejecting it. These are enforced in the database itself, not only in the application, so the data stays clean whatever client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Three-layer design: forms, logic, database. State the language and database actually used in your implementation (change this slide if you used Java, Flask, PostgreSQL,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maps directly to a Review 3 requirement: roster preparation, clock-in/out, work-hour calculation, overtime approval, leave processing, balance update and reporting. Master data covers the CRUD on employees, departments and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employee's day. The summary row is produced automatically from the punches and the rostered shift. Overtime is only counted once a manager has approved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a failure at any point rolls everything back, so a balance is never reduced without an approved application, and vice 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checklist for the live demo: create, read, update and delete a record in each module, then search it. Adjust the cells to match exactly what your application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at least two of these live. The key message: bad data is stopped twice, once by the form and again by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report during the demo. Mention which SQL technique sits behind it. Rename the views to match your own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frame with a real screenshot from your running application, then delete the 'Insert screenshot here' text. Add more screens (search, error message) on a duplicate slide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each business rule has at least one negative test and one positive test. Add your actual pass/fail results if the faculty asks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match the Review 3 deliverables in the project statement. Have the files ready to open during the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then invite questions for the viva-voce.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08760"/>
            <a:ext cx="6675120" cy="23774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Project 38  |  Employee Attendance, Shift and Leave Management  |  Review 3</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51560"/>
            <a:ext cx="658368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DBMS PBL  |  PROJECT 38</a:t>
            </a:r>
            <a:endParaRPr lang="en-US" sz="1400" dirty="0"/>
          </a:p>
        </p:txBody>
      </p:sp>
      <p:sp>
        <p:nvSpPr>
          <p:cNvPr id="3" name="Text 0"/>
          <p:cNvSpPr/>
          <p:nvPr>
            <p:ph idx="100" type="title" hasCustomPrompt="1"/>
          </p:nvPr>
        </p:nvSpPr>
        <p:spPr>
          <a:xfrm>
            <a:off x="640080" y="1508760"/>
            <a:ext cx="6675120" cy="2377440"/>
          </a:xfrm>
          <a:prstGeom prst="rect">
            <a:avLst/>
          </a:prstGeom>
          <a:noFill/>
          <a:ln/>
        </p:spPr>
        <p:txBody>
          <a:bodyPr wrap="square" lIns="0" tIns="0" rIns="0" bIns="0" rtlCol="0" anchor="t"/>
          <a:lstStyle/>
          <a:p>
            <a:pPr algn="l" indent="0" marL="0">
              <a:buNone/>
            </a:pPr>
            <a:r>
              <a:rPr lang="en-US" sz="4400" b="1" dirty="0">
                <a:solidFill>
                  <a:schemeClr val="bg1"/>
                </a:solidFill>
              </a:rPr>
              <a:t>Employee Attendance, Shift and Leave Management System</a:t>
            </a:r>
            <a:endParaRPr lang="en-US" sz="4400" dirty="0"/>
          </a:p>
        </p:txBody>
      </p:sp>
      <p:sp>
        <p:nvSpPr>
          <p:cNvPr id="4" name="Text 2"/>
          <p:cNvSpPr txBox="1"/>
          <p:nvPr/>
        </p:nvSpPr>
        <p:spPr>
          <a:xfrm>
            <a:off x="640080" y="4069080"/>
            <a:ext cx="6583680" cy="365760"/>
          </a:xfrm>
          <a:prstGeom prst="rect">
            <a:avLst/>
          </a:prstGeom>
          <a:noFill/>
          <a:ln/>
        </p:spPr>
        <p:txBody>
          <a:bodyPr wrap="square" lIns="0" tIns="0" rIns="0" bIns="0" rtlCol="0" anchor="t"/>
          <a:lstStyle/>
          <a:p>
            <a:pPr indent="0" marL="0">
              <a:buNone/>
            </a:pPr>
            <a:r>
              <a:rPr lang="en-US" sz="2000" dirty="0">
                <a:solidFill>
                  <a:schemeClr val="accent4"/>
                </a:solidFill>
              </a:rPr>
              <a:t>Review 3  |  Final Demonstration  |  Week 16</a:t>
            </a:r>
            <a:endParaRPr lang="en-US" sz="2000" dirty="0"/>
          </a:p>
        </p:txBody>
      </p:sp>
      <p:sp>
        <p:nvSpPr>
          <p:cNvPr id="5" name="Text 3"/>
          <p:cNvSpPr txBox="1"/>
          <p:nvPr/>
        </p:nvSpPr>
        <p:spPr>
          <a:xfrm>
            <a:off x="640080" y="5029200"/>
            <a:ext cx="6583680" cy="320040"/>
          </a:xfrm>
          <a:prstGeom prst="rect">
            <a:avLst/>
          </a:prstGeom>
          <a:noFill/>
          <a:ln/>
        </p:spPr>
        <p:txBody>
          <a:bodyPr wrap="square" lIns="0" tIns="0" rIns="0" bIns="0" rtlCol="0" anchor="t"/>
          <a:lstStyle/>
          <a:p>
            <a:pPr indent="0" marL="0">
              <a:buNone/>
            </a:pPr>
            <a:r>
              <a:rPr lang="en-US" sz="1400" dirty="0">
                <a:solidFill>
                  <a:schemeClr val="accent6"/>
                </a:solidFill>
              </a:rPr>
              <a:t>Presented by: [Team member names and roll numbers]</a:t>
            </a:r>
            <a:endParaRPr lang="en-US" sz="1400" dirty="0"/>
          </a:p>
        </p:txBody>
      </p:sp>
      <p:sp>
        <p:nvSpPr>
          <p:cNvPr id="6" name="Text 4"/>
          <p:cNvSpPr txBox="1"/>
          <p:nvPr/>
        </p:nvSpPr>
        <p:spPr>
          <a:xfrm>
            <a:off x="640080" y="5394960"/>
            <a:ext cx="6583680" cy="320040"/>
          </a:xfrm>
          <a:prstGeom prst="rect">
            <a:avLst/>
          </a:prstGeom>
          <a:noFill/>
          <a:ln/>
        </p:spPr>
        <p:txBody>
          <a:bodyPr wrap="square" lIns="0" tIns="0" rIns="0" bIns="0" rtlCol="0" anchor="t"/>
          <a:lstStyle/>
          <a:p>
            <a:pPr indent="0" marL="0">
              <a:buNone/>
            </a:pPr>
            <a:r>
              <a:rPr lang="en-US" sz="1400" dirty="0">
                <a:solidFill>
                  <a:schemeClr val="accent6"/>
                </a:solidFill>
              </a:rPr>
              <a:t>Guide: [Faculty name]  |  Department of [Name]</a:t>
            </a:r>
            <a:endParaRPr lang="en-US" sz="1400" dirty="0"/>
          </a:p>
        </p:txBody>
      </p:sp>
      <p:sp>
        <p:nvSpPr>
          <p:cNvPr id="7" name="roster cell 0-0"/>
          <p:cNvSpPr/>
          <p:nvPr/>
        </p:nvSpPr>
        <p:spPr>
          <a:xfrm>
            <a:off x="7818120" y="1417320"/>
            <a:ext cx="475488" cy="475488"/>
          </a:xfrm>
          <a:prstGeom prst="roundRect">
            <a:avLst>
              <a:gd name="adj" fmla="val 11538"/>
            </a:avLst>
          </a:prstGeom>
          <a:solidFill>
            <a:schemeClr val="accent1"/>
          </a:solidFill>
          <a:ln/>
        </p:spPr>
      </p:sp>
      <p:sp>
        <p:nvSpPr>
          <p:cNvPr id="8" name="roster cell 0-1"/>
          <p:cNvSpPr/>
          <p:nvPr/>
        </p:nvSpPr>
        <p:spPr>
          <a:xfrm>
            <a:off x="8385048" y="1417320"/>
            <a:ext cx="475488" cy="475488"/>
          </a:xfrm>
          <a:prstGeom prst="roundRect">
            <a:avLst>
              <a:gd name="adj" fmla="val 11538"/>
            </a:avLst>
          </a:prstGeom>
          <a:solidFill>
            <a:schemeClr val="accent1"/>
          </a:solidFill>
          <a:ln/>
        </p:spPr>
      </p:sp>
      <p:sp>
        <p:nvSpPr>
          <p:cNvPr id="9" name="roster cell 0-2"/>
          <p:cNvSpPr/>
          <p:nvPr/>
        </p:nvSpPr>
        <p:spPr>
          <a:xfrm>
            <a:off x="8951976" y="1417320"/>
            <a:ext cx="475488" cy="475488"/>
          </a:xfrm>
          <a:prstGeom prst="roundRect">
            <a:avLst>
              <a:gd name="adj" fmla="val 11538"/>
            </a:avLst>
          </a:prstGeom>
          <a:solidFill>
            <a:schemeClr val="accent1"/>
          </a:solidFill>
          <a:ln/>
        </p:spPr>
      </p:sp>
      <p:sp>
        <p:nvSpPr>
          <p:cNvPr id="10" name="roster cell 0-3"/>
          <p:cNvSpPr/>
          <p:nvPr/>
        </p:nvSpPr>
        <p:spPr>
          <a:xfrm>
            <a:off x="9518904" y="1417320"/>
            <a:ext cx="475488" cy="475488"/>
          </a:xfrm>
          <a:prstGeom prst="roundRect">
            <a:avLst>
              <a:gd name="adj" fmla="val 11538"/>
            </a:avLst>
          </a:prstGeom>
          <a:solidFill>
            <a:schemeClr val="accent1"/>
          </a:solidFill>
          <a:ln/>
        </p:spPr>
      </p:sp>
      <p:sp>
        <p:nvSpPr>
          <p:cNvPr id="11" name="roster cell 0-4"/>
          <p:cNvSpPr/>
          <p:nvPr/>
        </p:nvSpPr>
        <p:spPr>
          <a:xfrm>
            <a:off x="10085832" y="1417320"/>
            <a:ext cx="475488" cy="475488"/>
          </a:xfrm>
          <a:prstGeom prst="roundRect">
            <a:avLst>
              <a:gd name="adj" fmla="val 11538"/>
            </a:avLst>
          </a:prstGeom>
          <a:solidFill>
            <a:schemeClr val="accent1"/>
          </a:solidFill>
          <a:ln/>
        </p:spPr>
      </p:sp>
      <p:sp>
        <p:nvSpPr>
          <p:cNvPr id="12" name="roster cell 0-5"/>
          <p:cNvSpPr/>
          <p:nvPr/>
        </p:nvSpPr>
        <p:spPr>
          <a:xfrm>
            <a:off x="10652760" y="1417320"/>
            <a:ext cx="475488" cy="475488"/>
          </a:xfrm>
          <a:prstGeom prst="roundRect">
            <a:avLst>
              <a:gd name="adj" fmla="val 11538"/>
            </a:avLst>
          </a:prstGeom>
          <a:solidFill>
            <a:schemeClr val="accent3">
              <a:alpha val="35000"/>
            </a:schemeClr>
          </a:solidFill>
          <a:ln/>
        </p:spPr>
      </p:sp>
      <p:sp>
        <p:nvSpPr>
          <p:cNvPr id="13" name="roster cell 0-6"/>
          <p:cNvSpPr/>
          <p:nvPr/>
        </p:nvSpPr>
        <p:spPr>
          <a:xfrm>
            <a:off x="11219688" y="1417320"/>
            <a:ext cx="475488" cy="475488"/>
          </a:xfrm>
          <a:prstGeom prst="roundRect">
            <a:avLst>
              <a:gd name="adj" fmla="val 11538"/>
            </a:avLst>
          </a:prstGeom>
          <a:solidFill>
            <a:schemeClr val="accent3">
              <a:alpha val="35000"/>
            </a:schemeClr>
          </a:solidFill>
          <a:ln/>
        </p:spPr>
      </p:sp>
      <p:sp>
        <p:nvSpPr>
          <p:cNvPr id="14" name="roster cell 1-0"/>
          <p:cNvSpPr/>
          <p:nvPr/>
        </p:nvSpPr>
        <p:spPr>
          <a:xfrm>
            <a:off x="7818120" y="1984248"/>
            <a:ext cx="475488" cy="475488"/>
          </a:xfrm>
          <a:prstGeom prst="roundRect">
            <a:avLst>
              <a:gd name="adj" fmla="val 11538"/>
            </a:avLst>
          </a:prstGeom>
          <a:solidFill>
            <a:schemeClr val="accent2"/>
          </a:solidFill>
          <a:ln/>
        </p:spPr>
      </p:sp>
      <p:sp>
        <p:nvSpPr>
          <p:cNvPr id="15" name="roster cell 1-1"/>
          <p:cNvSpPr/>
          <p:nvPr/>
        </p:nvSpPr>
        <p:spPr>
          <a:xfrm>
            <a:off x="8385048" y="1984248"/>
            <a:ext cx="475488" cy="475488"/>
          </a:xfrm>
          <a:prstGeom prst="roundRect">
            <a:avLst>
              <a:gd name="adj" fmla="val 11538"/>
            </a:avLst>
          </a:prstGeom>
          <a:solidFill>
            <a:schemeClr val="accent2"/>
          </a:solidFill>
          <a:ln/>
        </p:spPr>
      </p:sp>
      <p:sp>
        <p:nvSpPr>
          <p:cNvPr id="16" name="roster cell 1-2"/>
          <p:cNvSpPr/>
          <p:nvPr/>
        </p:nvSpPr>
        <p:spPr>
          <a:xfrm>
            <a:off x="8951976" y="1984248"/>
            <a:ext cx="475488" cy="475488"/>
          </a:xfrm>
          <a:prstGeom prst="roundRect">
            <a:avLst>
              <a:gd name="adj" fmla="val 11538"/>
            </a:avLst>
          </a:prstGeom>
          <a:solidFill>
            <a:schemeClr val="accent2"/>
          </a:solidFill>
          <a:ln/>
        </p:spPr>
      </p:sp>
      <p:sp>
        <p:nvSpPr>
          <p:cNvPr id="17" name="roster cell 1-3"/>
          <p:cNvSpPr/>
          <p:nvPr/>
        </p:nvSpPr>
        <p:spPr>
          <a:xfrm>
            <a:off x="9518904" y="1984248"/>
            <a:ext cx="475488" cy="475488"/>
          </a:xfrm>
          <a:prstGeom prst="roundRect">
            <a:avLst>
              <a:gd name="adj" fmla="val 11538"/>
            </a:avLst>
          </a:prstGeom>
          <a:solidFill>
            <a:schemeClr val="accent2"/>
          </a:solidFill>
          <a:ln/>
        </p:spPr>
      </p:sp>
      <p:sp>
        <p:nvSpPr>
          <p:cNvPr id="18" name="roster cell 1-4"/>
          <p:cNvSpPr/>
          <p:nvPr/>
        </p:nvSpPr>
        <p:spPr>
          <a:xfrm>
            <a:off x="10085832" y="1984248"/>
            <a:ext cx="475488" cy="475488"/>
          </a:xfrm>
          <a:prstGeom prst="roundRect">
            <a:avLst>
              <a:gd name="adj" fmla="val 11538"/>
            </a:avLst>
          </a:prstGeom>
          <a:solidFill>
            <a:schemeClr val="accent2"/>
          </a:solidFill>
          <a:ln/>
        </p:spPr>
      </p:sp>
      <p:sp>
        <p:nvSpPr>
          <p:cNvPr id="19" name="roster cell 1-5"/>
          <p:cNvSpPr/>
          <p:nvPr/>
        </p:nvSpPr>
        <p:spPr>
          <a:xfrm>
            <a:off x="10652760" y="1984248"/>
            <a:ext cx="475488" cy="475488"/>
          </a:xfrm>
          <a:prstGeom prst="roundRect">
            <a:avLst>
              <a:gd name="adj" fmla="val 11538"/>
            </a:avLst>
          </a:prstGeom>
          <a:solidFill>
            <a:schemeClr val="accent3">
              <a:alpha val="35000"/>
            </a:schemeClr>
          </a:solidFill>
          <a:ln/>
        </p:spPr>
      </p:sp>
      <p:sp>
        <p:nvSpPr>
          <p:cNvPr id="20" name="roster cell 1-6"/>
          <p:cNvSpPr/>
          <p:nvPr/>
        </p:nvSpPr>
        <p:spPr>
          <a:xfrm>
            <a:off x="11219688" y="1984248"/>
            <a:ext cx="475488" cy="475488"/>
          </a:xfrm>
          <a:prstGeom prst="roundRect">
            <a:avLst>
              <a:gd name="adj" fmla="val 11538"/>
            </a:avLst>
          </a:prstGeom>
          <a:solidFill>
            <a:schemeClr val="accent3">
              <a:alpha val="35000"/>
            </a:schemeClr>
          </a:solidFill>
          <a:ln/>
        </p:spPr>
      </p:sp>
      <p:sp>
        <p:nvSpPr>
          <p:cNvPr id="21" name="roster cell 2-0"/>
          <p:cNvSpPr/>
          <p:nvPr/>
        </p:nvSpPr>
        <p:spPr>
          <a:xfrm>
            <a:off x="7818120" y="2551176"/>
            <a:ext cx="475488" cy="475488"/>
          </a:xfrm>
          <a:prstGeom prst="roundRect">
            <a:avLst>
              <a:gd name="adj" fmla="val 11538"/>
            </a:avLst>
          </a:prstGeom>
          <a:solidFill>
            <a:schemeClr val="accent4"/>
          </a:solidFill>
          <a:ln/>
        </p:spPr>
      </p:sp>
      <p:sp>
        <p:nvSpPr>
          <p:cNvPr id="22" name="roster cell 2-1"/>
          <p:cNvSpPr/>
          <p:nvPr/>
        </p:nvSpPr>
        <p:spPr>
          <a:xfrm>
            <a:off x="8385048" y="2551176"/>
            <a:ext cx="475488" cy="475488"/>
          </a:xfrm>
          <a:prstGeom prst="roundRect">
            <a:avLst>
              <a:gd name="adj" fmla="val 11538"/>
            </a:avLst>
          </a:prstGeom>
          <a:solidFill>
            <a:schemeClr val="accent4"/>
          </a:solidFill>
          <a:ln/>
        </p:spPr>
      </p:sp>
      <p:sp>
        <p:nvSpPr>
          <p:cNvPr id="23" name="roster cell 2-2"/>
          <p:cNvSpPr/>
          <p:nvPr/>
        </p:nvSpPr>
        <p:spPr>
          <a:xfrm>
            <a:off x="8951976" y="2551176"/>
            <a:ext cx="475488" cy="475488"/>
          </a:xfrm>
          <a:prstGeom prst="roundRect">
            <a:avLst>
              <a:gd name="adj" fmla="val 11538"/>
            </a:avLst>
          </a:prstGeom>
          <a:solidFill>
            <a:schemeClr val="accent4"/>
          </a:solidFill>
          <a:ln/>
        </p:spPr>
      </p:sp>
      <p:sp>
        <p:nvSpPr>
          <p:cNvPr id="24" name="roster cell 2-3"/>
          <p:cNvSpPr/>
          <p:nvPr/>
        </p:nvSpPr>
        <p:spPr>
          <a:xfrm>
            <a:off x="9518904" y="2551176"/>
            <a:ext cx="475488" cy="475488"/>
          </a:xfrm>
          <a:prstGeom prst="roundRect">
            <a:avLst>
              <a:gd name="adj" fmla="val 11538"/>
            </a:avLst>
          </a:prstGeom>
          <a:solidFill>
            <a:schemeClr val="accent3">
              <a:alpha val="35000"/>
            </a:schemeClr>
          </a:solidFill>
          <a:ln/>
        </p:spPr>
      </p:sp>
      <p:sp>
        <p:nvSpPr>
          <p:cNvPr id="25" name="roster cell 2-4"/>
          <p:cNvSpPr/>
          <p:nvPr/>
        </p:nvSpPr>
        <p:spPr>
          <a:xfrm>
            <a:off x="10085832" y="2551176"/>
            <a:ext cx="475488" cy="475488"/>
          </a:xfrm>
          <a:prstGeom prst="roundRect">
            <a:avLst>
              <a:gd name="adj" fmla="val 11538"/>
            </a:avLst>
          </a:prstGeom>
          <a:solidFill>
            <a:schemeClr val="accent3">
              <a:alpha val="35000"/>
            </a:schemeClr>
          </a:solidFill>
          <a:ln/>
        </p:spPr>
      </p:sp>
      <p:sp>
        <p:nvSpPr>
          <p:cNvPr id="26" name="roster cell 2-5"/>
          <p:cNvSpPr/>
          <p:nvPr/>
        </p:nvSpPr>
        <p:spPr>
          <a:xfrm>
            <a:off x="10652760" y="2551176"/>
            <a:ext cx="475488" cy="475488"/>
          </a:xfrm>
          <a:prstGeom prst="roundRect">
            <a:avLst>
              <a:gd name="adj" fmla="val 11538"/>
            </a:avLst>
          </a:prstGeom>
          <a:solidFill>
            <a:schemeClr val="accent1"/>
          </a:solidFill>
          <a:ln/>
        </p:spPr>
      </p:sp>
      <p:sp>
        <p:nvSpPr>
          <p:cNvPr id="27" name="roster cell 2-6"/>
          <p:cNvSpPr/>
          <p:nvPr/>
        </p:nvSpPr>
        <p:spPr>
          <a:xfrm>
            <a:off x="11219688" y="2551176"/>
            <a:ext cx="475488" cy="475488"/>
          </a:xfrm>
          <a:prstGeom prst="roundRect">
            <a:avLst>
              <a:gd name="adj" fmla="val 11538"/>
            </a:avLst>
          </a:prstGeom>
          <a:solidFill>
            <a:schemeClr val="accent1"/>
          </a:solidFill>
          <a:ln/>
        </p:spPr>
      </p:sp>
      <p:sp>
        <p:nvSpPr>
          <p:cNvPr id="28" name="roster cell 3-0"/>
          <p:cNvSpPr/>
          <p:nvPr/>
        </p:nvSpPr>
        <p:spPr>
          <a:xfrm>
            <a:off x="7818120" y="3118104"/>
            <a:ext cx="475488" cy="475488"/>
          </a:xfrm>
          <a:prstGeom prst="roundRect">
            <a:avLst>
              <a:gd name="adj" fmla="val 11538"/>
            </a:avLst>
          </a:prstGeom>
          <a:solidFill>
            <a:schemeClr val="accent3">
              <a:alpha val="35000"/>
            </a:schemeClr>
          </a:solidFill>
          <a:ln/>
        </p:spPr>
      </p:sp>
      <p:sp>
        <p:nvSpPr>
          <p:cNvPr id="29" name="roster cell 3-1"/>
          <p:cNvSpPr/>
          <p:nvPr/>
        </p:nvSpPr>
        <p:spPr>
          <a:xfrm>
            <a:off x="8385048" y="3118104"/>
            <a:ext cx="475488" cy="475488"/>
          </a:xfrm>
          <a:prstGeom prst="roundRect">
            <a:avLst>
              <a:gd name="adj" fmla="val 11538"/>
            </a:avLst>
          </a:prstGeom>
          <a:solidFill>
            <a:schemeClr val="accent1"/>
          </a:solidFill>
          <a:ln/>
        </p:spPr>
      </p:sp>
      <p:sp>
        <p:nvSpPr>
          <p:cNvPr id="30" name="roster cell 3-2"/>
          <p:cNvSpPr/>
          <p:nvPr/>
        </p:nvSpPr>
        <p:spPr>
          <a:xfrm>
            <a:off x="8951976" y="3118104"/>
            <a:ext cx="475488" cy="475488"/>
          </a:xfrm>
          <a:prstGeom prst="roundRect">
            <a:avLst>
              <a:gd name="adj" fmla="val 11538"/>
            </a:avLst>
          </a:prstGeom>
          <a:solidFill>
            <a:schemeClr val="accent1"/>
          </a:solidFill>
          <a:ln/>
        </p:spPr>
      </p:sp>
      <p:sp>
        <p:nvSpPr>
          <p:cNvPr id="31" name="roster cell 3-3"/>
          <p:cNvSpPr/>
          <p:nvPr/>
        </p:nvSpPr>
        <p:spPr>
          <a:xfrm>
            <a:off x="9518904" y="3118104"/>
            <a:ext cx="475488" cy="475488"/>
          </a:xfrm>
          <a:prstGeom prst="roundRect">
            <a:avLst>
              <a:gd name="adj" fmla="val 11538"/>
            </a:avLst>
          </a:prstGeom>
          <a:solidFill>
            <a:schemeClr val="accent1"/>
          </a:solidFill>
          <a:ln/>
        </p:spPr>
      </p:sp>
      <p:sp>
        <p:nvSpPr>
          <p:cNvPr id="32" name="roster cell 3-4"/>
          <p:cNvSpPr/>
          <p:nvPr/>
        </p:nvSpPr>
        <p:spPr>
          <a:xfrm>
            <a:off x="10085832" y="3118104"/>
            <a:ext cx="475488" cy="475488"/>
          </a:xfrm>
          <a:prstGeom prst="roundRect">
            <a:avLst>
              <a:gd name="adj" fmla="val 11538"/>
            </a:avLst>
          </a:prstGeom>
          <a:solidFill>
            <a:schemeClr val="accent1"/>
          </a:solidFill>
          <a:ln/>
        </p:spPr>
      </p:sp>
      <p:sp>
        <p:nvSpPr>
          <p:cNvPr id="33" name="roster cell 3-5"/>
          <p:cNvSpPr/>
          <p:nvPr/>
        </p:nvSpPr>
        <p:spPr>
          <a:xfrm>
            <a:off x="10652760" y="3118104"/>
            <a:ext cx="475488" cy="475488"/>
          </a:xfrm>
          <a:prstGeom prst="roundRect">
            <a:avLst>
              <a:gd name="adj" fmla="val 11538"/>
            </a:avLst>
          </a:prstGeom>
          <a:solidFill>
            <a:schemeClr val="accent1"/>
          </a:solidFill>
          <a:ln/>
        </p:spPr>
      </p:sp>
      <p:sp>
        <p:nvSpPr>
          <p:cNvPr id="34" name="roster cell 3-6"/>
          <p:cNvSpPr/>
          <p:nvPr/>
        </p:nvSpPr>
        <p:spPr>
          <a:xfrm>
            <a:off x="11219688" y="3118104"/>
            <a:ext cx="475488" cy="475488"/>
          </a:xfrm>
          <a:prstGeom prst="roundRect">
            <a:avLst>
              <a:gd name="adj" fmla="val 11538"/>
            </a:avLst>
          </a:prstGeom>
          <a:solidFill>
            <a:schemeClr val="accent3">
              <a:alpha val="35000"/>
            </a:schemeClr>
          </a:solidFill>
          <a:ln/>
        </p:spPr>
      </p:sp>
      <p:sp>
        <p:nvSpPr>
          <p:cNvPr id="35" name="roster cell 4-0"/>
          <p:cNvSpPr/>
          <p:nvPr/>
        </p:nvSpPr>
        <p:spPr>
          <a:xfrm>
            <a:off x="7818120" y="3685032"/>
            <a:ext cx="475488" cy="475488"/>
          </a:xfrm>
          <a:prstGeom prst="roundRect">
            <a:avLst>
              <a:gd name="adj" fmla="val 11538"/>
            </a:avLst>
          </a:prstGeom>
          <a:solidFill>
            <a:schemeClr val="accent2"/>
          </a:solidFill>
          <a:ln/>
        </p:spPr>
      </p:sp>
      <p:sp>
        <p:nvSpPr>
          <p:cNvPr id="36" name="roster cell 4-1"/>
          <p:cNvSpPr/>
          <p:nvPr/>
        </p:nvSpPr>
        <p:spPr>
          <a:xfrm>
            <a:off x="8385048" y="3685032"/>
            <a:ext cx="475488" cy="475488"/>
          </a:xfrm>
          <a:prstGeom prst="roundRect">
            <a:avLst>
              <a:gd name="adj" fmla="val 11538"/>
            </a:avLst>
          </a:prstGeom>
          <a:solidFill>
            <a:schemeClr val="accent2"/>
          </a:solidFill>
          <a:ln/>
        </p:spPr>
      </p:sp>
      <p:sp>
        <p:nvSpPr>
          <p:cNvPr id="37" name="roster cell 4-2"/>
          <p:cNvSpPr/>
          <p:nvPr/>
        </p:nvSpPr>
        <p:spPr>
          <a:xfrm>
            <a:off x="8951976" y="3685032"/>
            <a:ext cx="475488" cy="475488"/>
          </a:xfrm>
          <a:prstGeom prst="roundRect">
            <a:avLst>
              <a:gd name="adj" fmla="val 11538"/>
            </a:avLst>
          </a:prstGeom>
          <a:solidFill>
            <a:schemeClr val="accent3">
              <a:alpha val="35000"/>
            </a:schemeClr>
          </a:solidFill>
          <a:ln/>
        </p:spPr>
      </p:sp>
      <p:sp>
        <p:nvSpPr>
          <p:cNvPr id="38" name="roster cell 4-3"/>
          <p:cNvSpPr/>
          <p:nvPr/>
        </p:nvSpPr>
        <p:spPr>
          <a:xfrm>
            <a:off x="9518904" y="3685032"/>
            <a:ext cx="475488" cy="475488"/>
          </a:xfrm>
          <a:prstGeom prst="roundRect">
            <a:avLst>
              <a:gd name="adj" fmla="val 11538"/>
            </a:avLst>
          </a:prstGeom>
          <a:solidFill>
            <a:schemeClr val="accent3">
              <a:alpha val="35000"/>
            </a:schemeClr>
          </a:solidFill>
          <a:ln/>
        </p:spPr>
      </p:sp>
      <p:sp>
        <p:nvSpPr>
          <p:cNvPr id="39" name="roster cell 4-4"/>
          <p:cNvSpPr/>
          <p:nvPr/>
        </p:nvSpPr>
        <p:spPr>
          <a:xfrm>
            <a:off x="10085832" y="3685032"/>
            <a:ext cx="475488" cy="475488"/>
          </a:xfrm>
          <a:prstGeom prst="roundRect">
            <a:avLst>
              <a:gd name="adj" fmla="val 11538"/>
            </a:avLst>
          </a:prstGeom>
          <a:solidFill>
            <a:schemeClr val="accent2"/>
          </a:solidFill>
          <a:ln/>
        </p:spPr>
      </p:sp>
      <p:sp>
        <p:nvSpPr>
          <p:cNvPr id="40" name="roster cell 4-5"/>
          <p:cNvSpPr/>
          <p:nvPr/>
        </p:nvSpPr>
        <p:spPr>
          <a:xfrm>
            <a:off x="10652760" y="3685032"/>
            <a:ext cx="475488" cy="475488"/>
          </a:xfrm>
          <a:prstGeom prst="roundRect">
            <a:avLst>
              <a:gd name="adj" fmla="val 11538"/>
            </a:avLst>
          </a:prstGeom>
          <a:solidFill>
            <a:schemeClr val="accent2"/>
          </a:solidFill>
          <a:ln/>
        </p:spPr>
      </p:sp>
      <p:sp>
        <p:nvSpPr>
          <p:cNvPr id="41" name="roster cell 4-6"/>
          <p:cNvSpPr/>
          <p:nvPr/>
        </p:nvSpPr>
        <p:spPr>
          <a:xfrm>
            <a:off x="11219688" y="3685032"/>
            <a:ext cx="475488" cy="475488"/>
          </a:xfrm>
          <a:prstGeom prst="roundRect">
            <a:avLst>
              <a:gd name="adj" fmla="val 11538"/>
            </a:avLst>
          </a:prstGeom>
          <a:solidFill>
            <a:schemeClr val="accent2"/>
          </a:solidFill>
          <a:ln/>
        </p:spPr>
      </p:sp>
      <p:sp>
        <p:nvSpPr>
          <p:cNvPr id="42" name="roster cell 5-0"/>
          <p:cNvSpPr/>
          <p:nvPr/>
        </p:nvSpPr>
        <p:spPr>
          <a:xfrm>
            <a:off x="7818120" y="4251960"/>
            <a:ext cx="475488" cy="475488"/>
          </a:xfrm>
          <a:prstGeom prst="roundRect">
            <a:avLst>
              <a:gd name="adj" fmla="val 11538"/>
            </a:avLst>
          </a:prstGeom>
          <a:solidFill>
            <a:schemeClr val="accent1"/>
          </a:solidFill>
          <a:ln/>
        </p:spPr>
      </p:sp>
      <p:sp>
        <p:nvSpPr>
          <p:cNvPr id="43" name="roster cell 5-1"/>
          <p:cNvSpPr/>
          <p:nvPr/>
        </p:nvSpPr>
        <p:spPr>
          <a:xfrm>
            <a:off x="8385048" y="4251960"/>
            <a:ext cx="475488" cy="475488"/>
          </a:xfrm>
          <a:prstGeom prst="roundRect">
            <a:avLst>
              <a:gd name="adj" fmla="val 11538"/>
            </a:avLst>
          </a:prstGeom>
          <a:solidFill>
            <a:schemeClr val="accent4"/>
          </a:solidFill>
          <a:ln/>
        </p:spPr>
      </p:sp>
      <p:sp>
        <p:nvSpPr>
          <p:cNvPr id="44" name="roster cell 5-2"/>
          <p:cNvSpPr/>
          <p:nvPr/>
        </p:nvSpPr>
        <p:spPr>
          <a:xfrm>
            <a:off x="8951976" y="4251960"/>
            <a:ext cx="475488" cy="475488"/>
          </a:xfrm>
          <a:prstGeom prst="roundRect">
            <a:avLst>
              <a:gd name="adj" fmla="val 11538"/>
            </a:avLst>
          </a:prstGeom>
          <a:solidFill>
            <a:schemeClr val="accent4"/>
          </a:solidFill>
          <a:ln/>
        </p:spPr>
      </p:sp>
      <p:sp>
        <p:nvSpPr>
          <p:cNvPr id="45" name="roster cell 5-3"/>
          <p:cNvSpPr/>
          <p:nvPr/>
        </p:nvSpPr>
        <p:spPr>
          <a:xfrm>
            <a:off x="9518904" y="4251960"/>
            <a:ext cx="475488" cy="475488"/>
          </a:xfrm>
          <a:prstGeom prst="roundRect">
            <a:avLst>
              <a:gd name="adj" fmla="val 11538"/>
            </a:avLst>
          </a:prstGeom>
          <a:solidFill>
            <a:schemeClr val="accent4"/>
          </a:solidFill>
          <a:ln/>
        </p:spPr>
      </p:sp>
      <p:sp>
        <p:nvSpPr>
          <p:cNvPr id="46" name="roster cell 5-4"/>
          <p:cNvSpPr/>
          <p:nvPr/>
        </p:nvSpPr>
        <p:spPr>
          <a:xfrm>
            <a:off x="10085832" y="4251960"/>
            <a:ext cx="475488" cy="475488"/>
          </a:xfrm>
          <a:prstGeom prst="roundRect">
            <a:avLst>
              <a:gd name="adj" fmla="val 11538"/>
            </a:avLst>
          </a:prstGeom>
          <a:solidFill>
            <a:schemeClr val="accent4"/>
          </a:solidFill>
          <a:ln/>
        </p:spPr>
      </p:sp>
      <p:sp>
        <p:nvSpPr>
          <p:cNvPr id="47" name="roster cell 5-5"/>
          <p:cNvSpPr/>
          <p:nvPr/>
        </p:nvSpPr>
        <p:spPr>
          <a:xfrm>
            <a:off x="10652760" y="4251960"/>
            <a:ext cx="475488" cy="475488"/>
          </a:xfrm>
          <a:prstGeom prst="roundRect">
            <a:avLst>
              <a:gd name="adj" fmla="val 11538"/>
            </a:avLst>
          </a:prstGeom>
          <a:solidFill>
            <a:schemeClr val="accent3">
              <a:alpha val="35000"/>
            </a:schemeClr>
          </a:solidFill>
          <a:ln/>
        </p:spPr>
      </p:sp>
      <p:sp>
        <p:nvSpPr>
          <p:cNvPr id="48" name="roster cell 5-6"/>
          <p:cNvSpPr/>
          <p:nvPr/>
        </p:nvSpPr>
        <p:spPr>
          <a:xfrm>
            <a:off x="11219688" y="4251960"/>
            <a:ext cx="475488" cy="475488"/>
          </a:xfrm>
          <a:prstGeom prst="roundRect">
            <a:avLst>
              <a:gd name="adj" fmla="val 11538"/>
            </a:avLst>
          </a:prstGeom>
          <a:solidFill>
            <a:schemeClr val="accent3">
              <a:alpha val="35000"/>
            </a:schemeClr>
          </a:solidFill>
          <a:ln/>
        </p:spPr>
      </p:sp>
      <p:sp>
        <p:nvSpPr>
          <p:cNvPr id="49" name="legend Morning"/>
          <p:cNvSpPr/>
          <p:nvPr/>
        </p:nvSpPr>
        <p:spPr>
          <a:xfrm>
            <a:off x="7818120" y="4974336"/>
            <a:ext cx="182880" cy="182880"/>
          </a:xfrm>
          <a:prstGeom prst="roundRect">
            <a:avLst>
              <a:gd name="adj" fmla="val 20000"/>
            </a:avLst>
          </a:prstGeom>
          <a:solidFill>
            <a:schemeClr val="accent1"/>
          </a:solidFill>
          <a:ln/>
        </p:spPr>
      </p:sp>
      <p:sp>
        <p:nvSpPr>
          <p:cNvPr id="50" name="Text 48"/>
          <p:cNvSpPr txBox="1"/>
          <p:nvPr/>
        </p:nvSpPr>
        <p:spPr>
          <a:xfrm>
            <a:off x="8065008" y="4937760"/>
            <a:ext cx="731520" cy="274320"/>
          </a:xfrm>
          <a:prstGeom prst="rect">
            <a:avLst/>
          </a:prstGeom>
          <a:noFill/>
          <a:ln/>
        </p:spPr>
        <p:txBody>
          <a:bodyPr wrap="square" lIns="0" tIns="0" rIns="0" bIns="0" rtlCol="0" anchor="t"/>
          <a:lstStyle/>
          <a:p>
            <a:pPr indent="0" marL="0">
              <a:buNone/>
            </a:pPr>
            <a:r>
              <a:rPr lang="en-US" sz="1200" dirty="0">
                <a:solidFill>
                  <a:schemeClr val="accent6"/>
                </a:solidFill>
              </a:rPr>
              <a:t>Morning</a:t>
            </a:r>
            <a:endParaRPr lang="en-US" sz="1200" dirty="0"/>
          </a:p>
        </p:txBody>
      </p:sp>
      <p:sp>
        <p:nvSpPr>
          <p:cNvPr id="51" name="legend Evening"/>
          <p:cNvSpPr/>
          <p:nvPr/>
        </p:nvSpPr>
        <p:spPr>
          <a:xfrm>
            <a:off x="8805672" y="4974336"/>
            <a:ext cx="182880" cy="182880"/>
          </a:xfrm>
          <a:prstGeom prst="roundRect">
            <a:avLst>
              <a:gd name="adj" fmla="val 20000"/>
            </a:avLst>
          </a:prstGeom>
          <a:solidFill>
            <a:schemeClr val="accent2"/>
          </a:solidFill>
          <a:ln/>
        </p:spPr>
      </p:sp>
      <p:sp>
        <p:nvSpPr>
          <p:cNvPr id="52" name="Text 50"/>
          <p:cNvSpPr txBox="1"/>
          <p:nvPr/>
        </p:nvSpPr>
        <p:spPr>
          <a:xfrm>
            <a:off x="9052560" y="4937760"/>
            <a:ext cx="731520" cy="274320"/>
          </a:xfrm>
          <a:prstGeom prst="rect">
            <a:avLst/>
          </a:prstGeom>
          <a:noFill/>
          <a:ln/>
        </p:spPr>
        <p:txBody>
          <a:bodyPr wrap="square" lIns="0" tIns="0" rIns="0" bIns="0" rtlCol="0" anchor="t"/>
          <a:lstStyle/>
          <a:p>
            <a:pPr indent="0" marL="0">
              <a:buNone/>
            </a:pPr>
            <a:r>
              <a:rPr lang="en-US" sz="1200" dirty="0">
                <a:solidFill>
                  <a:schemeClr val="accent6"/>
                </a:solidFill>
              </a:rPr>
              <a:t>Evening</a:t>
            </a:r>
            <a:endParaRPr lang="en-US" sz="1200" dirty="0"/>
          </a:p>
        </p:txBody>
      </p:sp>
      <p:sp>
        <p:nvSpPr>
          <p:cNvPr id="53" name="legend Night"/>
          <p:cNvSpPr/>
          <p:nvPr/>
        </p:nvSpPr>
        <p:spPr>
          <a:xfrm>
            <a:off x="9793224" y="4974336"/>
            <a:ext cx="182880" cy="182880"/>
          </a:xfrm>
          <a:prstGeom prst="roundRect">
            <a:avLst>
              <a:gd name="adj" fmla="val 20000"/>
            </a:avLst>
          </a:prstGeom>
          <a:solidFill>
            <a:schemeClr val="accent4"/>
          </a:solidFill>
          <a:ln/>
        </p:spPr>
      </p:sp>
      <p:sp>
        <p:nvSpPr>
          <p:cNvPr id="54" name="Text 52"/>
          <p:cNvSpPr txBox="1"/>
          <p:nvPr/>
        </p:nvSpPr>
        <p:spPr>
          <a:xfrm>
            <a:off x="10040112" y="4937760"/>
            <a:ext cx="731520" cy="274320"/>
          </a:xfrm>
          <a:prstGeom prst="rect">
            <a:avLst/>
          </a:prstGeom>
          <a:noFill/>
          <a:ln/>
        </p:spPr>
        <p:txBody>
          <a:bodyPr wrap="square" lIns="0" tIns="0" rIns="0" bIns="0" rtlCol="0" anchor="t"/>
          <a:lstStyle/>
          <a:p>
            <a:pPr indent="0" marL="0">
              <a:buNone/>
            </a:pPr>
            <a:r>
              <a:rPr lang="en-US" sz="1200" dirty="0">
                <a:solidFill>
                  <a:schemeClr val="accent6"/>
                </a:solidFill>
              </a:rPr>
              <a:t>Night</a:t>
            </a:r>
            <a:endParaRPr lang="en-US" sz="1200" dirty="0"/>
          </a:p>
        </p:txBody>
      </p:sp>
      <p:sp>
        <p:nvSpPr>
          <p:cNvPr id="55" name="legend Off"/>
          <p:cNvSpPr/>
          <p:nvPr/>
        </p:nvSpPr>
        <p:spPr>
          <a:xfrm>
            <a:off x="10780776" y="4974336"/>
            <a:ext cx="182880" cy="182880"/>
          </a:xfrm>
          <a:prstGeom prst="roundRect">
            <a:avLst>
              <a:gd name="adj" fmla="val 20000"/>
            </a:avLst>
          </a:prstGeom>
          <a:solidFill>
            <a:schemeClr val="accent3">
              <a:alpha val="35000"/>
            </a:schemeClr>
          </a:solidFill>
          <a:ln/>
        </p:spPr>
      </p:sp>
      <p:sp>
        <p:nvSpPr>
          <p:cNvPr id="56" name="Text 54"/>
          <p:cNvSpPr txBox="1"/>
          <p:nvPr/>
        </p:nvSpPr>
        <p:spPr>
          <a:xfrm>
            <a:off x="11027664" y="4937760"/>
            <a:ext cx="731520" cy="274320"/>
          </a:xfrm>
          <a:prstGeom prst="rect">
            <a:avLst/>
          </a:prstGeom>
          <a:noFill/>
          <a:ln/>
        </p:spPr>
        <p:txBody>
          <a:bodyPr wrap="square" lIns="0" tIns="0" rIns="0" bIns="0" rtlCol="0" anchor="t"/>
          <a:lstStyle/>
          <a:p>
            <a:pPr indent="0" marL="0">
              <a:buNone/>
            </a:pPr>
            <a:r>
              <a:rPr lang="en-US" sz="1200" dirty="0">
                <a:solidFill>
                  <a:schemeClr val="accent6"/>
                </a:solidFill>
              </a:rPr>
              <a:t>Off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Why this system is needed</a:t>
            </a:r>
            <a:endParaRPr lang="en-US" sz="3400" dirty="0"/>
          </a:p>
        </p:txBody>
      </p:sp>
      <p:sp>
        <p:nvSpPr>
          <p:cNvPr id="3" name="problem card"/>
          <p:cNvSpPr/>
          <p:nvPr/>
        </p:nvSpPr>
        <p:spPr>
          <a:xfrm>
            <a:off x="548640" y="1554480"/>
            <a:ext cx="4754880" cy="4526280"/>
          </a:xfrm>
          <a:prstGeom prst="roundRect">
            <a:avLst>
              <a:gd name="adj" fmla="val 1616"/>
            </a:avLst>
          </a:prstGeom>
          <a:solidFill>
            <a:schemeClr val="tx2"/>
          </a:solidFill>
          <a:ln/>
        </p:spPr>
      </p:sp>
      <p:sp>
        <p:nvSpPr>
          <p:cNvPr id="4" name="Text 2"/>
          <p:cNvSpPr txBox="1"/>
          <p:nvPr/>
        </p:nvSpPr>
        <p:spPr>
          <a:xfrm>
            <a:off x="914400" y="1828800"/>
            <a:ext cx="402336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THE PROBLEM</a:t>
            </a:r>
            <a:endParaRPr lang="en-US" sz="1300" dirty="0"/>
          </a:p>
        </p:txBody>
      </p:sp>
      <p:sp>
        <p:nvSpPr>
          <p:cNvPr id="5" name="Text 3"/>
          <p:cNvSpPr txBox="1"/>
          <p:nvPr/>
        </p:nvSpPr>
        <p:spPr>
          <a:xfrm>
            <a:off x="914400" y="2240280"/>
            <a:ext cx="4023360" cy="2103120"/>
          </a:xfrm>
          <a:prstGeom prst="rect">
            <a:avLst/>
          </a:prstGeom>
          <a:noFill/>
          <a:ln/>
        </p:spPr>
        <p:txBody>
          <a:bodyPr wrap="square" lIns="0" tIns="0" rIns="0" bIns="0" rtlCol="0" anchor="t"/>
          <a:lstStyle/>
          <a:p>
            <a:pPr indent="0" marL="0">
              <a:buNone/>
            </a:pPr>
            <a:r>
              <a:rPr lang="en-US" sz="2400" dirty="0">
                <a:solidFill>
                  <a:schemeClr val="bg1"/>
                </a:solidFill>
              </a:rPr>
              <a:t>Manual consolidation of rosters, punches, overtime and leave leads to staffing and payroll errors.</a:t>
            </a:r>
            <a:endParaRPr lang="en-US" sz="2400" dirty="0"/>
          </a:p>
        </p:txBody>
      </p:sp>
      <p:sp>
        <p:nvSpPr>
          <p:cNvPr id="6" name="Text 4"/>
          <p:cNvSpPr txBox="1"/>
          <p:nvPr/>
        </p:nvSpPr>
        <p:spPr>
          <a:xfrm>
            <a:off x="914400" y="4663440"/>
            <a:ext cx="402336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USERS</a:t>
            </a:r>
            <a:endParaRPr lang="en-US" sz="1300" dirty="0"/>
          </a:p>
        </p:txBody>
      </p:sp>
      <p:sp>
        <p:nvSpPr>
          <p:cNvPr id="7" name="Text 5"/>
          <p:cNvSpPr txBox="1"/>
          <p:nvPr/>
        </p:nvSpPr>
        <p:spPr>
          <a:xfrm>
            <a:off x="914400" y="4983480"/>
            <a:ext cx="4023360" cy="731520"/>
          </a:xfrm>
          <a:prstGeom prst="rect">
            <a:avLst/>
          </a:prstGeom>
          <a:noFill/>
          <a:ln/>
        </p:spPr>
        <p:txBody>
          <a:bodyPr wrap="square" lIns="0" tIns="0" rIns="0" bIns="0" rtlCol="0" anchor="t"/>
          <a:lstStyle/>
          <a:p>
            <a:pPr indent="0" marL="0">
              <a:buNone/>
            </a:pPr>
            <a:r>
              <a:rPr lang="en-US" sz="1600" dirty="0">
                <a:solidFill>
                  <a:schemeClr val="accent6"/>
                </a:solidFill>
              </a:rPr>
              <a:t>HR administrator  |  Department manager  |  Employee</a:t>
            </a:r>
            <a:endParaRPr lang="en-US" sz="1600" dirty="0"/>
          </a:p>
        </p:txBody>
      </p:sp>
      <p:sp>
        <p:nvSpPr>
          <p:cNvPr id="8" name="objective icon 1 bg"/>
          <p:cNvSpPr/>
          <p:nvPr/>
        </p:nvSpPr>
        <p:spPr>
          <a:xfrm>
            <a:off x="5852160" y="1664208"/>
            <a:ext cx="640080" cy="640080"/>
          </a:xfrm>
          <a:prstGeom prst="ellipse">
            <a:avLst/>
          </a:prstGeom>
          <a:solidFill>
            <a:schemeClr val="accent1"/>
          </a:solidFill>
          <a:ln/>
        </p:spPr>
      </p:sp>
      <p:pic>
        <p:nvPicPr>
          <p:cNvPr id="9" name="objective icon 1" descr="objective icon 1">    </p:cNvPr>
          <p:cNvPicPr>
            <a:picLocks noChangeAspect="1"/>
          </p:cNvPicPr>
          <p:nvPr/>
        </p:nvPicPr>
        <p:blipFill>
          <a:blip r:embed="rId1"/>
          <a:stretch>
            <a:fillRect/>
          </a:stretch>
        </p:blipFill>
        <p:spPr>
          <a:xfrm>
            <a:off x="6018581" y="1830629"/>
            <a:ext cx="307238" cy="307238"/>
          </a:xfrm>
          <a:prstGeom prst="rect">
            <a:avLst/>
          </a:prstGeom>
        </p:spPr>
      </p:pic>
      <p:sp>
        <p:nvSpPr>
          <p:cNvPr id="10" name="Text 7"/>
          <p:cNvSpPr txBox="1"/>
          <p:nvPr/>
        </p:nvSpPr>
        <p:spPr>
          <a:xfrm>
            <a:off x="6720840" y="1554480"/>
            <a:ext cx="4919472" cy="365760"/>
          </a:xfrm>
          <a:prstGeom prst="rect">
            <a:avLst/>
          </a:prstGeom>
          <a:noFill/>
          <a:ln/>
        </p:spPr>
        <p:txBody>
          <a:bodyPr wrap="square" lIns="0" tIns="0" rIns="0" bIns="0" rtlCol="0" anchor="t"/>
          <a:lstStyle/>
          <a:p>
            <a:pPr indent="0" marL="0">
              <a:buNone/>
            </a:pPr>
            <a:r>
              <a:rPr lang="en-US" sz="1900" b="1" dirty="0">
                <a:solidFill>
                  <a:schemeClr val="tx2"/>
                </a:solidFill>
              </a:rPr>
              <a:t>Plan shifts without clashes</a:t>
            </a:r>
            <a:endParaRPr lang="en-US" sz="1900" dirty="0"/>
          </a:p>
        </p:txBody>
      </p:sp>
      <p:sp>
        <p:nvSpPr>
          <p:cNvPr id="11" name="Text 8"/>
          <p:cNvSpPr txBox="1"/>
          <p:nvPr/>
        </p:nvSpPr>
        <p:spPr>
          <a:xfrm>
            <a:off x="6720840" y="1965960"/>
            <a:ext cx="4919472" cy="640080"/>
          </a:xfrm>
          <a:prstGeom prst="rect">
            <a:avLst/>
          </a:prstGeom>
          <a:noFill/>
          <a:ln/>
        </p:spPr>
        <p:txBody>
          <a:bodyPr wrap="square" lIns="0" tIns="0" rIns="0" bIns="0" rtlCol="0" anchor="t"/>
          <a:lstStyle/>
          <a:p>
            <a:pPr indent="0" marL="0">
              <a:buNone/>
            </a:pPr>
            <a:r>
              <a:rPr lang="en-US" sz="1500" dirty="0">
                <a:solidFill>
                  <a:schemeClr val="tx1"/>
                </a:solidFill>
              </a:rPr>
              <a:t>Roster employees by shift and day, one shift per employee per day.</a:t>
            </a:r>
            <a:endParaRPr lang="en-US" sz="1500" dirty="0"/>
          </a:p>
        </p:txBody>
      </p:sp>
      <p:sp>
        <p:nvSpPr>
          <p:cNvPr id="12" name="objective icon 2 bg"/>
          <p:cNvSpPr/>
          <p:nvPr/>
        </p:nvSpPr>
        <p:spPr>
          <a:xfrm>
            <a:off x="5852160" y="2834640"/>
            <a:ext cx="640080" cy="640080"/>
          </a:xfrm>
          <a:prstGeom prst="ellipse">
            <a:avLst/>
          </a:prstGeom>
          <a:solidFill>
            <a:schemeClr val="accent1"/>
          </a:solidFill>
          <a:ln/>
        </p:spPr>
      </p:sp>
      <p:pic>
        <p:nvPicPr>
          <p:cNvPr id="13" name="objective icon 2" descr="objective icon 2">    </p:cNvPr>
          <p:cNvPicPr>
            <a:picLocks noChangeAspect="1"/>
          </p:cNvPicPr>
          <p:nvPr/>
        </p:nvPicPr>
        <p:blipFill>
          <a:blip r:embed="rId2"/>
          <a:stretch>
            <a:fillRect/>
          </a:stretch>
        </p:blipFill>
        <p:spPr>
          <a:xfrm>
            <a:off x="6018581" y="3001061"/>
            <a:ext cx="307238" cy="307238"/>
          </a:xfrm>
          <a:prstGeom prst="rect">
            <a:avLst/>
          </a:prstGeom>
        </p:spPr>
      </p:pic>
      <p:sp>
        <p:nvSpPr>
          <p:cNvPr id="14" name="Text 10"/>
          <p:cNvSpPr txBox="1"/>
          <p:nvPr/>
        </p:nvSpPr>
        <p:spPr>
          <a:xfrm>
            <a:off x="6720840" y="2724912"/>
            <a:ext cx="4919472" cy="365760"/>
          </a:xfrm>
          <a:prstGeom prst="rect">
            <a:avLst/>
          </a:prstGeom>
          <a:noFill/>
          <a:ln/>
        </p:spPr>
        <p:txBody>
          <a:bodyPr wrap="square" lIns="0" tIns="0" rIns="0" bIns="0" rtlCol="0" anchor="t"/>
          <a:lstStyle/>
          <a:p>
            <a:pPr indent="0" marL="0">
              <a:buNone/>
            </a:pPr>
            <a:r>
              <a:rPr lang="en-US" sz="1900" b="1" dirty="0">
                <a:solidFill>
                  <a:schemeClr val="tx2"/>
                </a:solidFill>
              </a:rPr>
              <a:t>Capture attendance accurately</a:t>
            </a:r>
            <a:endParaRPr lang="en-US" sz="1900" dirty="0"/>
          </a:p>
        </p:txBody>
      </p:sp>
      <p:sp>
        <p:nvSpPr>
          <p:cNvPr id="15" name="Text 11"/>
          <p:cNvSpPr txBox="1"/>
          <p:nvPr/>
        </p:nvSpPr>
        <p:spPr>
          <a:xfrm>
            <a:off x="6720840" y="3136392"/>
            <a:ext cx="4919472" cy="640080"/>
          </a:xfrm>
          <a:prstGeom prst="rect">
            <a:avLst/>
          </a:prstGeom>
          <a:noFill/>
          <a:ln/>
        </p:spPr>
        <p:txBody>
          <a:bodyPr wrap="square" lIns="0" tIns="0" rIns="0" bIns="0" rtlCol="0" anchor="t"/>
          <a:lstStyle/>
          <a:p>
            <a:pPr indent="0" marL="0">
              <a:buNone/>
            </a:pPr>
            <a:r>
              <a:rPr lang="en-US" sz="1500" dirty="0">
                <a:solidFill>
                  <a:schemeClr val="tx1"/>
                </a:solidFill>
              </a:rPr>
              <a:t>Clock-in and clock-out punches roll up into one validated daily summary.</a:t>
            </a:r>
            <a:endParaRPr lang="en-US" sz="1500" dirty="0"/>
          </a:p>
        </p:txBody>
      </p:sp>
      <p:sp>
        <p:nvSpPr>
          <p:cNvPr id="16" name="objective icon 3 bg"/>
          <p:cNvSpPr/>
          <p:nvPr/>
        </p:nvSpPr>
        <p:spPr>
          <a:xfrm>
            <a:off x="5852160" y="4005072"/>
            <a:ext cx="640080" cy="640080"/>
          </a:xfrm>
          <a:prstGeom prst="ellipse">
            <a:avLst/>
          </a:prstGeom>
          <a:solidFill>
            <a:schemeClr val="accent1"/>
          </a:solidFill>
          <a:ln/>
        </p:spPr>
      </p:sp>
      <p:pic>
        <p:nvPicPr>
          <p:cNvPr id="17" name="objective icon 3" descr="objective icon 3">    </p:cNvPr>
          <p:cNvPicPr>
            <a:picLocks noChangeAspect="1"/>
          </p:cNvPicPr>
          <p:nvPr/>
        </p:nvPicPr>
        <p:blipFill>
          <a:blip r:embed="rId3"/>
          <a:stretch>
            <a:fillRect/>
          </a:stretch>
        </p:blipFill>
        <p:spPr>
          <a:xfrm>
            <a:off x="6018581" y="4171493"/>
            <a:ext cx="307238" cy="307238"/>
          </a:xfrm>
          <a:prstGeom prst="rect">
            <a:avLst/>
          </a:prstGeom>
        </p:spPr>
      </p:pic>
      <p:sp>
        <p:nvSpPr>
          <p:cNvPr id="18" name="Text 13"/>
          <p:cNvSpPr txBox="1"/>
          <p:nvPr/>
        </p:nvSpPr>
        <p:spPr>
          <a:xfrm>
            <a:off x="6720840" y="3895344"/>
            <a:ext cx="4919472" cy="365760"/>
          </a:xfrm>
          <a:prstGeom prst="rect">
            <a:avLst/>
          </a:prstGeom>
          <a:noFill/>
          <a:ln/>
        </p:spPr>
        <p:txBody>
          <a:bodyPr wrap="square" lIns="0" tIns="0" rIns="0" bIns="0" rtlCol="0" anchor="t"/>
          <a:lstStyle/>
          <a:p>
            <a:pPr indent="0" marL="0">
              <a:buNone/>
            </a:pPr>
            <a:r>
              <a:rPr lang="en-US" sz="1900" b="1" dirty="0">
                <a:solidFill>
                  <a:schemeClr val="tx2"/>
                </a:solidFill>
              </a:rPr>
              <a:t>Automate leave and overtime</a:t>
            </a:r>
            <a:endParaRPr lang="en-US" sz="1900" dirty="0"/>
          </a:p>
        </p:txBody>
      </p:sp>
      <p:sp>
        <p:nvSpPr>
          <p:cNvPr id="19" name="Text 14"/>
          <p:cNvSpPr txBox="1"/>
          <p:nvPr/>
        </p:nvSpPr>
        <p:spPr>
          <a:xfrm>
            <a:off x="6720840" y="4306824"/>
            <a:ext cx="4919472" cy="640080"/>
          </a:xfrm>
          <a:prstGeom prst="rect">
            <a:avLst/>
          </a:prstGeom>
          <a:noFill/>
          <a:ln/>
        </p:spPr>
        <p:txBody>
          <a:bodyPr wrap="square" lIns="0" tIns="0" rIns="0" bIns="0" rtlCol="0" anchor="t"/>
          <a:lstStyle/>
          <a:p>
            <a:pPr indent="0" marL="0">
              <a:buNone/>
            </a:pPr>
            <a:r>
              <a:rPr lang="en-US" sz="1500" dirty="0">
                <a:solidFill>
                  <a:schemeClr val="tx1"/>
                </a:solidFill>
              </a:rPr>
              <a:t>Applications, approvals and balance updates handled in a single transaction.</a:t>
            </a:r>
            <a:endParaRPr lang="en-US" sz="1500" dirty="0"/>
          </a:p>
        </p:txBody>
      </p:sp>
      <p:sp>
        <p:nvSpPr>
          <p:cNvPr id="20" name="objective icon 4 bg"/>
          <p:cNvSpPr/>
          <p:nvPr/>
        </p:nvSpPr>
        <p:spPr>
          <a:xfrm>
            <a:off x="5852160" y="5175504"/>
            <a:ext cx="640080" cy="640080"/>
          </a:xfrm>
          <a:prstGeom prst="ellipse">
            <a:avLst/>
          </a:prstGeom>
          <a:solidFill>
            <a:schemeClr val="accent1"/>
          </a:solidFill>
          <a:ln/>
        </p:spPr>
      </p:sp>
      <p:pic>
        <p:nvPicPr>
          <p:cNvPr id="21" name="objective icon 4" descr="objective icon 4">    </p:cNvPr>
          <p:cNvPicPr>
            <a:picLocks noChangeAspect="1"/>
          </p:cNvPicPr>
          <p:nvPr/>
        </p:nvPicPr>
        <p:blipFill>
          <a:blip r:embed="rId4"/>
          <a:stretch>
            <a:fillRect/>
          </a:stretch>
        </p:blipFill>
        <p:spPr>
          <a:xfrm>
            <a:off x="6018581" y="5341925"/>
            <a:ext cx="307238" cy="307238"/>
          </a:xfrm>
          <a:prstGeom prst="rect">
            <a:avLst/>
          </a:prstGeom>
        </p:spPr>
      </p:pic>
      <p:sp>
        <p:nvSpPr>
          <p:cNvPr id="22" name="Text 16"/>
          <p:cNvSpPr txBox="1"/>
          <p:nvPr/>
        </p:nvSpPr>
        <p:spPr>
          <a:xfrm>
            <a:off x="6720840" y="5065776"/>
            <a:ext cx="4919472" cy="365760"/>
          </a:xfrm>
          <a:prstGeom prst="rect">
            <a:avLst/>
          </a:prstGeom>
          <a:noFill/>
          <a:ln/>
        </p:spPr>
        <p:txBody>
          <a:bodyPr wrap="square" lIns="0" tIns="0" rIns="0" bIns="0" rtlCol="0" anchor="t"/>
          <a:lstStyle/>
          <a:p>
            <a:pPr indent="0" marL="0">
              <a:buNone/>
            </a:pPr>
            <a:r>
              <a:rPr lang="en-US" sz="1900" b="1" dirty="0">
                <a:solidFill>
                  <a:schemeClr val="tx2"/>
                </a:solidFill>
              </a:rPr>
              <a:t>Report for decisions</a:t>
            </a:r>
            <a:endParaRPr lang="en-US" sz="1900" dirty="0"/>
          </a:p>
        </p:txBody>
      </p:sp>
      <p:sp>
        <p:nvSpPr>
          <p:cNvPr id="23" name="Text 17"/>
          <p:cNvSpPr txBox="1"/>
          <p:nvPr/>
        </p:nvSpPr>
        <p:spPr>
          <a:xfrm>
            <a:off x="6720840" y="5477256"/>
            <a:ext cx="4919472" cy="640080"/>
          </a:xfrm>
          <a:prstGeom prst="rect">
            <a:avLst/>
          </a:prstGeom>
          <a:noFill/>
          <a:ln/>
        </p:spPr>
        <p:txBody>
          <a:bodyPr wrap="square" lIns="0" tIns="0" rIns="0" bIns="0" rtlCol="0" anchor="t"/>
          <a:lstStyle/>
          <a:p>
            <a:pPr indent="0" marL="0">
              <a:buNone/>
            </a:pPr>
            <a:r>
              <a:rPr lang="en-US" sz="1500" dirty="0">
                <a:solidFill>
                  <a:schemeClr val="tx1"/>
                </a:solidFill>
              </a:rPr>
              <a:t>Lateness, absence, overtime, coverage and department summaries on demand.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Database design at a glance</a:t>
            </a:r>
            <a:endParaRPr lang="en-US" sz="3400" dirty="0"/>
          </a:p>
        </p:txBody>
      </p:sp>
      <p:sp>
        <p:nvSpPr>
          <p:cNvPr id="3" name="stat card 1"/>
          <p:cNvSpPr/>
          <p:nvPr/>
        </p:nvSpPr>
        <p:spPr>
          <a:xfrm>
            <a:off x="548640" y="1463040"/>
            <a:ext cx="2567864" cy="1371600"/>
          </a:xfrm>
          <a:prstGeom prst="roundRect">
            <a:avLst>
              <a:gd name="adj" fmla="val 5333"/>
            </a:avLst>
          </a:prstGeom>
          <a:solidFill>
            <a:schemeClr val="tx2"/>
          </a:solidFill>
          <a:ln/>
        </p:spPr>
      </p:sp>
      <p:sp>
        <p:nvSpPr>
          <p:cNvPr id="4" name="Text 2"/>
          <p:cNvSpPr txBox="1"/>
          <p:nvPr/>
        </p:nvSpPr>
        <p:spPr>
          <a:xfrm>
            <a:off x="548640" y="1554480"/>
            <a:ext cx="2567864" cy="731520"/>
          </a:xfrm>
          <a:prstGeom prst="rect">
            <a:avLst/>
          </a:prstGeom>
          <a:noFill/>
          <a:ln/>
        </p:spPr>
        <p:txBody>
          <a:bodyPr wrap="square" lIns="0" tIns="0" rIns="0" bIns="0" rtlCol="0" anchor="t"/>
          <a:lstStyle/>
          <a:p>
            <a:pPr algn="ctr" indent="0" marL="0">
              <a:buNone/>
            </a:pPr>
            <a:r>
              <a:rPr lang="en-US" sz="4400" b="1" dirty="0">
                <a:solidFill>
                  <a:schemeClr val="accent2"/>
                </a:solidFill>
              </a:rPr>
              <a:t>12</a:t>
            </a:r>
            <a:endParaRPr lang="en-US" sz="4400" dirty="0"/>
          </a:p>
        </p:txBody>
      </p:sp>
      <p:sp>
        <p:nvSpPr>
          <p:cNvPr id="5" name="Text 3"/>
          <p:cNvSpPr txBox="1"/>
          <p:nvPr/>
        </p:nvSpPr>
        <p:spPr>
          <a:xfrm>
            <a:off x="548640" y="2286000"/>
            <a:ext cx="2567864" cy="365760"/>
          </a:xfrm>
          <a:prstGeom prst="rect">
            <a:avLst/>
          </a:prstGeom>
          <a:noFill/>
          <a:ln/>
        </p:spPr>
        <p:txBody>
          <a:bodyPr wrap="square" lIns="0" tIns="0" rIns="0" bIns="0" rtlCol="0" anchor="t"/>
          <a:lstStyle/>
          <a:p>
            <a:pPr algn="ctr" indent="0" marL="0">
              <a:buNone/>
            </a:pPr>
            <a:r>
              <a:rPr lang="en-US" sz="1500" dirty="0">
                <a:solidFill>
                  <a:schemeClr val="bg1"/>
                </a:solidFill>
              </a:rPr>
              <a:t>tables</a:t>
            </a:r>
            <a:endParaRPr lang="en-US" sz="1500" dirty="0"/>
          </a:p>
        </p:txBody>
      </p:sp>
      <p:sp>
        <p:nvSpPr>
          <p:cNvPr id="6" name="stat card 2"/>
          <p:cNvSpPr/>
          <p:nvPr/>
        </p:nvSpPr>
        <p:spPr>
          <a:xfrm>
            <a:off x="3390824" y="1463040"/>
            <a:ext cx="2567864" cy="1371600"/>
          </a:xfrm>
          <a:prstGeom prst="roundRect">
            <a:avLst>
              <a:gd name="adj" fmla="val 5333"/>
            </a:avLst>
          </a:prstGeom>
          <a:solidFill>
            <a:schemeClr val="tx2"/>
          </a:solidFill>
          <a:ln/>
        </p:spPr>
      </p:sp>
      <p:sp>
        <p:nvSpPr>
          <p:cNvPr id="7" name="Text 5"/>
          <p:cNvSpPr txBox="1"/>
          <p:nvPr/>
        </p:nvSpPr>
        <p:spPr>
          <a:xfrm>
            <a:off x="3390824" y="1554480"/>
            <a:ext cx="2567864" cy="731520"/>
          </a:xfrm>
          <a:prstGeom prst="rect">
            <a:avLst/>
          </a:prstGeom>
          <a:noFill/>
          <a:ln/>
        </p:spPr>
        <p:txBody>
          <a:bodyPr wrap="square" lIns="0" tIns="0" rIns="0" bIns="0" rtlCol="0" anchor="t"/>
          <a:lstStyle/>
          <a:p>
            <a:pPr algn="ctr" indent="0" marL="0">
              <a:buNone/>
            </a:pPr>
            <a:r>
              <a:rPr lang="en-US" sz="4400" b="1" dirty="0">
                <a:solidFill>
                  <a:schemeClr val="accent2"/>
                </a:solidFill>
              </a:rPr>
              <a:t>3NF</a:t>
            </a:r>
            <a:endParaRPr lang="en-US" sz="4400" dirty="0"/>
          </a:p>
        </p:txBody>
      </p:sp>
      <p:sp>
        <p:nvSpPr>
          <p:cNvPr id="8" name="Text 6"/>
          <p:cNvSpPr txBox="1"/>
          <p:nvPr/>
        </p:nvSpPr>
        <p:spPr>
          <a:xfrm>
            <a:off x="3390824" y="2286000"/>
            <a:ext cx="2567864" cy="365760"/>
          </a:xfrm>
          <a:prstGeom prst="rect">
            <a:avLst/>
          </a:prstGeom>
          <a:noFill/>
          <a:ln/>
        </p:spPr>
        <p:txBody>
          <a:bodyPr wrap="square" lIns="0" tIns="0" rIns="0" bIns="0" rtlCol="0" anchor="t"/>
          <a:lstStyle/>
          <a:p>
            <a:pPr algn="ctr" indent="0" marL="0">
              <a:buNone/>
            </a:pPr>
            <a:r>
              <a:rPr lang="en-US" sz="1500" dirty="0">
                <a:solidFill>
                  <a:schemeClr val="bg1"/>
                </a:solidFill>
              </a:rPr>
              <a:t>fully normalised</a:t>
            </a:r>
            <a:endParaRPr lang="en-US" sz="1500" dirty="0"/>
          </a:p>
        </p:txBody>
      </p:sp>
      <p:sp>
        <p:nvSpPr>
          <p:cNvPr id="9" name="stat card 3"/>
          <p:cNvSpPr/>
          <p:nvPr/>
        </p:nvSpPr>
        <p:spPr>
          <a:xfrm>
            <a:off x="6233008" y="1463040"/>
            <a:ext cx="2567864" cy="1371600"/>
          </a:xfrm>
          <a:prstGeom prst="roundRect">
            <a:avLst>
              <a:gd name="adj" fmla="val 5333"/>
            </a:avLst>
          </a:prstGeom>
          <a:solidFill>
            <a:schemeClr val="tx2"/>
          </a:solidFill>
          <a:ln/>
        </p:spPr>
      </p:sp>
      <p:sp>
        <p:nvSpPr>
          <p:cNvPr id="10" name="Text 8"/>
          <p:cNvSpPr txBox="1"/>
          <p:nvPr/>
        </p:nvSpPr>
        <p:spPr>
          <a:xfrm>
            <a:off x="6233008" y="1554480"/>
            <a:ext cx="2567864" cy="731520"/>
          </a:xfrm>
          <a:prstGeom prst="rect">
            <a:avLst/>
          </a:prstGeom>
          <a:noFill/>
          <a:ln/>
        </p:spPr>
        <p:txBody>
          <a:bodyPr wrap="square" lIns="0" tIns="0" rIns="0" bIns="0" rtlCol="0" anchor="t"/>
          <a:lstStyle/>
          <a:p>
            <a:pPr algn="ctr" indent="0" marL="0">
              <a:buNone/>
            </a:pPr>
            <a:r>
              <a:rPr lang="en-US" sz="4400" b="1" dirty="0">
                <a:solidFill>
                  <a:schemeClr val="accent2"/>
                </a:solidFill>
              </a:rPr>
              <a:t>5</a:t>
            </a:r>
            <a:endParaRPr lang="en-US" sz="4400" dirty="0"/>
          </a:p>
        </p:txBody>
      </p:sp>
      <p:sp>
        <p:nvSpPr>
          <p:cNvPr id="11" name="Text 9"/>
          <p:cNvSpPr txBox="1"/>
          <p:nvPr/>
        </p:nvSpPr>
        <p:spPr>
          <a:xfrm>
            <a:off x="6233008" y="2286000"/>
            <a:ext cx="2567864" cy="365760"/>
          </a:xfrm>
          <a:prstGeom prst="rect">
            <a:avLst/>
          </a:prstGeom>
          <a:noFill/>
          <a:ln/>
        </p:spPr>
        <p:txBody>
          <a:bodyPr wrap="square" lIns="0" tIns="0" rIns="0" bIns="0" rtlCol="0" anchor="t"/>
          <a:lstStyle/>
          <a:p>
            <a:pPr algn="ctr" indent="0" marL="0">
              <a:buNone/>
            </a:pPr>
            <a:r>
              <a:rPr lang="en-US" sz="1500" dirty="0">
                <a:solidFill>
                  <a:schemeClr val="bg1"/>
                </a:solidFill>
              </a:rPr>
              <a:t>business rules enforced</a:t>
            </a:r>
            <a:endParaRPr lang="en-US" sz="1500" dirty="0"/>
          </a:p>
        </p:txBody>
      </p:sp>
      <p:sp>
        <p:nvSpPr>
          <p:cNvPr id="12" name="stat card 4"/>
          <p:cNvSpPr/>
          <p:nvPr/>
        </p:nvSpPr>
        <p:spPr>
          <a:xfrm>
            <a:off x="9075191" y="1463040"/>
            <a:ext cx="2567864" cy="1371600"/>
          </a:xfrm>
          <a:prstGeom prst="roundRect">
            <a:avLst>
              <a:gd name="adj" fmla="val 5333"/>
            </a:avLst>
          </a:prstGeom>
          <a:solidFill>
            <a:schemeClr val="tx2"/>
          </a:solidFill>
          <a:ln/>
        </p:spPr>
      </p:sp>
      <p:sp>
        <p:nvSpPr>
          <p:cNvPr id="13" name="Text 11"/>
          <p:cNvSpPr txBox="1"/>
          <p:nvPr/>
        </p:nvSpPr>
        <p:spPr>
          <a:xfrm>
            <a:off x="9075191" y="1554480"/>
            <a:ext cx="2567864" cy="731520"/>
          </a:xfrm>
          <a:prstGeom prst="rect">
            <a:avLst/>
          </a:prstGeom>
          <a:noFill/>
          <a:ln/>
        </p:spPr>
        <p:txBody>
          <a:bodyPr wrap="square" lIns="0" tIns="0" rIns="0" bIns="0" rtlCol="0" anchor="t"/>
          <a:lstStyle/>
          <a:p>
            <a:pPr algn="ctr" indent="0" marL="0">
              <a:buNone/>
            </a:pPr>
            <a:r>
              <a:rPr lang="en-US" sz="4400" b="1" dirty="0">
                <a:solidFill>
                  <a:schemeClr val="accent2"/>
                </a:solidFill>
              </a:rPr>
              <a:t>7</a:t>
            </a:r>
            <a:endParaRPr lang="en-US" sz="4400" dirty="0"/>
          </a:p>
        </p:txBody>
      </p:sp>
      <p:sp>
        <p:nvSpPr>
          <p:cNvPr id="14" name="Text 12"/>
          <p:cNvSpPr txBox="1"/>
          <p:nvPr/>
        </p:nvSpPr>
        <p:spPr>
          <a:xfrm>
            <a:off x="9075191" y="2286000"/>
            <a:ext cx="2567864" cy="365760"/>
          </a:xfrm>
          <a:prstGeom prst="rect">
            <a:avLst/>
          </a:prstGeom>
          <a:noFill/>
          <a:ln/>
        </p:spPr>
        <p:txBody>
          <a:bodyPr wrap="square" lIns="0" tIns="0" rIns="0" bIns="0" rtlCol="0" anchor="t"/>
          <a:lstStyle/>
          <a:p>
            <a:pPr algn="ctr" indent="0" marL="0">
              <a:buNone/>
            </a:pPr>
            <a:r>
              <a:rPr lang="en-US" sz="1500" dirty="0">
                <a:solidFill>
                  <a:schemeClr val="bg1"/>
                </a:solidFill>
              </a:rPr>
              <a:t>report views</a:t>
            </a:r>
            <a:endParaRPr lang="en-US" sz="1500" dirty="0"/>
          </a:p>
        </p:txBody>
      </p:sp>
      <p:sp>
        <p:nvSpPr>
          <p:cNvPr id="15" name="table group 1"/>
          <p:cNvSpPr/>
          <p:nvPr/>
        </p:nvSpPr>
        <p:spPr>
          <a:xfrm>
            <a:off x="548640" y="3154680"/>
            <a:ext cx="3515258" cy="2651760"/>
          </a:xfrm>
          <a:prstGeom prst="roundRect">
            <a:avLst>
              <a:gd name="adj" fmla="val 2759"/>
            </a:avLst>
          </a:prstGeom>
          <a:solidFill>
            <a:schemeClr val="bg2"/>
          </a:solidFill>
          <a:ln/>
        </p:spPr>
      </p:sp>
      <p:sp>
        <p:nvSpPr>
          <p:cNvPr id="16" name="Text 14"/>
          <p:cNvSpPr txBox="1"/>
          <p:nvPr/>
        </p:nvSpPr>
        <p:spPr>
          <a:xfrm>
            <a:off x="822960" y="3337560"/>
            <a:ext cx="2966618" cy="365760"/>
          </a:xfrm>
          <a:prstGeom prst="rect">
            <a:avLst/>
          </a:prstGeom>
          <a:noFill/>
          <a:ln/>
        </p:spPr>
        <p:txBody>
          <a:bodyPr wrap="square" lIns="0" tIns="0" rIns="0" bIns="0" rtlCol="0" anchor="t"/>
          <a:lstStyle/>
          <a:p>
            <a:pPr indent="0" marL="0">
              <a:buNone/>
            </a:pPr>
            <a:r>
              <a:rPr lang="en-US" sz="1900" b="1" dirty="0">
                <a:solidFill>
                  <a:schemeClr val="accent1"/>
                </a:solidFill>
              </a:rPr>
              <a:t>People and calendar</a:t>
            </a:r>
            <a:endParaRPr lang="en-US" sz="1900" dirty="0"/>
          </a:p>
        </p:txBody>
      </p:sp>
      <p:sp>
        <p:nvSpPr>
          <p:cNvPr id="17" name="Text 15"/>
          <p:cNvSpPr txBox="1"/>
          <p:nvPr/>
        </p:nvSpPr>
        <p:spPr>
          <a:xfrm>
            <a:off x="822960" y="3840480"/>
            <a:ext cx="2966618" cy="21031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department</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employee</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holiday</a:t>
            </a:r>
            <a:endParaRPr lang="en-US" sz="1600" dirty="0"/>
          </a:p>
        </p:txBody>
      </p:sp>
      <p:sp>
        <p:nvSpPr>
          <p:cNvPr id="18" name="table group 2"/>
          <p:cNvSpPr/>
          <p:nvPr/>
        </p:nvSpPr>
        <p:spPr>
          <a:xfrm>
            <a:off x="4338218" y="3154680"/>
            <a:ext cx="3515258" cy="2651760"/>
          </a:xfrm>
          <a:prstGeom prst="roundRect">
            <a:avLst>
              <a:gd name="adj" fmla="val 2759"/>
            </a:avLst>
          </a:prstGeom>
          <a:solidFill>
            <a:schemeClr val="bg2"/>
          </a:solidFill>
          <a:ln/>
        </p:spPr>
      </p:sp>
      <p:sp>
        <p:nvSpPr>
          <p:cNvPr id="19" name="Text 17"/>
          <p:cNvSpPr txBox="1"/>
          <p:nvPr/>
        </p:nvSpPr>
        <p:spPr>
          <a:xfrm>
            <a:off x="4612538" y="3337560"/>
            <a:ext cx="2966618" cy="365760"/>
          </a:xfrm>
          <a:prstGeom prst="rect">
            <a:avLst/>
          </a:prstGeom>
          <a:noFill/>
          <a:ln/>
        </p:spPr>
        <p:txBody>
          <a:bodyPr wrap="square" lIns="0" tIns="0" rIns="0" bIns="0" rtlCol="0" anchor="t"/>
          <a:lstStyle/>
          <a:p>
            <a:pPr indent="0" marL="0">
              <a:buNone/>
            </a:pPr>
            <a:r>
              <a:rPr lang="en-US" sz="1900" b="1" dirty="0">
                <a:solidFill>
                  <a:schemeClr val="accent1"/>
                </a:solidFill>
              </a:rPr>
              <a:t>Time and attendance</a:t>
            </a:r>
            <a:endParaRPr lang="en-US" sz="1900" dirty="0"/>
          </a:p>
        </p:txBody>
      </p:sp>
      <p:sp>
        <p:nvSpPr>
          <p:cNvPr id="20" name="Text 18"/>
          <p:cNvSpPr txBox="1"/>
          <p:nvPr/>
        </p:nvSpPr>
        <p:spPr>
          <a:xfrm>
            <a:off x="4612538" y="3840480"/>
            <a:ext cx="2966618" cy="21031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shift</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roster</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attendance_punch</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daily_summary</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overtime_request</a:t>
            </a:r>
            <a:endParaRPr lang="en-US" sz="1600" dirty="0"/>
          </a:p>
        </p:txBody>
      </p:sp>
      <p:sp>
        <p:nvSpPr>
          <p:cNvPr id="21" name="table group 3"/>
          <p:cNvSpPr/>
          <p:nvPr/>
        </p:nvSpPr>
        <p:spPr>
          <a:xfrm>
            <a:off x="8127797" y="3154680"/>
            <a:ext cx="3515258" cy="2651760"/>
          </a:xfrm>
          <a:prstGeom prst="roundRect">
            <a:avLst>
              <a:gd name="adj" fmla="val 2759"/>
            </a:avLst>
          </a:prstGeom>
          <a:solidFill>
            <a:schemeClr val="bg2"/>
          </a:solidFill>
          <a:ln/>
        </p:spPr>
      </p:sp>
      <p:sp>
        <p:nvSpPr>
          <p:cNvPr id="22" name="Text 20"/>
          <p:cNvSpPr txBox="1"/>
          <p:nvPr/>
        </p:nvSpPr>
        <p:spPr>
          <a:xfrm>
            <a:off x="8402117" y="3337560"/>
            <a:ext cx="2966618" cy="365760"/>
          </a:xfrm>
          <a:prstGeom prst="rect">
            <a:avLst/>
          </a:prstGeom>
          <a:noFill/>
          <a:ln/>
        </p:spPr>
        <p:txBody>
          <a:bodyPr wrap="square" lIns="0" tIns="0" rIns="0" bIns="0" rtlCol="0" anchor="t"/>
          <a:lstStyle/>
          <a:p>
            <a:pPr indent="0" marL="0">
              <a:buNone/>
            </a:pPr>
            <a:r>
              <a:rPr lang="en-US" sz="1900" b="1" dirty="0">
                <a:solidFill>
                  <a:schemeClr val="accent1"/>
                </a:solidFill>
              </a:rPr>
              <a:t>Leave and approval</a:t>
            </a:r>
            <a:endParaRPr lang="en-US" sz="1900" dirty="0"/>
          </a:p>
        </p:txBody>
      </p:sp>
      <p:sp>
        <p:nvSpPr>
          <p:cNvPr id="23" name="Text 21"/>
          <p:cNvSpPr txBox="1"/>
          <p:nvPr/>
        </p:nvSpPr>
        <p:spPr>
          <a:xfrm>
            <a:off x="8402117" y="3840480"/>
            <a:ext cx="2966618" cy="21031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leave_type</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leave_balance</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leave_application</a:t>
            </a:r>
            <a:endParaRPr lang="en-US" sz="1600" dirty="0"/>
          </a:p>
          <a:p>
            <a:pPr marL="342900" indent="-342900">
              <a:spcAft>
                <a:spcPts val="500"/>
              </a:spcAft>
              <a:buSzPct val="100000"/>
              <a:buChar char="•"/>
            </a:pPr>
            <a:r>
              <a:rPr lang="en-US" sz="1600" dirty="0">
                <a:solidFill>
                  <a:schemeClr val="tx1"/>
                </a:solidFill>
                <a:latin typeface="Courier New" pitchFamily="34" charset="0"/>
                <a:ea typeface="Courier New" pitchFamily="34" charset="-122"/>
                <a:cs typeface="Courier New" pitchFamily="34" charset="-120"/>
              </a:rPr>
              <a:t>approval</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Business rules enforced in the database</a:t>
            </a:r>
            <a:endParaRPr lang="en-US" sz="3400" dirty="0"/>
          </a:p>
        </p:txBody>
      </p:sp>
      <p:graphicFrame>
        <p:nvGraphicFramePr>
          <p:cNvPr id="5" name="rule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566160"/>
                <a:gridCol w="7528255"/>
              </a:tblGrid>
              <a:tr h="502920">
                <a:tc>
                  <a:txBody>
                    <a:bodyPr/>
                    <a:lstStyle/>
                    <a:p>
                      <a:pPr indent="0" marL="0">
                        <a:buNone/>
                      </a:pPr>
                      <a:r>
                        <a:rPr lang="en-US" sz="1600" b="1" dirty="0">
                          <a:solidFill>
                            <a:schemeClr val="bg1"/>
                          </a:solidFill>
                        </a:rPr>
                        <a:t>Rule</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How it is enforced</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600" b="1" dirty="0">
                          <a:solidFill>
                            <a:schemeClr val="tx2"/>
                          </a:solidFill>
                        </a:rPr>
                        <a:t>No overlapping shifts</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UNIQUE (emp_id, roster_date) plus a trigger that blocks overlapping night-shift times</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600" b="1" dirty="0">
                          <a:solidFill>
                            <a:schemeClr val="tx2"/>
                          </a:solidFill>
                        </a:rPr>
                        <a:t>Clock-out after clock-in</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CHECK (clock_out &gt; clock_in) on attendance_punch</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600" b="1" dirty="0">
                          <a:solidFill>
                            <a:schemeClr val="tx2"/>
                          </a:solidFill>
                        </a:rPr>
                        <a:t>Leave within balance</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CHECK (balance_days &gt;= 0) and a balance check before approval</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600" b="1" dirty="0">
                          <a:solidFill>
                            <a:schemeClr val="tx2"/>
                          </a:solidFill>
                        </a:rPr>
                        <a:t>Authorised overtime</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Overtime counts in the summary only when overtime_request.status = 'APPROVED'</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600" b="1" dirty="0">
                          <a:solidFill>
                            <a:schemeClr val="tx2"/>
                          </a:solidFill>
                        </a:rPr>
                        <a:t>One daily summary per employee</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UNIQUE (emp_id, work_date) on daily_summary</a:t>
                      </a:r>
                      <a:endParaRPr lang="en-US" sz="16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ier 1"/>
          <p:cNvSpPr/>
          <p:nvPr/>
        </p:nvSpPr>
        <p:spPr>
          <a:xfrm>
            <a:off x="548640" y="1554480"/>
            <a:ext cx="3291840" cy="2743200"/>
          </a:xfrm>
          <a:prstGeom prst="roundRect">
            <a:avLst>
              <a:gd name="adj" fmla="val 2667"/>
            </a:avLst>
          </a:prstGeom>
          <a:solidFill>
            <a:schemeClr val="bg2"/>
          </a:solidFill>
          <a:ln/>
          <a:effectLst>
            <a:outerShdw sx="100000" sy="100000" kx="0" ky="0" algn="bl" rotWithShape="0" blurRad="101600" dist="25400" dir="5400000">
              <a:srgbClr val="000000">
                <a:alpha val="12000"/>
              </a:srgbClr>
            </a:outerShdw>
          </a:effectLst>
        </p:spPr>
      </p:sp>
      <p:sp>
        <p:nvSpPr>
          <p:cNvPr id="4" name="Python interface icon bg"/>
          <p:cNvSpPr/>
          <p:nvPr/>
        </p:nvSpPr>
        <p:spPr>
          <a:xfrm>
            <a:off x="822960" y="1783080"/>
            <a:ext cx="640080" cy="640080"/>
          </a:xfrm>
          <a:prstGeom prst="ellipse">
            <a:avLst/>
          </a:prstGeom>
          <a:solidFill>
            <a:schemeClr val="accent1"/>
          </a:solidFill>
          <a:ln/>
        </p:spPr>
      </p:sp>
      <p:pic>
        <p:nvPicPr>
          <p:cNvPr id="5" name="Python interface icon" descr="Python interface icon">    </p:cNvPr>
          <p:cNvPicPr>
            <a:picLocks noChangeAspect="1"/>
          </p:cNvPicPr>
          <p:nvPr/>
        </p:nvPicPr>
        <p:blipFill>
          <a:blip r:embed="rId1"/>
          <a:stretch>
            <a:fillRect/>
          </a:stretch>
        </p:blipFill>
        <p:spPr>
          <a:xfrm>
            <a:off x="989381" y="1949501"/>
            <a:ext cx="307238" cy="307238"/>
          </a:xfrm>
          <a:prstGeom prst="rect">
            <a:avLst/>
          </a:prstGeom>
        </p:spPr>
      </p:pic>
      <p:sp>
        <p:nvSpPr>
          <p:cNvPr id="6" name="Text 3"/>
          <p:cNvSpPr txBox="1"/>
          <p:nvPr/>
        </p:nvSpPr>
        <p:spPr>
          <a:xfrm>
            <a:off x="1645920" y="18745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Python interface</a:t>
            </a:r>
            <a:endParaRPr lang="en-US" sz="2000" dirty="0"/>
          </a:p>
        </p:txBody>
      </p:sp>
      <p:sp>
        <p:nvSpPr>
          <p:cNvPr id="7" name="Text 4"/>
          <p:cNvSpPr txBox="1"/>
          <p:nvPr/>
        </p:nvSpPr>
        <p:spPr>
          <a:xfrm>
            <a:off x="822960" y="269748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Desktop forms (Tkinter)</a:t>
            </a:r>
            <a:endParaRPr lang="en-US" sz="1500" dirty="0"/>
          </a:p>
          <a:p>
            <a:pPr marL="342900" indent="-342900">
              <a:spcAft>
                <a:spcPts val="600"/>
              </a:spcAft>
              <a:buSzPct val="100000"/>
              <a:buChar char="•"/>
            </a:pPr>
            <a:r>
              <a:rPr lang="en-US" sz="1500" dirty="0">
                <a:solidFill>
                  <a:schemeClr val="tx1"/>
                </a:solidFill>
              </a:rPr>
              <a:t>Input validation on every form</a:t>
            </a:r>
            <a:endParaRPr lang="en-US" sz="1500" dirty="0"/>
          </a:p>
          <a:p>
            <a:pPr marL="342900" indent="-342900">
              <a:spcAft>
                <a:spcPts val="600"/>
              </a:spcAft>
              <a:buSzPct val="100000"/>
              <a:buChar char="•"/>
            </a:pPr>
            <a:r>
              <a:rPr lang="en-US" sz="1500" dirty="0">
                <a:solidFill>
                  <a:schemeClr val="tx1"/>
                </a:solidFill>
              </a:rPr>
              <a:t>Menus for Admin, Manager, Employee</a:t>
            </a:r>
            <a:endParaRPr lang="en-US" sz="1500" dirty="0"/>
          </a:p>
        </p:txBody>
      </p:sp>
      <p:sp>
        <p:nvSpPr>
          <p:cNvPr id="8" name="arrow 1"/>
          <p:cNvSpPr/>
          <p:nvPr/>
        </p:nvSpPr>
        <p:spPr>
          <a:xfrm>
            <a:off x="3913632" y="2697480"/>
            <a:ext cx="463144" cy="411480"/>
          </a:xfrm>
          <a:prstGeom prst="rightArrow">
            <a:avLst/>
          </a:prstGeom>
          <a:solidFill>
            <a:schemeClr val="accent2"/>
          </a:solidFill>
          <a:ln/>
        </p:spPr>
      </p:sp>
      <p:sp>
        <p:nvSpPr>
          <p:cNvPr id="9" name="tier 2"/>
          <p:cNvSpPr/>
          <p:nvPr/>
        </p:nvSpPr>
        <p:spPr>
          <a:xfrm>
            <a:off x="4449928" y="1554480"/>
            <a:ext cx="3291840" cy="2743200"/>
          </a:xfrm>
          <a:prstGeom prst="roundRect">
            <a:avLst>
              <a:gd name="adj" fmla="val 2667"/>
            </a:avLst>
          </a:prstGeom>
          <a:solidFill>
            <a:schemeClr val="bg2"/>
          </a:solidFill>
          <a:ln/>
          <a:effectLst>
            <a:outerShdw sx="100000" sy="100000" kx="0" ky="0" algn="bl" rotWithShape="0" blurRad="101600" dist="25400" dir="5400000">
              <a:srgbClr val="000000">
                <a:alpha val="12000"/>
              </a:srgbClr>
            </a:outerShdw>
          </a:effectLst>
        </p:spPr>
      </p:sp>
      <p:sp>
        <p:nvSpPr>
          <p:cNvPr id="10" name="Application logic icon bg"/>
          <p:cNvSpPr/>
          <p:nvPr/>
        </p:nvSpPr>
        <p:spPr>
          <a:xfrm>
            <a:off x="4724248" y="1783080"/>
            <a:ext cx="640080" cy="640080"/>
          </a:xfrm>
          <a:prstGeom prst="ellipse">
            <a:avLst/>
          </a:prstGeom>
          <a:solidFill>
            <a:schemeClr val="accent1"/>
          </a:solidFill>
          <a:ln/>
        </p:spPr>
      </p:sp>
      <p:pic>
        <p:nvPicPr>
          <p:cNvPr id="11" name="Application logic icon" descr="Application logic icon">    </p:cNvPr>
          <p:cNvPicPr>
            <a:picLocks noChangeAspect="1"/>
          </p:cNvPicPr>
          <p:nvPr/>
        </p:nvPicPr>
        <p:blipFill>
          <a:blip r:embed="rId2"/>
          <a:stretch>
            <a:fillRect/>
          </a:stretch>
        </p:blipFill>
        <p:spPr>
          <a:xfrm>
            <a:off x="4890668" y="1949501"/>
            <a:ext cx="307238" cy="307238"/>
          </a:xfrm>
          <a:prstGeom prst="rect">
            <a:avLst/>
          </a:prstGeom>
        </p:spPr>
      </p:pic>
      <p:sp>
        <p:nvSpPr>
          <p:cNvPr id="12" name="Text 8"/>
          <p:cNvSpPr txBox="1"/>
          <p:nvPr/>
        </p:nvSpPr>
        <p:spPr>
          <a:xfrm>
            <a:off x="5547208" y="18745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Application logic</a:t>
            </a:r>
            <a:endParaRPr lang="en-US" sz="2000" dirty="0"/>
          </a:p>
        </p:txBody>
      </p:sp>
      <p:sp>
        <p:nvSpPr>
          <p:cNvPr id="13" name="Text 9"/>
          <p:cNvSpPr txBox="1"/>
          <p:nvPr/>
        </p:nvSpPr>
        <p:spPr>
          <a:xfrm>
            <a:off x="4724248" y="269748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Roster, attendance, leave and report modules</a:t>
            </a:r>
            <a:endParaRPr lang="en-US" sz="1500" dirty="0"/>
          </a:p>
          <a:p>
            <a:pPr marL="342900" indent="-342900">
              <a:spcAft>
                <a:spcPts val="600"/>
              </a:spcAft>
              <a:buSzPct val="100000"/>
              <a:buChar char="•"/>
            </a:pPr>
            <a:r>
              <a:rPr lang="en-US" sz="1500" dirty="0">
                <a:solidFill>
                  <a:schemeClr val="tx1"/>
                </a:solidFill>
              </a:rPr>
              <a:t>Work-hour and overtime calculation</a:t>
            </a:r>
            <a:endParaRPr lang="en-US" sz="1500" dirty="0"/>
          </a:p>
          <a:p>
            <a:pPr marL="342900" indent="-342900">
              <a:spcAft>
                <a:spcPts val="600"/>
              </a:spcAft>
              <a:buSzPct val="100000"/>
              <a:buChar char="•"/>
            </a:pPr>
            <a:r>
              <a:rPr lang="en-US" sz="1500" dirty="0">
                <a:solidFill>
                  <a:schemeClr val="tx1"/>
                </a:solidFill>
              </a:rPr>
              <a:t>Error handling and user messages</a:t>
            </a:r>
            <a:endParaRPr lang="en-US" sz="1500" dirty="0"/>
          </a:p>
        </p:txBody>
      </p:sp>
      <p:sp>
        <p:nvSpPr>
          <p:cNvPr id="14" name="arrow 2"/>
          <p:cNvSpPr/>
          <p:nvPr/>
        </p:nvSpPr>
        <p:spPr>
          <a:xfrm>
            <a:off x="7814920" y="2697480"/>
            <a:ext cx="463144" cy="411480"/>
          </a:xfrm>
          <a:prstGeom prst="rightArrow">
            <a:avLst/>
          </a:prstGeom>
          <a:solidFill>
            <a:schemeClr val="accent2"/>
          </a:solidFill>
          <a:ln/>
        </p:spPr>
      </p:sp>
      <p:sp>
        <p:nvSpPr>
          <p:cNvPr id="15" name="tier 3"/>
          <p:cNvSpPr/>
          <p:nvPr/>
        </p:nvSpPr>
        <p:spPr>
          <a:xfrm>
            <a:off x="8351215" y="1554480"/>
            <a:ext cx="3291840" cy="2743200"/>
          </a:xfrm>
          <a:prstGeom prst="roundRect">
            <a:avLst>
              <a:gd name="adj" fmla="val 2667"/>
            </a:avLst>
          </a:prstGeom>
          <a:solidFill>
            <a:schemeClr val="bg2"/>
          </a:solidFill>
          <a:ln/>
          <a:effectLst>
            <a:outerShdw sx="100000" sy="100000" kx="0" ky="0" algn="bl" rotWithShape="0" blurRad="101600" dist="25400" dir="5400000">
              <a:srgbClr val="000000">
                <a:alpha val="12000"/>
              </a:srgbClr>
            </a:outerShdw>
          </a:effectLst>
        </p:spPr>
      </p:sp>
      <p:sp>
        <p:nvSpPr>
          <p:cNvPr id="16" name="MySQL database icon bg"/>
          <p:cNvSpPr/>
          <p:nvPr/>
        </p:nvSpPr>
        <p:spPr>
          <a:xfrm>
            <a:off x="8625535" y="1783080"/>
            <a:ext cx="640080" cy="640080"/>
          </a:xfrm>
          <a:prstGeom prst="ellipse">
            <a:avLst/>
          </a:prstGeom>
          <a:solidFill>
            <a:schemeClr val="accent1"/>
          </a:solidFill>
          <a:ln/>
        </p:spPr>
      </p:sp>
      <p:pic>
        <p:nvPicPr>
          <p:cNvPr id="17" name="MySQL database icon" descr="MySQL database icon">    </p:cNvPr>
          <p:cNvPicPr>
            <a:picLocks noChangeAspect="1"/>
          </p:cNvPicPr>
          <p:nvPr/>
        </p:nvPicPr>
        <p:blipFill>
          <a:blip r:embed="rId3"/>
          <a:stretch>
            <a:fillRect/>
          </a:stretch>
        </p:blipFill>
        <p:spPr>
          <a:xfrm>
            <a:off x="8791956" y="1949501"/>
            <a:ext cx="307238" cy="307238"/>
          </a:xfrm>
          <a:prstGeom prst="rect">
            <a:avLst/>
          </a:prstGeom>
        </p:spPr>
      </p:pic>
      <p:sp>
        <p:nvSpPr>
          <p:cNvPr id="18" name="Text 13"/>
          <p:cNvSpPr txBox="1"/>
          <p:nvPr/>
        </p:nvSpPr>
        <p:spPr>
          <a:xfrm>
            <a:off x="9448495" y="1874520"/>
            <a:ext cx="2011680" cy="457200"/>
          </a:xfrm>
          <a:prstGeom prst="rect">
            <a:avLst/>
          </a:prstGeom>
          <a:noFill/>
          <a:ln/>
        </p:spPr>
        <p:txBody>
          <a:bodyPr wrap="square" lIns="0" tIns="0" rIns="0" bIns="0" rtlCol="0" anchor="ctr"/>
          <a:lstStyle/>
          <a:p>
            <a:pPr indent="0" marL="0">
              <a:buNone/>
            </a:pPr>
            <a:r>
              <a:rPr lang="en-US" sz="2000" b="1" dirty="0">
                <a:solidFill>
                  <a:schemeClr val="tx2"/>
                </a:solidFill>
              </a:rPr>
              <a:t>MySQL database</a:t>
            </a:r>
            <a:endParaRPr lang="en-US" sz="2000" dirty="0"/>
          </a:p>
        </p:txBody>
      </p:sp>
      <p:sp>
        <p:nvSpPr>
          <p:cNvPr id="19" name="Text 14"/>
          <p:cNvSpPr txBox="1"/>
          <p:nvPr/>
        </p:nvSpPr>
        <p:spPr>
          <a:xfrm>
            <a:off x="8625535" y="2697480"/>
            <a:ext cx="2743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12 normalised tables</a:t>
            </a:r>
            <a:endParaRPr lang="en-US" sz="1500" dirty="0"/>
          </a:p>
          <a:p>
            <a:pPr marL="342900" indent="-342900">
              <a:spcAft>
                <a:spcPts val="600"/>
              </a:spcAft>
              <a:buSzPct val="100000"/>
              <a:buChar char="•"/>
            </a:pPr>
            <a:r>
              <a:rPr lang="en-US" sz="1500" dirty="0">
                <a:solidFill>
                  <a:schemeClr val="tx1"/>
                </a:solidFill>
              </a:rPr>
              <a:t>Constraints, triggers, indexes, views</a:t>
            </a:r>
            <a:endParaRPr lang="en-US" sz="1500" dirty="0"/>
          </a:p>
          <a:p>
            <a:pPr marL="342900" indent="-342900">
              <a:spcAft>
                <a:spcPts val="600"/>
              </a:spcAft>
              <a:buSzPct val="100000"/>
              <a:buChar char="•"/>
            </a:pPr>
            <a:r>
              <a:rPr lang="en-US" sz="1500" dirty="0">
                <a:solidFill>
                  <a:schemeClr val="tx1"/>
                </a:solidFill>
              </a:rPr>
              <a:t>Sample and test data</a:t>
            </a:r>
            <a:endParaRPr lang="en-US" sz="1500" dirty="0"/>
          </a:p>
        </p:txBody>
      </p:sp>
      <p:sp>
        <p:nvSpPr>
          <p:cNvPr id="20" name="practice 1"/>
          <p:cNvSpPr/>
          <p:nvPr/>
        </p:nvSpPr>
        <p:spPr>
          <a:xfrm>
            <a:off x="548640" y="4663440"/>
            <a:ext cx="3515258" cy="1417320"/>
          </a:xfrm>
          <a:prstGeom prst="roundRect">
            <a:avLst>
              <a:gd name="adj" fmla="val 5161"/>
            </a:avLst>
          </a:prstGeom>
          <a:solidFill>
            <a:schemeClr val="tx2"/>
          </a:solidFill>
          <a:ln/>
        </p:spPr>
      </p:sp>
      <p:sp>
        <p:nvSpPr>
          <p:cNvPr id="21" name="Parameterised queries icon bg"/>
          <p:cNvSpPr/>
          <p:nvPr/>
        </p:nvSpPr>
        <p:spPr>
          <a:xfrm>
            <a:off x="822960" y="5029200"/>
            <a:ext cx="640080" cy="640080"/>
          </a:xfrm>
          <a:prstGeom prst="ellipse">
            <a:avLst/>
          </a:prstGeom>
          <a:solidFill>
            <a:schemeClr val="accent1"/>
          </a:solidFill>
          <a:ln/>
        </p:spPr>
      </p:sp>
      <p:pic>
        <p:nvPicPr>
          <p:cNvPr id="22" name="Parameterised queries icon" descr="Parameterised queries icon">    </p:cNvPr>
          <p:cNvPicPr>
            <a:picLocks noChangeAspect="1"/>
          </p:cNvPicPr>
          <p:nvPr/>
        </p:nvPicPr>
        <p:blipFill>
          <a:blip r:embed="rId4"/>
          <a:stretch>
            <a:fillRect/>
          </a:stretch>
        </p:blipFill>
        <p:spPr>
          <a:xfrm>
            <a:off x="989381" y="5195621"/>
            <a:ext cx="307238" cy="307238"/>
          </a:xfrm>
          <a:prstGeom prst="rect">
            <a:avLst/>
          </a:prstGeom>
        </p:spPr>
      </p:pic>
      <p:sp>
        <p:nvSpPr>
          <p:cNvPr id="23" name="Text 17"/>
          <p:cNvSpPr txBox="1"/>
          <p:nvPr/>
        </p:nvSpPr>
        <p:spPr>
          <a:xfrm>
            <a:off x="1645920" y="4937760"/>
            <a:ext cx="2235098" cy="365760"/>
          </a:xfrm>
          <a:prstGeom prst="rect">
            <a:avLst/>
          </a:prstGeom>
          <a:noFill/>
          <a:ln/>
        </p:spPr>
        <p:txBody>
          <a:bodyPr wrap="square" lIns="0" tIns="0" rIns="0" bIns="0" rtlCol="0" anchor="t"/>
          <a:lstStyle/>
          <a:p>
            <a:pPr indent="0" marL="0">
              <a:buNone/>
            </a:pPr>
            <a:r>
              <a:rPr lang="en-US" sz="1800" b="1" dirty="0">
                <a:solidFill>
                  <a:schemeClr val="bg1"/>
                </a:solidFill>
              </a:rPr>
              <a:t>Parameterised queries</a:t>
            </a:r>
            <a:endParaRPr lang="en-US" sz="1800" dirty="0"/>
          </a:p>
        </p:txBody>
      </p:sp>
      <p:sp>
        <p:nvSpPr>
          <p:cNvPr id="24" name="Text 18"/>
          <p:cNvSpPr txBox="1"/>
          <p:nvPr/>
        </p:nvSpPr>
        <p:spPr>
          <a:xfrm>
            <a:off x="1645920" y="5321808"/>
            <a:ext cx="2235098" cy="640080"/>
          </a:xfrm>
          <a:prstGeom prst="rect">
            <a:avLst/>
          </a:prstGeom>
          <a:noFill/>
          <a:ln/>
        </p:spPr>
        <p:txBody>
          <a:bodyPr wrap="square" lIns="0" tIns="0" rIns="0" bIns="0" rtlCol="0" anchor="t"/>
          <a:lstStyle/>
          <a:p>
            <a:pPr indent="0" marL="0">
              <a:buNone/>
            </a:pPr>
            <a:r>
              <a:rPr lang="en-US" sz="1400" dirty="0">
                <a:solidFill>
                  <a:schemeClr val="accent6"/>
                </a:solidFill>
              </a:rPr>
              <a:t>No SQL built from raw user input</a:t>
            </a:r>
            <a:endParaRPr lang="en-US" sz="1400" dirty="0"/>
          </a:p>
        </p:txBody>
      </p:sp>
      <p:sp>
        <p:nvSpPr>
          <p:cNvPr id="25" name="practice 2"/>
          <p:cNvSpPr/>
          <p:nvPr/>
        </p:nvSpPr>
        <p:spPr>
          <a:xfrm>
            <a:off x="4338218" y="4663440"/>
            <a:ext cx="3515258" cy="1417320"/>
          </a:xfrm>
          <a:prstGeom prst="roundRect">
            <a:avLst>
              <a:gd name="adj" fmla="val 5161"/>
            </a:avLst>
          </a:prstGeom>
          <a:solidFill>
            <a:schemeClr val="tx2"/>
          </a:solidFill>
          <a:ln/>
        </p:spPr>
      </p:sp>
      <p:sp>
        <p:nvSpPr>
          <p:cNvPr id="26" name="Transactions icon bg"/>
          <p:cNvSpPr/>
          <p:nvPr/>
        </p:nvSpPr>
        <p:spPr>
          <a:xfrm>
            <a:off x="4612538" y="5029200"/>
            <a:ext cx="640080" cy="640080"/>
          </a:xfrm>
          <a:prstGeom prst="ellipse">
            <a:avLst/>
          </a:prstGeom>
          <a:solidFill>
            <a:schemeClr val="accent1"/>
          </a:solidFill>
          <a:ln/>
        </p:spPr>
      </p:sp>
      <p:pic>
        <p:nvPicPr>
          <p:cNvPr id="27" name="Transactions icon" descr="Transactions icon">    </p:cNvPr>
          <p:cNvPicPr>
            <a:picLocks noChangeAspect="1"/>
          </p:cNvPicPr>
          <p:nvPr/>
        </p:nvPicPr>
        <p:blipFill>
          <a:blip r:embed="rId5"/>
          <a:stretch>
            <a:fillRect/>
          </a:stretch>
        </p:blipFill>
        <p:spPr>
          <a:xfrm>
            <a:off x="4778959" y="5195621"/>
            <a:ext cx="307238" cy="307238"/>
          </a:xfrm>
          <a:prstGeom prst="rect">
            <a:avLst/>
          </a:prstGeom>
        </p:spPr>
      </p:pic>
      <p:sp>
        <p:nvSpPr>
          <p:cNvPr id="28" name="Text 21"/>
          <p:cNvSpPr txBox="1"/>
          <p:nvPr/>
        </p:nvSpPr>
        <p:spPr>
          <a:xfrm>
            <a:off x="5435498" y="4937760"/>
            <a:ext cx="2235098" cy="365760"/>
          </a:xfrm>
          <a:prstGeom prst="rect">
            <a:avLst/>
          </a:prstGeom>
          <a:noFill/>
          <a:ln/>
        </p:spPr>
        <p:txBody>
          <a:bodyPr wrap="square" lIns="0" tIns="0" rIns="0" bIns="0" rtlCol="0" anchor="t"/>
          <a:lstStyle/>
          <a:p>
            <a:pPr indent="0" marL="0">
              <a:buNone/>
            </a:pPr>
            <a:r>
              <a:rPr lang="en-US" sz="1800" b="1" dirty="0">
                <a:solidFill>
                  <a:schemeClr val="bg1"/>
                </a:solidFill>
              </a:rPr>
              <a:t>Transactions</a:t>
            </a:r>
            <a:endParaRPr lang="en-US" sz="1800" dirty="0"/>
          </a:p>
        </p:txBody>
      </p:sp>
      <p:sp>
        <p:nvSpPr>
          <p:cNvPr id="29" name="Text 22"/>
          <p:cNvSpPr txBox="1"/>
          <p:nvPr/>
        </p:nvSpPr>
        <p:spPr>
          <a:xfrm>
            <a:off x="5435498" y="5321808"/>
            <a:ext cx="2235098" cy="640080"/>
          </a:xfrm>
          <a:prstGeom prst="rect">
            <a:avLst/>
          </a:prstGeom>
          <a:noFill/>
          <a:ln/>
        </p:spPr>
        <p:txBody>
          <a:bodyPr wrap="square" lIns="0" tIns="0" rIns="0" bIns="0" rtlCol="0" anchor="t"/>
          <a:lstStyle/>
          <a:p>
            <a:pPr indent="0" marL="0">
              <a:buNone/>
            </a:pPr>
            <a:r>
              <a:rPr lang="en-US" sz="1400" dirty="0">
                <a:solidFill>
                  <a:schemeClr val="accent6"/>
                </a:solidFill>
              </a:rPr>
              <a:t>Commit on success, rollback on any error</a:t>
            </a:r>
            <a:endParaRPr lang="en-US" sz="1400" dirty="0"/>
          </a:p>
        </p:txBody>
      </p:sp>
      <p:sp>
        <p:nvSpPr>
          <p:cNvPr id="30" name="practice 3"/>
          <p:cNvSpPr/>
          <p:nvPr/>
        </p:nvSpPr>
        <p:spPr>
          <a:xfrm>
            <a:off x="8127797" y="4663440"/>
            <a:ext cx="3515258" cy="1417320"/>
          </a:xfrm>
          <a:prstGeom prst="roundRect">
            <a:avLst>
              <a:gd name="adj" fmla="val 5161"/>
            </a:avLst>
          </a:prstGeom>
          <a:solidFill>
            <a:schemeClr val="tx2"/>
          </a:solidFill>
          <a:ln/>
        </p:spPr>
      </p:sp>
      <p:sp>
        <p:nvSpPr>
          <p:cNvPr id="31" name="Indexes icon bg"/>
          <p:cNvSpPr/>
          <p:nvPr/>
        </p:nvSpPr>
        <p:spPr>
          <a:xfrm>
            <a:off x="8402117" y="5029200"/>
            <a:ext cx="640080" cy="640080"/>
          </a:xfrm>
          <a:prstGeom prst="ellipse">
            <a:avLst/>
          </a:prstGeom>
          <a:solidFill>
            <a:schemeClr val="accent1"/>
          </a:solidFill>
          <a:ln/>
        </p:spPr>
      </p:sp>
      <p:pic>
        <p:nvPicPr>
          <p:cNvPr id="32" name="Indexes icon" descr="Indexes icon">    </p:cNvPr>
          <p:cNvPicPr>
            <a:picLocks noChangeAspect="1"/>
          </p:cNvPicPr>
          <p:nvPr/>
        </p:nvPicPr>
        <p:blipFill>
          <a:blip r:embed="rId6"/>
          <a:stretch>
            <a:fillRect/>
          </a:stretch>
        </p:blipFill>
        <p:spPr>
          <a:xfrm>
            <a:off x="8568538" y="5195621"/>
            <a:ext cx="307238" cy="307238"/>
          </a:xfrm>
          <a:prstGeom prst="rect">
            <a:avLst/>
          </a:prstGeom>
        </p:spPr>
      </p:pic>
      <p:sp>
        <p:nvSpPr>
          <p:cNvPr id="33" name="Text 25"/>
          <p:cNvSpPr txBox="1"/>
          <p:nvPr/>
        </p:nvSpPr>
        <p:spPr>
          <a:xfrm>
            <a:off x="9225077" y="4937760"/>
            <a:ext cx="2235098" cy="365760"/>
          </a:xfrm>
          <a:prstGeom prst="rect">
            <a:avLst/>
          </a:prstGeom>
          <a:noFill/>
          <a:ln/>
        </p:spPr>
        <p:txBody>
          <a:bodyPr wrap="square" lIns="0" tIns="0" rIns="0" bIns="0" rtlCol="0" anchor="t"/>
          <a:lstStyle/>
          <a:p>
            <a:pPr indent="0" marL="0">
              <a:buNone/>
            </a:pPr>
            <a:r>
              <a:rPr lang="en-US" sz="1800" b="1" dirty="0">
                <a:solidFill>
                  <a:schemeClr val="bg1"/>
                </a:solidFill>
              </a:rPr>
              <a:t>Indexes</a:t>
            </a:r>
            <a:endParaRPr lang="en-US" sz="1800" dirty="0"/>
          </a:p>
        </p:txBody>
      </p:sp>
      <p:sp>
        <p:nvSpPr>
          <p:cNvPr id="34" name="Text 26"/>
          <p:cNvSpPr txBox="1"/>
          <p:nvPr/>
        </p:nvSpPr>
        <p:spPr>
          <a:xfrm>
            <a:off x="9225077" y="5321808"/>
            <a:ext cx="2235098" cy="640080"/>
          </a:xfrm>
          <a:prstGeom prst="rect">
            <a:avLst/>
          </a:prstGeom>
          <a:noFill/>
          <a:ln/>
        </p:spPr>
        <p:txBody>
          <a:bodyPr wrap="square" lIns="0" tIns="0" rIns="0" bIns="0" rtlCol="0" anchor="t"/>
          <a:lstStyle/>
          <a:p>
            <a:pPr indent="0" marL="0">
              <a:buNone/>
            </a:pPr>
            <a:r>
              <a:rPr lang="en-US" sz="1400" dirty="0">
                <a:solidFill>
                  <a:schemeClr val="accent6"/>
                </a:solidFill>
              </a:rPr>
              <a:t>On emp_id, work_date and status columns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Application modules</a:t>
            </a:r>
            <a:endParaRPr lang="en-US" sz="3400" dirty="0"/>
          </a:p>
        </p:txBody>
      </p:sp>
      <p:sp>
        <p:nvSpPr>
          <p:cNvPr id="3" name="module card 1"/>
          <p:cNvSpPr/>
          <p:nvPr/>
        </p:nvSpPr>
        <p:spPr>
          <a:xfrm>
            <a:off x="548640" y="1463040"/>
            <a:ext cx="2567864" cy="2194560"/>
          </a:xfrm>
          <a:prstGeom prst="roundRect">
            <a:avLst>
              <a:gd name="adj" fmla="val 3333"/>
            </a:avLst>
          </a:prstGeom>
          <a:solidFill>
            <a:schemeClr val="bg2"/>
          </a:solidFill>
          <a:ln/>
        </p:spPr>
      </p:sp>
      <p:sp>
        <p:nvSpPr>
          <p:cNvPr id="4" name="Roster preparation icon bg"/>
          <p:cNvSpPr/>
          <p:nvPr/>
        </p:nvSpPr>
        <p:spPr>
          <a:xfrm>
            <a:off x="822960" y="1691640"/>
            <a:ext cx="594360" cy="594360"/>
          </a:xfrm>
          <a:prstGeom prst="ellipse">
            <a:avLst/>
          </a:prstGeom>
          <a:solidFill>
            <a:schemeClr val="accent1"/>
          </a:solidFill>
          <a:ln/>
        </p:spPr>
      </p:sp>
      <p:pic>
        <p:nvPicPr>
          <p:cNvPr id="5" name="Roster preparation icon" descr="Roster preparation icon">    </p:cNvPr>
          <p:cNvPicPr>
            <a:picLocks noChangeAspect="1"/>
          </p:cNvPicPr>
          <p:nvPr/>
        </p:nvPicPr>
        <p:blipFill>
          <a:blip r:embed="rId1"/>
          <a:stretch>
            <a:fillRect/>
          </a:stretch>
        </p:blipFill>
        <p:spPr>
          <a:xfrm>
            <a:off x="977494" y="1846174"/>
            <a:ext cx="285293" cy="285293"/>
          </a:xfrm>
          <a:prstGeom prst="rect">
            <a:avLst/>
          </a:prstGeom>
        </p:spPr>
      </p:pic>
      <p:sp>
        <p:nvSpPr>
          <p:cNvPr id="6" name="Text 3"/>
          <p:cNvSpPr txBox="1"/>
          <p:nvPr/>
        </p:nvSpPr>
        <p:spPr>
          <a:xfrm>
            <a:off x="822960" y="2423160"/>
            <a:ext cx="2110664" cy="457200"/>
          </a:xfrm>
          <a:prstGeom prst="rect">
            <a:avLst/>
          </a:prstGeom>
          <a:noFill/>
          <a:ln/>
        </p:spPr>
        <p:txBody>
          <a:bodyPr wrap="square" lIns="0" tIns="0" rIns="0" bIns="0" rtlCol="0" anchor="t"/>
          <a:lstStyle/>
          <a:p>
            <a:pPr indent="0" marL="0">
              <a:buNone/>
            </a:pPr>
            <a:r>
              <a:rPr lang="en-US" sz="1700" b="1" dirty="0">
                <a:solidFill>
                  <a:schemeClr val="tx2"/>
                </a:solidFill>
              </a:rPr>
              <a:t>Roster preparation</a:t>
            </a:r>
            <a:endParaRPr lang="en-US" sz="1700" dirty="0"/>
          </a:p>
        </p:txBody>
      </p:sp>
      <p:sp>
        <p:nvSpPr>
          <p:cNvPr id="7" name="Text 4"/>
          <p:cNvSpPr txBox="1"/>
          <p:nvPr/>
        </p:nvSpPr>
        <p:spPr>
          <a:xfrm>
            <a:off x="822960" y="2834640"/>
            <a:ext cx="2110664" cy="731520"/>
          </a:xfrm>
          <a:prstGeom prst="rect">
            <a:avLst/>
          </a:prstGeom>
          <a:noFill/>
          <a:ln/>
        </p:spPr>
        <p:txBody>
          <a:bodyPr wrap="square" lIns="0" tIns="0" rIns="0" bIns="0" rtlCol="0" anchor="t"/>
          <a:lstStyle/>
          <a:p>
            <a:pPr indent="0" marL="0">
              <a:buNone/>
            </a:pPr>
            <a:r>
              <a:rPr lang="en-US" sz="1400" dirty="0">
                <a:solidFill>
                  <a:schemeClr val="tx1"/>
                </a:solidFill>
              </a:rPr>
              <a:t>Assign shifts to employees by date; clashes are rejected.</a:t>
            </a:r>
            <a:endParaRPr lang="en-US" sz="1400" dirty="0"/>
          </a:p>
        </p:txBody>
      </p:sp>
      <p:sp>
        <p:nvSpPr>
          <p:cNvPr id="8" name="module card 2"/>
          <p:cNvSpPr/>
          <p:nvPr/>
        </p:nvSpPr>
        <p:spPr>
          <a:xfrm>
            <a:off x="3390824" y="1463040"/>
            <a:ext cx="2567864" cy="2194560"/>
          </a:xfrm>
          <a:prstGeom prst="roundRect">
            <a:avLst>
              <a:gd name="adj" fmla="val 3333"/>
            </a:avLst>
          </a:prstGeom>
          <a:solidFill>
            <a:schemeClr val="bg2"/>
          </a:solidFill>
          <a:ln/>
        </p:spPr>
      </p:sp>
      <p:sp>
        <p:nvSpPr>
          <p:cNvPr id="9" name="Clock-in / out icon bg"/>
          <p:cNvSpPr/>
          <p:nvPr/>
        </p:nvSpPr>
        <p:spPr>
          <a:xfrm>
            <a:off x="3665144" y="1691640"/>
            <a:ext cx="594360" cy="594360"/>
          </a:xfrm>
          <a:prstGeom prst="ellipse">
            <a:avLst/>
          </a:prstGeom>
          <a:solidFill>
            <a:schemeClr val="accent1"/>
          </a:solidFill>
          <a:ln/>
        </p:spPr>
      </p:sp>
      <p:pic>
        <p:nvPicPr>
          <p:cNvPr id="10" name="Clock-in / out icon" descr="Clock-in / out icon">    </p:cNvPr>
          <p:cNvPicPr>
            <a:picLocks noChangeAspect="1"/>
          </p:cNvPicPr>
          <p:nvPr/>
        </p:nvPicPr>
        <p:blipFill>
          <a:blip r:embed="rId2"/>
          <a:stretch>
            <a:fillRect/>
          </a:stretch>
        </p:blipFill>
        <p:spPr>
          <a:xfrm>
            <a:off x="3819677" y="1846174"/>
            <a:ext cx="285293" cy="285293"/>
          </a:xfrm>
          <a:prstGeom prst="rect">
            <a:avLst/>
          </a:prstGeom>
        </p:spPr>
      </p:pic>
      <p:sp>
        <p:nvSpPr>
          <p:cNvPr id="11" name="Text 7"/>
          <p:cNvSpPr txBox="1"/>
          <p:nvPr/>
        </p:nvSpPr>
        <p:spPr>
          <a:xfrm>
            <a:off x="3665144" y="2423160"/>
            <a:ext cx="2110664" cy="457200"/>
          </a:xfrm>
          <a:prstGeom prst="rect">
            <a:avLst/>
          </a:prstGeom>
          <a:noFill/>
          <a:ln/>
        </p:spPr>
        <p:txBody>
          <a:bodyPr wrap="square" lIns="0" tIns="0" rIns="0" bIns="0" rtlCol="0" anchor="t"/>
          <a:lstStyle/>
          <a:p>
            <a:pPr indent="0" marL="0">
              <a:buNone/>
            </a:pPr>
            <a:r>
              <a:rPr lang="en-US" sz="1700" b="1" dirty="0">
                <a:solidFill>
                  <a:schemeClr val="tx2"/>
                </a:solidFill>
              </a:rPr>
              <a:t>Clock-in / out</a:t>
            </a:r>
            <a:endParaRPr lang="en-US" sz="1700" dirty="0"/>
          </a:p>
        </p:txBody>
      </p:sp>
      <p:sp>
        <p:nvSpPr>
          <p:cNvPr id="12" name="Text 8"/>
          <p:cNvSpPr txBox="1"/>
          <p:nvPr/>
        </p:nvSpPr>
        <p:spPr>
          <a:xfrm>
            <a:off x="3665144" y="2834640"/>
            <a:ext cx="2110664" cy="731520"/>
          </a:xfrm>
          <a:prstGeom prst="rect">
            <a:avLst/>
          </a:prstGeom>
          <a:noFill/>
          <a:ln/>
        </p:spPr>
        <p:txBody>
          <a:bodyPr wrap="square" lIns="0" tIns="0" rIns="0" bIns="0" rtlCol="0" anchor="t"/>
          <a:lstStyle/>
          <a:p>
            <a:pPr indent="0" marL="0">
              <a:buNone/>
            </a:pPr>
            <a:r>
              <a:rPr lang="en-US" sz="1400" dirty="0">
                <a:solidFill>
                  <a:schemeClr val="tx1"/>
                </a:solidFill>
              </a:rPr>
              <a:t>Record punches against the rostered shift.</a:t>
            </a:r>
            <a:endParaRPr lang="en-US" sz="1400" dirty="0"/>
          </a:p>
        </p:txBody>
      </p:sp>
      <p:sp>
        <p:nvSpPr>
          <p:cNvPr id="13" name="module card 3"/>
          <p:cNvSpPr/>
          <p:nvPr/>
        </p:nvSpPr>
        <p:spPr>
          <a:xfrm>
            <a:off x="6233008" y="1463040"/>
            <a:ext cx="2567864" cy="2194560"/>
          </a:xfrm>
          <a:prstGeom prst="roundRect">
            <a:avLst>
              <a:gd name="adj" fmla="val 3333"/>
            </a:avLst>
          </a:prstGeom>
          <a:solidFill>
            <a:schemeClr val="bg2"/>
          </a:solidFill>
          <a:ln/>
        </p:spPr>
      </p:sp>
      <p:sp>
        <p:nvSpPr>
          <p:cNvPr id="14" name="Work-hour calculation icon bg"/>
          <p:cNvSpPr/>
          <p:nvPr/>
        </p:nvSpPr>
        <p:spPr>
          <a:xfrm>
            <a:off x="6507328" y="1691640"/>
            <a:ext cx="594360" cy="594360"/>
          </a:xfrm>
          <a:prstGeom prst="ellipse">
            <a:avLst/>
          </a:prstGeom>
          <a:solidFill>
            <a:schemeClr val="accent1"/>
          </a:solidFill>
          <a:ln/>
        </p:spPr>
      </p:sp>
      <p:pic>
        <p:nvPicPr>
          <p:cNvPr id="15" name="Work-hour calculation icon" descr="Work-hour calculation icon">    </p:cNvPr>
          <p:cNvPicPr>
            <a:picLocks noChangeAspect="1"/>
          </p:cNvPicPr>
          <p:nvPr/>
        </p:nvPicPr>
        <p:blipFill>
          <a:blip r:embed="rId3"/>
          <a:stretch>
            <a:fillRect/>
          </a:stretch>
        </p:blipFill>
        <p:spPr>
          <a:xfrm>
            <a:off x="6661861" y="1846174"/>
            <a:ext cx="285293" cy="285293"/>
          </a:xfrm>
          <a:prstGeom prst="rect">
            <a:avLst/>
          </a:prstGeom>
        </p:spPr>
      </p:pic>
      <p:sp>
        <p:nvSpPr>
          <p:cNvPr id="16" name="Text 11"/>
          <p:cNvSpPr txBox="1"/>
          <p:nvPr/>
        </p:nvSpPr>
        <p:spPr>
          <a:xfrm>
            <a:off x="6507328" y="2423160"/>
            <a:ext cx="2110664" cy="457200"/>
          </a:xfrm>
          <a:prstGeom prst="rect">
            <a:avLst/>
          </a:prstGeom>
          <a:noFill/>
          <a:ln/>
        </p:spPr>
        <p:txBody>
          <a:bodyPr wrap="square" lIns="0" tIns="0" rIns="0" bIns="0" rtlCol="0" anchor="t"/>
          <a:lstStyle/>
          <a:p>
            <a:pPr indent="0" marL="0">
              <a:buNone/>
            </a:pPr>
            <a:r>
              <a:rPr lang="en-US" sz="1700" b="1" dirty="0">
                <a:solidFill>
                  <a:schemeClr val="tx2"/>
                </a:solidFill>
              </a:rPr>
              <a:t>Work-hour calculation</a:t>
            </a:r>
            <a:endParaRPr lang="en-US" sz="1700" dirty="0"/>
          </a:p>
        </p:txBody>
      </p:sp>
      <p:sp>
        <p:nvSpPr>
          <p:cNvPr id="17" name="Text 12"/>
          <p:cNvSpPr txBox="1"/>
          <p:nvPr/>
        </p:nvSpPr>
        <p:spPr>
          <a:xfrm>
            <a:off x="6507328" y="2834640"/>
            <a:ext cx="2110664" cy="731520"/>
          </a:xfrm>
          <a:prstGeom prst="rect">
            <a:avLst/>
          </a:prstGeom>
          <a:noFill/>
          <a:ln/>
        </p:spPr>
        <p:txBody>
          <a:bodyPr wrap="square" lIns="0" tIns="0" rIns="0" bIns="0" rtlCol="0" anchor="t"/>
          <a:lstStyle/>
          <a:p>
            <a:pPr indent="0" marL="0">
              <a:buNone/>
            </a:pPr>
            <a:r>
              <a:rPr lang="en-US" sz="1400" dirty="0">
                <a:solidFill>
                  <a:schemeClr val="tx1"/>
                </a:solidFill>
              </a:rPr>
              <a:t>Hours, late minutes and overtime computed per day.</a:t>
            </a:r>
            <a:endParaRPr lang="en-US" sz="1400" dirty="0"/>
          </a:p>
        </p:txBody>
      </p:sp>
      <p:sp>
        <p:nvSpPr>
          <p:cNvPr id="18" name="module card 4"/>
          <p:cNvSpPr/>
          <p:nvPr/>
        </p:nvSpPr>
        <p:spPr>
          <a:xfrm>
            <a:off x="9075191" y="1463040"/>
            <a:ext cx="2567864" cy="2194560"/>
          </a:xfrm>
          <a:prstGeom prst="roundRect">
            <a:avLst>
              <a:gd name="adj" fmla="val 3333"/>
            </a:avLst>
          </a:prstGeom>
          <a:solidFill>
            <a:schemeClr val="bg2"/>
          </a:solidFill>
          <a:ln/>
        </p:spPr>
      </p:sp>
      <p:sp>
        <p:nvSpPr>
          <p:cNvPr id="19" name="Overtime approval icon bg"/>
          <p:cNvSpPr/>
          <p:nvPr/>
        </p:nvSpPr>
        <p:spPr>
          <a:xfrm>
            <a:off x="9349511" y="1691640"/>
            <a:ext cx="594360" cy="594360"/>
          </a:xfrm>
          <a:prstGeom prst="ellipse">
            <a:avLst/>
          </a:prstGeom>
          <a:solidFill>
            <a:schemeClr val="accent1"/>
          </a:solidFill>
          <a:ln/>
        </p:spPr>
      </p:sp>
      <p:pic>
        <p:nvPicPr>
          <p:cNvPr id="20" name="Overtime approval icon" descr="Overtime approval icon">    </p:cNvPr>
          <p:cNvPicPr>
            <a:picLocks noChangeAspect="1"/>
          </p:cNvPicPr>
          <p:nvPr/>
        </p:nvPicPr>
        <p:blipFill>
          <a:blip r:embed="rId4"/>
          <a:stretch>
            <a:fillRect/>
          </a:stretch>
        </p:blipFill>
        <p:spPr>
          <a:xfrm>
            <a:off x="9504045" y="1846174"/>
            <a:ext cx="285293" cy="285293"/>
          </a:xfrm>
          <a:prstGeom prst="rect">
            <a:avLst/>
          </a:prstGeom>
        </p:spPr>
      </p:pic>
      <p:sp>
        <p:nvSpPr>
          <p:cNvPr id="21" name="Text 15"/>
          <p:cNvSpPr txBox="1"/>
          <p:nvPr/>
        </p:nvSpPr>
        <p:spPr>
          <a:xfrm>
            <a:off x="9349511" y="2423160"/>
            <a:ext cx="2110664" cy="457200"/>
          </a:xfrm>
          <a:prstGeom prst="rect">
            <a:avLst/>
          </a:prstGeom>
          <a:noFill/>
          <a:ln/>
        </p:spPr>
        <p:txBody>
          <a:bodyPr wrap="square" lIns="0" tIns="0" rIns="0" bIns="0" rtlCol="0" anchor="t"/>
          <a:lstStyle/>
          <a:p>
            <a:pPr indent="0" marL="0">
              <a:buNone/>
            </a:pPr>
            <a:r>
              <a:rPr lang="en-US" sz="1700" b="1" dirty="0">
                <a:solidFill>
                  <a:schemeClr val="tx2"/>
                </a:solidFill>
              </a:rPr>
              <a:t>Overtime approval</a:t>
            </a:r>
            <a:endParaRPr lang="en-US" sz="1700" dirty="0"/>
          </a:p>
        </p:txBody>
      </p:sp>
      <p:sp>
        <p:nvSpPr>
          <p:cNvPr id="22" name="Text 16"/>
          <p:cNvSpPr txBox="1"/>
          <p:nvPr/>
        </p:nvSpPr>
        <p:spPr>
          <a:xfrm>
            <a:off x="9349511" y="2834640"/>
            <a:ext cx="2110664" cy="731520"/>
          </a:xfrm>
          <a:prstGeom prst="rect">
            <a:avLst/>
          </a:prstGeom>
          <a:noFill/>
          <a:ln/>
        </p:spPr>
        <p:txBody>
          <a:bodyPr wrap="square" lIns="0" tIns="0" rIns="0" bIns="0" rtlCol="0" anchor="t"/>
          <a:lstStyle/>
          <a:p>
            <a:pPr indent="0" marL="0">
              <a:buNone/>
            </a:pPr>
            <a:r>
              <a:rPr lang="en-US" sz="1400" dirty="0">
                <a:solidFill>
                  <a:schemeClr val="tx1"/>
                </a:solidFill>
              </a:rPr>
              <a:t>Manager approves or rejects extra-hour requests.</a:t>
            </a:r>
            <a:endParaRPr lang="en-US" sz="1400" dirty="0"/>
          </a:p>
        </p:txBody>
      </p:sp>
      <p:sp>
        <p:nvSpPr>
          <p:cNvPr id="23" name="module card 5"/>
          <p:cNvSpPr/>
          <p:nvPr/>
        </p:nvSpPr>
        <p:spPr>
          <a:xfrm>
            <a:off x="548640" y="3886200"/>
            <a:ext cx="2567864" cy="2194560"/>
          </a:xfrm>
          <a:prstGeom prst="roundRect">
            <a:avLst>
              <a:gd name="adj" fmla="val 3333"/>
            </a:avLst>
          </a:prstGeom>
          <a:solidFill>
            <a:schemeClr val="bg2"/>
          </a:solidFill>
          <a:ln/>
        </p:spPr>
      </p:sp>
      <p:sp>
        <p:nvSpPr>
          <p:cNvPr id="24" name="Leave processing icon bg"/>
          <p:cNvSpPr/>
          <p:nvPr/>
        </p:nvSpPr>
        <p:spPr>
          <a:xfrm>
            <a:off x="822960" y="4114800"/>
            <a:ext cx="594360" cy="594360"/>
          </a:xfrm>
          <a:prstGeom prst="ellipse">
            <a:avLst/>
          </a:prstGeom>
          <a:solidFill>
            <a:schemeClr val="accent1"/>
          </a:solidFill>
          <a:ln/>
        </p:spPr>
      </p:sp>
      <p:pic>
        <p:nvPicPr>
          <p:cNvPr id="25" name="Leave processing icon" descr="Leave processing icon">    </p:cNvPr>
          <p:cNvPicPr>
            <a:picLocks noChangeAspect="1"/>
          </p:cNvPicPr>
          <p:nvPr/>
        </p:nvPicPr>
        <p:blipFill>
          <a:blip r:embed="rId5"/>
          <a:stretch>
            <a:fillRect/>
          </a:stretch>
        </p:blipFill>
        <p:spPr>
          <a:xfrm>
            <a:off x="977494" y="4269334"/>
            <a:ext cx="285293" cy="285293"/>
          </a:xfrm>
          <a:prstGeom prst="rect">
            <a:avLst/>
          </a:prstGeom>
        </p:spPr>
      </p:pic>
      <p:sp>
        <p:nvSpPr>
          <p:cNvPr id="26" name="Text 19"/>
          <p:cNvSpPr txBox="1"/>
          <p:nvPr/>
        </p:nvSpPr>
        <p:spPr>
          <a:xfrm>
            <a:off x="822960" y="4846320"/>
            <a:ext cx="2110664" cy="457200"/>
          </a:xfrm>
          <a:prstGeom prst="rect">
            <a:avLst/>
          </a:prstGeom>
          <a:noFill/>
          <a:ln/>
        </p:spPr>
        <p:txBody>
          <a:bodyPr wrap="square" lIns="0" tIns="0" rIns="0" bIns="0" rtlCol="0" anchor="t"/>
          <a:lstStyle/>
          <a:p>
            <a:pPr indent="0" marL="0">
              <a:buNone/>
            </a:pPr>
            <a:r>
              <a:rPr lang="en-US" sz="1700" b="1" dirty="0">
                <a:solidFill>
                  <a:schemeClr val="tx2"/>
                </a:solidFill>
              </a:rPr>
              <a:t>Leave processing</a:t>
            </a:r>
            <a:endParaRPr lang="en-US" sz="1700" dirty="0"/>
          </a:p>
        </p:txBody>
      </p:sp>
      <p:sp>
        <p:nvSpPr>
          <p:cNvPr id="27" name="Text 20"/>
          <p:cNvSpPr txBox="1"/>
          <p:nvPr/>
        </p:nvSpPr>
        <p:spPr>
          <a:xfrm>
            <a:off x="822960" y="5257800"/>
            <a:ext cx="2110664" cy="731520"/>
          </a:xfrm>
          <a:prstGeom prst="rect">
            <a:avLst/>
          </a:prstGeom>
          <a:noFill/>
          <a:ln/>
        </p:spPr>
        <p:txBody>
          <a:bodyPr wrap="square" lIns="0" tIns="0" rIns="0" bIns="0" rtlCol="0" anchor="t"/>
          <a:lstStyle/>
          <a:p>
            <a:pPr indent="0" marL="0">
              <a:buNone/>
            </a:pPr>
            <a:r>
              <a:rPr lang="en-US" sz="1400" dirty="0">
                <a:solidFill>
                  <a:schemeClr val="tx1"/>
                </a:solidFill>
              </a:rPr>
              <a:t>Apply, validate and decide leave applications.</a:t>
            </a:r>
            <a:endParaRPr lang="en-US" sz="1400" dirty="0"/>
          </a:p>
        </p:txBody>
      </p:sp>
      <p:sp>
        <p:nvSpPr>
          <p:cNvPr id="28" name="module card 6"/>
          <p:cNvSpPr/>
          <p:nvPr/>
        </p:nvSpPr>
        <p:spPr>
          <a:xfrm>
            <a:off x="3390824" y="3886200"/>
            <a:ext cx="2567864" cy="2194560"/>
          </a:xfrm>
          <a:prstGeom prst="roundRect">
            <a:avLst>
              <a:gd name="adj" fmla="val 3333"/>
            </a:avLst>
          </a:prstGeom>
          <a:solidFill>
            <a:schemeClr val="bg2"/>
          </a:solidFill>
          <a:ln/>
        </p:spPr>
      </p:sp>
      <p:sp>
        <p:nvSpPr>
          <p:cNvPr id="29" name="Balance update icon bg"/>
          <p:cNvSpPr/>
          <p:nvPr/>
        </p:nvSpPr>
        <p:spPr>
          <a:xfrm>
            <a:off x="3665144" y="4114800"/>
            <a:ext cx="594360" cy="594360"/>
          </a:xfrm>
          <a:prstGeom prst="ellipse">
            <a:avLst/>
          </a:prstGeom>
          <a:solidFill>
            <a:schemeClr val="accent1"/>
          </a:solidFill>
          <a:ln/>
        </p:spPr>
      </p:sp>
      <p:pic>
        <p:nvPicPr>
          <p:cNvPr id="30" name="Balance update icon" descr="Balance update icon">    </p:cNvPr>
          <p:cNvPicPr>
            <a:picLocks noChangeAspect="1"/>
          </p:cNvPicPr>
          <p:nvPr/>
        </p:nvPicPr>
        <p:blipFill>
          <a:blip r:embed="rId6"/>
          <a:stretch>
            <a:fillRect/>
          </a:stretch>
        </p:blipFill>
        <p:spPr>
          <a:xfrm>
            <a:off x="3819677" y="4269334"/>
            <a:ext cx="285293" cy="285293"/>
          </a:xfrm>
          <a:prstGeom prst="rect">
            <a:avLst/>
          </a:prstGeom>
        </p:spPr>
      </p:pic>
      <p:sp>
        <p:nvSpPr>
          <p:cNvPr id="31" name="Text 23"/>
          <p:cNvSpPr txBox="1"/>
          <p:nvPr/>
        </p:nvSpPr>
        <p:spPr>
          <a:xfrm>
            <a:off x="3665144" y="4846320"/>
            <a:ext cx="2110664" cy="457200"/>
          </a:xfrm>
          <a:prstGeom prst="rect">
            <a:avLst/>
          </a:prstGeom>
          <a:noFill/>
          <a:ln/>
        </p:spPr>
        <p:txBody>
          <a:bodyPr wrap="square" lIns="0" tIns="0" rIns="0" bIns="0" rtlCol="0" anchor="t"/>
          <a:lstStyle/>
          <a:p>
            <a:pPr indent="0" marL="0">
              <a:buNone/>
            </a:pPr>
            <a:r>
              <a:rPr lang="en-US" sz="1700" b="1" dirty="0">
                <a:solidFill>
                  <a:schemeClr val="tx2"/>
                </a:solidFill>
              </a:rPr>
              <a:t>Balance update</a:t>
            </a:r>
            <a:endParaRPr lang="en-US" sz="1700" dirty="0"/>
          </a:p>
        </p:txBody>
      </p:sp>
      <p:sp>
        <p:nvSpPr>
          <p:cNvPr id="32" name="Text 24"/>
          <p:cNvSpPr txBox="1"/>
          <p:nvPr/>
        </p:nvSpPr>
        <p:spPr>
          <a:xfrm>
            <a:off x="3665144" y="5257800"/>
            <a:ext cx="2110664" cy="731520"/>
          </a:xfrm>
          <a:prstGeom prst="rect">
            <a:avLst/>
          </a:prstGeom>
          <a:noFill/>
          <a:ln/>
        </p:spPr>
        <p:txBody>
          <a:bodyPr wrap="square" lIns="0" tIns="0" rIns="0" bIns="0" rtlCol="0" anchor="t"/>
          <a:lstStyle/>
          <a:p>
            <a:pPr indent="0" marL="0">
              <a:buNone/>
            </a:pPr>
            <a:r>
              <a:rPr lang="en-US" sz="1400" dirty="0">
                <a:solidFill>
                  <a:schemeClr val="tx1"/>
                </a:solidFill>
              </a:rPr>
              <a:t>Approved leave deducts from the balance atomically.</a:t>
            </a:r>
            <a:endParaRPr lang="en-US" sz="1400" dirty="0"/>
          </a:p>
        </p:txBody>
      </p:sp>
      <p:sp>
        <p:nvSpPr>
          <p:cNvPr id="33" name="module card 7"/>
          <p:cNvSpPr/>
          <p:nvPr/>
        </p:nvSpPr>
        <p:spPr>
          <a:xfrm>
            <a:off x="6233008" y="3886200"/>
            <a:ext cx="2567864" cy="2194560"/>
          </a:xfrm>
          <a:prstGeom prst="roundRect">
            <a:avLst>
              <a:gd name="adj" fmla="val 3333"/>
            </a:avLst>
          </a:prstGeom>
          <a:solidFill>
            <a:schemeClr val="bg2"/>
          </a:solidFill>
          <a:ln/>
        </p:spPr>
      </p:sp>
      <p:sp>
        <p:nvSpPr>
          <p:cNvPr id="34" name="Reporting icon bg"/>
          <p:cNvSpPr/>
          <p:nvPr/>
        </p:nvSpPr>
        <p:spPr>
          <a:xfrm>
            <a:off x="6507328" y="4114800"/>
            <a:ext cx="594360" cy="594360"/>
          </a:xfrm>
          <a:prstGeom prst="ellipse">
            <a:avLst/>
          </a:prstGeom>
          <a:solidFill>
            <a:schemeClr val="accent1"/>
          </a:solidFill>
          <a:ln/>
        </p:spPr>
      </p:sp>
      <p:pic>
        <p:nvPicPr>
          <p:cNvPr id="35" name="Reporting icon" descr="Reporting icon">    </p:cNvPr>
          <p:cNvPicPr>
            <a:picLocks noChangeAspect="1"/>
          </p:cNvPicPr>
          <p:nvPr/>
        </p:nvPicPr>
        <p:blipFill>
          <a:blip r:embed="rId7"/>
          <a:stretch>
            <a:fillRect/>
          </a:stretch>
        </p:blipFill>
        <p:spPr>
          <a:xfrm>
            <a:off x="6661861" y="4269334"/>
            <a:ext cx="285293" cy="285293"/>
          </a:xfrm>
          <a:prstGeom prst="rect">
            <a:avLst/>
          </a:prstGeom>
        </p:spPr>
      </p:pic>
      <p:sp>
        <p:nvSpPr>
          <p:cNvPr id="36" name="Text 27"/>
          <p:cNvSpPr txBox="1"/>
          <p:nvPr/>
        </p:nvSpPr>
        <p:spPr>
          <a:xfrm>
            <a:off x="6507328" y="4846320"/>
            <a:ext cx="2110664" cy="457200"/>
          </a:xfrm>
          <a:prstGeom prst="rect">
            <a:avLst/>
          </a:prstGeom>
          <a:noFill/>
          <a:ln/>
        </p:spPr>
        <p:txBody>
          <a:bodyPr wrap="square" lIns="0" tIns="0" rIns="0" bIns="0" rtlCol="0" anchor="t"/>
          <a:lstStyle/>
          <a:p>
            <a:pPr indent="0" marL="0">
              <a:buNone/>
            </a:pPr>
            <a:r>
              <a:rPr lang="en-US" sz="1700" b="1" dirty="0">
                <a:solidFill>
                  <a:schemeClr val="tx2"/>
                </a:solidFill>
              </a:rPr>
              <a:t>Reporting</a:t>
            </a:r>
            <a:endParaRPr lang="en-US" sz="1700" dirty="0"/>
          </a:p>
        </p:txBody>
      </p:sp>
      <p:sp>
        <p:nvSpPr>
          <p:cNvPr id="37" name="Text 28"/>
          <p:cNvSpPr txBox="1"/>
          <p:nvPr/>
        </p:nvSpPr>
        <p:spPr>
          <a:xfrm>
            <a:off x="6507328" y="5257800"/>
            <a:ext cx="2110664" cy="731520"/>
          </a:xfrm>
          <a:prstGeom prst="rect">
            <a:avLst/>
          </a:prstGeom>
          <a:noFill/>
          <a:ln/>
        </p:spPr>
        <p:txBody>
          <a:bodyPr wrap="square" lIns="0" tIns="0" rIns="0" bIns="0" rtlCol="0" anchor="t"/>
          <a:lstStyle/>
          <a:p>
            <a:pPr indent="0" marL="0">
              <a:buNone/>
            </a:pPr>
            <a:r>
              <a:rPr lang="en-US" sz="1400" dirty="0">
                <a:solidFill>
                  <a:schemeClr val="tx1"/>
                </a:solidFill>
              </a:rPr>
              <a:t>Seven reports built on SQL views.</a:t>
            </a:r>
            <a:endParaRPr lang="en-US" sz="1400" dirty="0"/>
          </a:p>
        </p:txBody>
      </p:sp>
      <p:sp>
        <p:nvSpPr>
          <p:cNvPr id="38" name="module card 8"/>
          <p:cNvSpPr/>
          <p:nvPr/>
        </p:nvSpPr>
        <p:spPr>
          <a:xfrm>
            <a:off x="9075191" y="3886200"/>
            <a:ext cx="2567864" cy="2194560"/>
          </a:xfrm>
          <a:prstGeom prst="roundRect">
            <a:avLst>
              <a:gd name="adj" fmla="val 3333"/>
            </a:avLst>
          </a:prstGeom>
          <a:solidFill>
            <a:schemeClr val="bg2"/>
          </a:solidFill>
          <a:ln/>
        </p:spPr>
      </p:sp>
      <p:sp>
        <p:nvSpPr>
          <p:cNvPr id="39" name="Master data icon bg"/>
          <p:cNvSpPr/>
          <p:nvPr/>
        </p:nvSpPr>
        <p:spPr>
          <a:xfrm>
            <a:off x="9349511" y="4114800"/>
            <a:ext cx="594360" cy="594360"/>
          </a:xfrm>
          <a:prstGeom prst="ellipse">
            <a:avLst/>
          </a:prstGeom>
          <a:solidFill>
            <a:schemeClr val="tx2"/>
          </a:solidFill>
          <a:ln/>
        </p:spPr>
      </p:sp>
      <p:pic>
        <p:nvPicPr>
          <p:cNvPr id="40" name="Master data icon" descr="Master data icon">    </p:cNvPr>
          <p:cNvPicPr>
            <a:picLocks noChangeAspect="1"/>
          </p:cNvPicPr>
          <p:nvPr/>
        </p:nvPicPr>
        <p:blipFill>
          <a:blip r:embed="rId8"/>
          <a:stretch>
            <a:fillRect/>
          </a:stretch>
        </p:blipFill>
        <p:spPr>
          <a:xfrm>
            <a:off x="9504045" y="4269334"/>
            <a:ext cx="285293" cy="285293"/>
          </a:xfrm>
          <a:prstGeom prst="rect">
            <a:avLst/>
          </a:prstGeom>
        </p:spPr>
      </p:pic>
      <p:sp>
        <p:nvSpPr>
          <p:cNvPr id="41" name="Text 31"/>
          <p:cNvSpPr txBox="1"/>
          <p:nvPr/>
        </p:nvSpPr>
        <p:spPr>
          <a:xfrm>
            <a:off x="9349511" y="4846320"/>
            <a:ext cx="2110664" cy="457200"/>
          </a:xfrm>
          <a:prstGeom prst="rect">
            <a:avLst/>
          </a:prstGeom>
          <a:noFill/>
          <a:ln/>
        </p:spPr>
        <p:txBody>
          <a:bodyPr wrap="square" lIns="0" tIns="0" rIns="0" bIns="0" rtlCol="0" anchor="t"/>
          <a:lstStyle/>
          <a:p>
            <a:pPr indent="0" marL="0">
              <a:buNone/>
            </a:pPr>
            <a:r>
              <a:rPr lang="en-US" sz="1700" b="1" dirty="0">
                <a:solidFill>
                  <a:schemeClr val="tx2"/>
                </a:solidFill>
              </a:rPr>
              <a:t>Master data</a:t>
            </a:r>
            <a:endParaRPr lang="en-US" sz="1700" dirty="0"/>
          </a:p>
        </p:txBody>
      </p:sp>
      <p:sp>
        <p:nvSpPr>
          <p:cNvPr id="42" name="Text 32"/>
          <p:cNvSpPr txBox="1"/>
          <p:nvPr/>
        </p:nvSpPr>
        <p:spPr>
          <a:xfrm>
            <a:off x="9349511" y="5257800"/>
            <a:ext cx="2110664" cy="731520"/>
          </a:xfrm>
          <a:prstGeom prst="rect">
            <a:avLst/>
          </a:prstGeom>
          <a:noFill/>
          <a:ln/>
        </p:spPr>
        <p:txBody>
          <a:bodyPr wrap="square" lIns="0" tIns="0" rIns="0" bIns="0" rtlCol="0" anchor="t"/>
          <a:lstStyle/>
          <a:p>
            <a:pPr indent="0" marL="0">
              <a:buNone/>
            </a:pPr>
            <a:r>
              <a:rPr lang="en-US" sz="1400" dirty="0">
                <a:solidFill>
                  <a:schemeClr val="tx1"/>
                </a:solidFill>
              </a:rPr>
              <a:t>Add, edit, search and deactivate employees, departments, shifts.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From clock-in to daily summary</a:t>
            </a:r>
            <a:endParaRPr lang="en-US" sz="3400" dirty="0"/>
          </a:p>
        </p:txBody>
      </p:sp>
      <p:sp>
        <p:nvSpPr>
          <p:cNvPr id="3" name="step card 1"/>
          <p:cNvSpPr/>
          <p:nvPr/>
        </p:nvSpPr>
        <p:spPr>
          <a:xfrm>
            <a:off x="548640" y="1508760"/>
            <a:ext cx="1920240" cy="2011680"/>
          </a:xfrm>
          <a:prstGeom prst="roundRect">
            <a:avLst>
              <a:gd name="adj" fmla="val 3810"/>
            </a:avLst>
          </a:prstGeom>
          <a:solidFill>
            <a:schemeClr val="bg2"/>
          </a:solidFill>
          <a:ln/>
        </p:spPr>
      </p:sp>
      <p:sp>
        <p:nvSpPr>
          <p:cNvPr id="4" name="step badge 1"/>
          <p:cNvSpPr/>
          <p:nvPr/>
        </p:nvSpPr>
        <p:spPr>
          <a:xfrm>
            <a:off x="777240" y="1737360"/>
            <a:ext cx="502920" cy="502920"/>
          </a:xfrm>
          <a:prstGeom prst="ellipse">
            <a:avLst/>
          </a:prstGeom>
          <a:solidFill>
            <a:schemeClr val="accent1"/>
          </a:solidFill>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423160"/>
            <a:ext cx="1554480" cy="365760"/>
          </a:xfrm>
          <a:prstGeom prst="rect">
            <a:avLst/>
          </a:prstGeom>
          <a:noFill/>
          <a:ln/>
        </p:spPr>
        <p:txBody>
          <a:bodyPr wrap="square" lIns="0" tIns="0" rIns="0" bIns="0" rtlCol="0" anchor="t"/>
          <a:lstStyle/>
          <a:p>
            <a:pPr indent="0" marL="0">
              <a:buNone/>
            </a:pPr>
            <a:r>
              <a:rPr lang="en-US" sz="1800" b="1" dirty="0">
                <a:solidFill>
                  <a:schemeClr val="tx2"/>
                </a:solidFill>
              </a:rPr>
              <a:t>Roster</a:t>
            </a:r>
            <a:endParaRPr lang="en-US" sz="1800" dirty="0"/>
          </a:p>
        </p:txBody>
      </p:sp>
      <p:sp>
        <p:nvSpPr>
          <p:cNvPr id="7" name="Text 5"/>
          <p:cNvSpPr txBox="1"/>
          <p:nvPr/>
        </p:nvSpPr>
        <p:spPr>
          <a:xfrm>
            <a:off x="777240" y="2788920"/>
            <a:ext cx="1554480" cy="640080"/>
          </a:xfrm>
          <a:prstGeom prst="rect">
            <a:avLst/>
          </a:prstGeom>
          <a:noFill/>
          <a:ln/>
        </p:spPr>
        <p:txBody>
          <a:bodyPr wrap="square" lIns="0" tIns="0" rIns="0" bIns="0" rtlCol="0" anchor="t"/>
          <a:lstStyle/>
          <a:p>
            <a:pPr indent="0" marL="0">
              <a:buNone/>
            </a:pPr>
            <a:r>
              <a:rPr lang="en-US" sz="1400" dirty="0">
                <a:solidFill>
                  <a:schemeClr val="tx1"/>
                </a:solidFill>
              </a:rPr>
              <a:t>Shift assigned for the day</a:t>
            </a:r>
            <a:endParaRPr lang="en-US" sz="1400" dirty="0"/>
          </a:p>
        </p:txBody>
      </p:sp>
      <p:sp>
        <p:nvSpPr>
          <p:cNvPr id="8" name="flow arrow 1"/>
          <p:cNvSpPr/>
          <p:nvPr/>
        </p:nvSpPr>
        <p:spPr>
          <a:xfrm>
            <a:off x="2532888" y="2331720"/>
            <a:ext cx="245288" cy="274320"/>
          </a:xfrm>
          <a:prstGeom prst="rightArrow">
            <a:avLst/>
          </a:prstGeom>
          <a:solidFill>
            <a:schemeClr val="accent2"/>
          </a:solidFill>
          <a:ln/>
        </p:spPr>
      </p:sp>
      <p:sp>
        <p:nvSpPr>
          <p:cNvPr id="9" name="step card 2"/>
          <p:cNvSpPr/>
          <p:nvPr/>
        </p:nvSpPr>
        <p:spPr>
          <a:xfrm>
            <a:off x="2842184" y="1508760"/>
            <a:ext cx="1920240" cy="2011680"/>
          </a:xfrm>
          <a:prstGeom prst="roundRect">
            <a:avLst>
              <a:gd name="adj" fmla="val 3810"/>
            </a:avLst>
          </a:prstGeom>
          <a:solidFill>
            <a:schemeClr val="bg2"/>
          </a:solidFill>
          <a:ln/>
        </p:spPr>
      </p:sp>
      <p:sp>
        <p:nvSpPr>
          <p:cNvPr id="10" name="step badge 2"/>
          <p:cNvSpPr/>
          <p:nvPr/>
        </p:nvSpPr>
        <p:spPr>
          <a:xfrm>
            <a:off x="3070784" y="1737360"/>
            <a:ext cx="502920" cy="502920"/>
          </a:xfrm>
          <a:prstGeom prst="ellipse">
            <a:avLst/>
          </a:prstGeom>
          <a:solidFill>
            <a:schemeClr val="accent1"/>
          </a:solidFill>
          <a:ln/>
        </p:spPr>
      </p:sp>
      <p:sp>
        <p:nvSpPr>
          <p:cNvPr id="11" name="Text 9"/>
          <p:cNvSpPr txBox="1"/>
          <p:nvPr/>
        </p:nvSpPr>
        <p:spPr>
          <a:xfrm>
            <a:off x="3070784"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070784" y="2423160"/>
            <a:ext cx="1554480" cy="365760"/>
          </a:xfrm>
          <a:prstGeom prst="rect">
            <a:avLst/>
          </a:prstGeom>
          <a:noFill/>
          <a:ln/>
        </p:spPr>
        <p:txBody>
          <a:bodyPr wrap="square" lIns="0" tIns="0" rIns="0" bIns="0" rtlCol="0" anchor="t"/>
          <a:lstStyle/>
          <a:p>
            <a:pPr indent="0" marL="0">
              <a:buNone/>
            </a:pPr>
            <a:r>
              <a:rPr lang="en-US" sz="1800" b="1" dirty="0">
                <a:solidFill>
                  <a:schemeClr val="tx2"/>
                </a:solidFill>
              </a:rPr>
              <a:t>Clock-in</a:t>
            </a:r>
            <a:endParaRPr lang="en-US" sz="1800" dirty="0"/>
          </a:p>
        </p:txBody>
      </p:sp>
      <p:sp>
        <p:nvSpPr>
          <p:cNvPr id="13" name="Text 11"/>
          <p:cNvSpPr txBox="1"/>
          <p:nvPr/>
        </p:nvSpPr>
        <p:spPr>
          <a:xfrm>
            <a:off x="3070784" y="2788920"/>
            <a:ext cx="1554480" cy="640080"/>
          </a:xfrm>
          <a:prstGeom prst="rect">
            <a:avLst/>
          </a:prstGeom>
          <a:noFill/>
          <a:ln/>
        </p:spPr>
        <p:txBody>
          <a:bodyPr wrap="square" lIns="0" tIns="0" rIns="0" bIns="0" rtlCol="0" anchor="t"/>
          <a:lstStyle/>
          <a:p>
            <a:pPr indent="0" marL="0">
              <a:buNone/>
            </a:pPr>
            <a:r>
              <a:rPr lang="en-US" sz="1400" dirty="0">
                <a:solidFill>
                  <a:schemeClr val="tx1"/>
                </a:solidFill>
              </a:rPr>
              <a:t>Punch saved with timestamp</a:t>
            </a:r>
            <a:endParaRPr lang="en-US" sz="1400" dirty="0"/>
          </a:p>
        </p:txBody>
      </p:sp>
      <p:sp>
        <p:nvSpPr>
          <p:cNvPr id="14" name="flow arrow 2"/>
          <p:cNvSpPr/>
          <p:nvPr/>
        </p:nvSpPr>
        <p:spPr>
          <a:xfrm>
            <a:off x="4826432" y="2331720"/>
            <a:ext cx="245288" cy="274320"/>
          </a:xfrm>
          <a:prstGeom prst="rightArrow">
            <a:avLst/>
          </a:prstGeom>
          <a:solidFill>
            <a:schemeClr val="accent2"/>
          </a:solidFill>
          <a:ln/>
        </p:spPr>
      </p:sp>
      <p:sp>
        <p:nvSpPr>
          <p:cNvPr id="15" name="step card 3"/>
          <p:cNvSpPr/>
          <p:nvPr/>
        </p:nvSpPr>
        <p:spPr>
          <a:xfrm>
            <a:off x="5135728" y="1508760"/>
            <a:ext cx="1920240" cy="2011680"/>
          </a:xfrm>
          <a:prstGeom prst="roundRect">
            <a:avLst>
              <a:gd name="adj" fmla="val 3810"/>
            </a:avLst>
          </a:prstGeom>
          <a:solidFill>
            <a:schemeClr val="bg2"/>
          </a:solidFill>
          <a:ln/>
        </p:spPr>
      </p:sp>
      <p:sp>
        <p:nvSpPr>
          <p:cNvPr id="16" name="step badge 3"/>
          <p:cNvSpPr/>
          <p:nvPr/>
        </p:nvSpPr>
        <p:spPr>
          <a:xfrm>
            <a:off x="5364328" y="1737360"/>
            <a:ext cx="502920" cy="502920"/>
          </a:xfrm>
          <a:prstGeom prst="ellipse">
            <a:avLst/>
          </a:prstGeom>
          <a:solidFill>
            <a:schemeClr val="accent1"/>
          </a:solidFill>
          <a:ln/>
        </p:spPr>
      </p:sp>
      <p:sp>
        <p:nvSpPr>
          <p:cNvPr id="17" name="Text 15"/>
          <p:cNvSpPr txBox="1"/>
          <p:nvPr/>
        </p:nvSpPr>
        <p:spPr>
          <a:xfrm>
            <a:off x="5364328"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5364328" y="2423160"/>
            <a:ext cx="1554480" cy="365760"/>
          </a:xfrm>
          <a:prstGeom prst="rect">
            <a:avLst/>
          </a:prstGeom>
          <a:noFill/>
          <a:ln/>
        </p:spPr>
        <p:txBody>
          <a:bodyPr wrap="square" lIns="0" tIns="0" rIns="0" bIns="0" rtlCol="0" anchor="t"/>
          <a:lstStyle/>
          <a:p>
            <a:pPr indent="0" marL="0">
              <a:buNone/>
            </a:pPr>
            <a:r>
              <a:rPr lang="en-US" sz="1800" b="1" dirty="0">
                <a:solidFill>
                  <a:schemeClr val="tx2"/>
                </a:solidFill>
              </a:rPr>
              <a:t>Clock-out</a:t>
            </a:r>
            <a:endParaRPr lang="en-US" sz="1800" dirty="0"/>
          </a:p>
        </p:txBody>
      </p:sp>
      <p:sp>
        <p:nvSpPr>
          <p:cNvPr id="19" name="Text 17"/>
          <p:cNvSpPr txBox="1"/>
          <p:nvPr/>
        </p:nvSpPr>
        <p:spPr>
          <a:xfrm>
            <a:off x="5364328" y="2788920"/>
            <a:ext cx="1554480" cy="640080"/>
          </a:xfrm>
          <a:prstGeom prst="rect">
            <a:avLst/>
          </a:prstGeom>
          <a:noFill/>
          <a:ln/>
        </p:spPr>
        <p:txBody>
          <a:bodyPr wrap="square" lIns="0" tIns="0" rIns="0" bIns="0" rtlCol="0" anchor="t"/>
          <a:lstStyle/>
          <a:p>
            <a:pPr indent="0" marL="0">
              <a:buNone/>
            </a:pPr>
            <a:r>
              <a:rPr lang="en-US" sz="1400" dirty="0">
                <a:solidFill>
                  <a:schemeClr val="tx1"/>
                </a:solidFill>
              </a:rPr>
              <a:t>Must be after clock-in</a:t>
            </a:r>
            <a:endParaRPr lang="en-US" sz="1400" dirty="0"/>
          </a:p>
        </p:txBody>
      </p:sp>
      <p:sp>
        <p:nvSpPr>
          <p:cNvPr id="20" name="flow arrow 3"/>
          <p:cNvSpPr/>
          <p:nvPr/>
        </p:nvSpPr>
        <p:spPr>
          <a:xfrm>
            <a:off x="7119976" y="2331720"/>
            <a:ext cx="245288" cy="274320"/>
          </a:xfrm>
          <a:prstGeom prst="rightArrow">
            <a:avLst/>
          </a:prstGeom>
          <a:solidFill>
            <a:schemeClr val="accent2"/>
          </a:solidFill>
          <a:ln/>
        </p:spPr>
      </p:sp>
      <p:sp>
        <p:nvSpPr>
          <p:cNvPr id="21" name="step card 4"/>
          <p:cNvSpPr/>
          <p:nvPr/>
        </p:nvSpPr>
        <p:spPr>
          <a:xfrm>
            <a:off x="7429271" y="1508760"/>
            <a:ext cx="1920240" cy="2011680"/>
          </a:xfrm>
          <a:prstGeom prst="roundRect">
            <a:avLst>
              <a:gd name="adj" fmla="val 3810"/>
            </a:avLst>
          </a:prstGeom>
          <a:solidFill>
            <a:schemeClr val="bg2"/>
          </a:solidFill>
          <a:ln/>
        </p:spPr>
      </p:sp>
      <p:sp>
        <p:nvSpPr>
          <p:cNvPr id="22" name="step badge 4"/>
          <p:cNvSpPr/>
          <p:nvPr/>
        </p:nvSpPr>
        <p:spPr>
          <a:xfrm>
            <a:off x="7657871" y="1737360"/>
            <a:ext cx="502920" cy="502920"/>
          </a:xfrm>
          <a:prstGeom prst="ellipse">
            <a:avLst/>
          </a:prstGeom>
          <a:solidFill>
            <a:schemeClr val="accent1"/>
          </a:solidFill>
          <a:ln/>
        </p:spPr>
      </p:sp>
      <p:sp>
        <p:nvSpPr>
          <p:cNvPr id="23" name="Text 21"/>
          <p:cNvSpPr txBox="1"/>
          <p:nvPr/>
        </p:nvSpPr>
        <p:spPr>
          <a:xfrm>
            <a:off x="7657871"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22"/>
          <p:cNvSpPr txBox="1"/>
          <p:nvPr/>
        </p:nvSpPr>
        <p:spPr>
          <a:xfrm>
            <a:off x="7657871" y="2423160"/>
            <a:ext cx="1554480" cy="365760"/>
          </a:xfrm>
          <a:prstGeom prst="rect">
            <a:avLst/>
          </a:prstGeom>
          <a:noFill/>
          <a:ln/>
        </p:spPr>
        <p:txBody>
          <a:bodyPr wrap="square" lIns="0" tIns="0" rIns="0" bIns="0" rtlCol="0" anchor="t"/>
          <a:lstStyle/>
          <a:p>
            <a:pPr indent="0" marL="0">
              <a:buNone/>
            </a:pPr>
            <a:r>
              <a:rPr lang="en-US" sz="1800" b="1" dirty="0">
                <a:solidFill>
                  <a:schemeClr val="tx2"/>
                </a:solidFill>
              </a:rPr>
              <a:t>Calculate</a:t>
            </a:r>
            <a:endParaRPr lang="en-US" sz="1800" dirty="0"/>
          </a:p>
        </p:txBody>
      </p:sp>
      <p:sp>
        <p:nvSpPr>
          <p:cNvPr id="25" name="Text 23"/>
          <p:cNvSpPr txBox="1"/>
          <p:nvPr/>
        </p:nvSpPr>
        <p:spPr>
          <a:xfrm>
            <a:off x="7657871" y="2788920"/>
            <a:ext cx="1554480" cy="640080"/>
          </a:xfrm>
          <a:prstGeom prst="rect">
            <a:avLst/>
          </a:prstGeom>
          <a:noFill/>
          <a:ln/>
        </p:spPr>
        <p:txBody>
          <a:bodyPr wrap="square" lIns="0" tIns="0" rIns="0" bIns="0" rtlCol="0" anchor="t"/>
          <a:lstStyle/>
          <a:p>
            <a:pPr indent="0" marL="0">
              <a:buNone/>
            </a:pPr>
            <a:r>
              <a:rPr lang="en-US" sz="1400" dirty="0">
                <a:solidFill>
                  <a:schemeClr val="tx1"/>
                </a:solidFill>
              </a:rPr>
              <a:t>Hours, lateness, overtime</a:t>
            </a:r>
            <a:endParaRPr lang="en-US" sz="1400" dirty="0"/>
          </a:p>
        </p:txBody>
      </p:sp>
      <p:sp>
        <p:nvSpPr>
          <p:cNvPr id="26" name="flow arrow 4"/>
          <p:cNvSpPr/>
          <p:nvPr/>
        </p:nvSpPr>
        <p:spPr>
          <a:xfrm>
            <a:off x="9413519" y="2331720"/>
            <a:ext cx="245288" cy="274320"/>
          </a:xfrm>
          <a:prstGeom prst="rightArrow">
            <a:avLst/>
          </a:prstGeom>
          <a:solidFill>
            <a:schemeClr val="accent2"/>
          </a:solidFill>
          <a:ln/>
        </p:spPr>
      </p:sp>
      <p:sp>
        <p:nvSpPr>
          <p:cNvPr id="27" name="step card 5"/>
          <p:cNvSpPr/>
          <p:nvPr/>
        </p:nvSpPr>
        <p:spPr>
          <a:xfrm>
            <a:off x="9722815" y="1508760"/>
            <a:ext cx="1920240" cy="2011680"/>
          </a:xfrm>
          <a:prstGeom prst="roundRect">
            <a:avLst>
              <a:gd name="adj" fmla="val 3810"/>
            </a:avLst>
          </a:prstGeom>
          <a:solidFill>
            <a:schemeClr val="bg2"/>
          </a:solidFill>
          <a:ln/>
        </p:spPr>
      </p:sp>
      <p:sp>
        <p:nvSpPr>
          <p:cNvPr id="28" name="step badge 5"/>
          <p:cNvSpPr/>
          <p:nvPr/>
        </p:nvSpPr>
        <p:spPr>
          <a:xfrm>
            <a:off x="9951415" y="1737360"/>
            <a:ext cx="502920" cy="502920"/>
          </a:xfrm>
          <a:prstGeom prst="ellipse">
            <a:avLst/>
          </a:prstGeom>
          <a:solidFill>
            <a:schemeClr val="accent1"/>
          </a:solidFill>
          <a:ln/>
        </p:spPr>
      </p:sp>
      <p:sp>
        <p:nvSpPr>
          <p:cNvPr id="29" name="Text 27"/>
          <p:cNvSpPr txBox="1"/>
          <p:nvPr/>
        </p:nvSpPr>
        <p:spPr>
          <a:xfrm>
            <a:off x="9951415"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8"/>
          <p:cNvSpPr txBox="1"/>
          <p:nvPr/>
        </p:nvSpPr>
        <p:spPr>
          <a:xfrm>
            <a:off x="9951415" y="2423160"/>
            <a:ext cx="1554480" cy="365760"/>
          </a:xfrm>
          <a:prstGeom prst="rect">
            <a:avLst/>
          </a:prstGeom>
          <a:noFill/>
          <a:ln/>
        </p:spPr>
        <p:txBody>
          <a:bodyPr wrap="square" lIns="0" tIns="0" rIns="0" bIns="0" rtlCol="0" anchor="t"/>
          <a:lstStyle/>
          <a:p>
            <a:pPr indent="0" marL="0">
              <a:buNone/>
            </a:pPr>
            <a:r>
              <a:rPr lang="en-US" sz="1800" b="1" dirty="0">
                <a:solidFill>
                  <a:schemeClr val="tx2"/>
                </a:solidFill>
              </a:rPr>
              <a:t>Summary</a:t>
            </a:r>
            <a:endParaRPr lang="en-US" sz="1800" dirty="0"/>
          </a:p>
        </p:txBody>
      </p:sp>
      <p:sp>
        <p:nvSpPr>
          <p:cNvPr id="31" name="Text 29"/>
          <p:cNvSpPr txBox="1"/>
          <p:nvPr/>
        </p:nvSpPr>
        <p:spPr>
          <a:xfrm>
            <a:off x="9951415" y="2788920"/>
            <a:ext cx="1554480" cy="640080"/>
          </a:xfrm>
          <a:prstGeom prst="rect">
            <a:avLst/>
          </a:prstGeom>
          <a:noFill/>
          <a:ln/>
        </p:spPr>
        <p:txBody>
          <a:bodyPr wrap="square" lIns="0" tIns="0" rIns="0" bIns="0" rtlCol="0" anchor="t"/>
          <a:lstStyle/>
          <a:p>
            <a:pPr indent="0" marL="0">
              <a:buNone/>
            </a:pPr>
            <a:r>
              <a:rPr lang="en-US" sz="1400" dirty="0">
                <a:solidFill>
                  <a:schemeClr val="tx1"/>
                </a:solidFill>
              </a:rPr>
              <a:t>One row per employee per day</a:t>
            </a:r>
            <a:endParaRPr lang="en-US" sz="1400" dirty="0"/>
          </a:p>
        </p:txBody>
      </p:sp>
      <p:sp>
        <p:nvSpPr>
          <p:cNvPr id="32" name="formula panel"/>
          <p:cNvSpPr/>
          <p:nvPr/>
        </p:nvSpPr>
        <p:spPr>
          <a:xfrm>
            <a:off x="548640" y="3840480"/>
            <a:ext cx="11094415" cy="1920240"/>
          </a:xfrm>
          <a:prstGeom prst="roundRect">
            <a:avLst>
              <a:gd name="adj" fmla="val 3810"/>
            </a:avLst>
          </a:prstGeom>
          <a:solidFill>
            <a:schemeClr val="tx2"/>
          </a:solidFill>
          <a:ln/>
        </p:spPr>
      </p:sp>
      <p:sp>
        <p:nvSpPr>
          <p:cNvPr id="33" name="Text 31"/>
          <p:cNvSpPr txBox="1"/>
          <p:nvPr/>
        </p:nvSpPr>
        <p:spPr>
          <a:xfrm>
            <a:off x="914400" y="4114800"/>
            <a:ext cx="3179978"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WORKED HOURS</a:t>
            </a:r>
            <a:endParaRPr lang="en-US" sz="1300" dirty="0"/>
          </a:p>
        </p:txBody>
      </p:sp>
      <p:sp>
        <p:nvSpPr>
          <p:cNvPr id="34" name="Text 32"/>
          <p:cNvSpPr txBox="1"/>
          <p:nvPr/>
        </p:nvSpPr>
        <p:spPr>
          <a:xfrm>
            <a:off x="914400" y="4526280"/>
            <a:ext cx="3179978" cy="12801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clock_out - clock_in</a:t>
            </a:r>
            <a:endParaRPr lang="en-US" sz="1500" dirty="0"/>
          </a:p>
        </p:txBody>
      </p:sp>
      <p:sp>
        <p:nvSpPr>
          <p:cNvPr id="35" name="Text 33"/>
          <p:cNvSpPr txBox="1"/>
          <p:nvPr/>
        </p:nvSpPr>
        <p:spPr>
          <a:xfrm>
            <a:off x="4368698" y="4114800"/>
            <a:ext cx="3179978"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LATE MINUTES</a:t>
            </a:r>
            <a:endParaRPr lang="en-US" sz="1300" dirty="0"/>
          </a:p>
        </p:txBody>
      </p:sp>
      <p:sp>
        <p:nvSpPr>
          <p:cNvPr id="36" name="Text 34"/>
          <p:cNvSpPr txBox="1"/>
          <p:nvPr/>
        </p:nvSpPr>
        <p:spPr>
          <a:xfrm>
            <a:off x="4368698" y="4526280"/>
            <a:ext cx="3179978" cy="12801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MAX(0, clock_in - shift_start - grace)</a:t>
            </a:r>
            <a:endParaRPr lang="en-US" sz="1500" dirty="0"/>
          </a:p>
        </p:txBody>
      </p:sp>
      <p:sp>
        <p:nvSpPr>
          <p:cNvPr id="37" name="Text 35"/>
          <p:cNvSpPr txBox="1"/>
          <p:nvPr/>
        </p:nvSpPr>
        <p:spPr>
          <a:xfrm>
            <a:off x="7822997" y="4114800"/>
            <a:ext cx="3179978"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OVERTIME HOURS</a:t>
            </a:r>
            <a:endParaRPr lang="en-US" sz="1300" dirty="0"/>
          </a:p>
        </p:txBody>
      </p:sp>
      <p:sp>
        <p:nvSpPr>
          <p:cNvPr id="38" name="Text 36"/>
          <p:cNvSpPr txBox="1"/>
          <p:nvPr/>
        </p:nvSpPr>
        <p:spPr>
          <a:xfrm>
            <a:off x="7822997" y="4526280"/>
            <a:ext cx="3179978" cy="12801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MAX(0, worked - shift_hours)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counted only when approved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Leave processing and balance update</a:t>
            </a:r>
            <a:endParaRPr lang="en-US" sz="3400" dirty="0"/>
          </a:p>
        </p:txBody>
      </p:sp>
      <p:sp>
        <p:nvSpPr>
          <p:cNvPr id="3" name="leave step badge 1"/>
          <p:cNvSpPr/>
          <p:nvPr/>
        </p:nvSpPr>
        <p:spPr>
          <a:xfrm>
            <a:off x="548640" y="1600200"/>
            <a:ext cx="548640" cy="548640"/>
          </a:xfrm>
          <a:prstGeom prst="ellipse">
            <a:avLst/>
          </a:prstGeom>
          <a:solidFill>
            <a:schemeClr val="accent1"/>
          </a:solidFill>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554480"/>
            <a:ext cx="4297680" cy="365760"/>
          </a:xfrm>
          <a:prstGeom prst="rect">
            <a:avLst/>
          </a:prstGeom>
          <a:noFill/>
          <a:ln/>
        </p:spPr>
        <p:txBody>
          <a:bodyPr wrap="square" lIns="0" tIns="0" rIns="0" bIns="0" rtlCol="0" anchor="t"/>
          <a:lstStyle/>
          <a:p>
            <a:pPr indent="0" marL="0">
              <a:buNone/>
            </a:pPr>
            <a:r>
              <a:rPr lang="en-US" sz="1900" b="1" dirty="0">
                <a:solidFill>
                  <a:schemeClr val="tx2"/>
                </a:solidFill>
              </a:rPr>
              <a:t>Apply</a:t>
            </a:r>
            <a:endParaRPr lang="en-US" sz="1900" dirty="0"/>
          </a:p>
        </p:txBody>
      </p:sp>
      <p:sp>
        <p:nvSpPr>
          <p:cNvPr id="6" name="Text 4"/>
          <p:cNvSpPr txBox="1"/>
          <p:nvPr/>
        </p:nvSpPr>
        <p:spPr>
          <a:xfrm>
            <a:off x="1325880" y="1938528"/>
            <a:ext cx="4297680" cy="640080"/>
          </a:xfrm>
          <a:prstGeom prst="rect">
            <a:avLst/>
          </a:prstGeom>
          <a:noFill/>
          <a:ln/>
        </p:spPr>
        <p:txBody>
          <a:bodyPr wrap="square" lIns="0" tIns="0" rIns="0" bIns="0" rtlCol="0" anchor="t"/>
          <a:lstStyle/>
          <a:p>
            <a:pPr indent="0" marL="0">
              <a:buNone/>
            </a:pPr>
            <a:r>
              <a:rPr lang="en-US" sz="1500" dirty="0">
                <a:solidFill>
                  <a:schemeClr val="tx1"/>
                </a:solidFill>
              </a:rPr>
              <a:t>Leave type, dates and reason are validated.</a:t>
            </a:r>
            <a:endParaRPr lang="en-US" sz="1500" dirty="0"/>
          </a:p>
        </p:txBody>
      </p:sp>
      <p:sp>
        <p:nvSpPr>
          <p:cNvPr id="7" name="leave step badge 2"/>
          <p:cNvSpPr/>
          <p:nvPr/>
        </p:nvSpPr>
        <p:spPr>
          <a:xfrm>
            <a:off x="548640" y="2743200"/>
            <a:ext cx="548640" cy="548640"/>
          </a:xfrm>
          <a:prstGeom prst="ellipse">
            <a:avLst/>
          </a:prstGeom>
          <a:solidFill>
            <a:schemeClr val="accent1"/>
          </a:solidFill>
          <a:ln/>
        </p:spPr>
      </p:sp>
      <p:sp>
        <p:nvSpPr>
          <p:cNvPr id="8" name="Text 6"/>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25880" y="2697480"/>
            <a:ext cx="4297680" cy="365760"/>
          </a:xfrm>
          <a:prstGeom prst="rect">
            <a:avLst/>
          </a:prstGeom>
          <a:noFill/>
          <a:ln/>
        </p:spPr>
        <p:txBody>
          <a:bodyPr wrap="square" lIns="0" tIns="0" rIns="0" bIns="0" rtlCol="0" anchor="t"/>
          <a:lstStyle/>
          <a:p>
            <a:pPr indent="0" marL="0">
              <a:buNone/>
            </a:pPr>
            <a:r>
              <a:rPr lang="en-US" sz="1900" b="1" dirty="0">
                <a:solidFill>
                  <a:schemeClr val="tx2"/>
                </a:solidFill>
              </a:rPr>
              <a:t>Check</a:t>
            </a:r>
            <a:endParaRPr lang="en-US" sz="1900" dirty="0"/>
          </a:p>
        </p:txBody>
      </p:sp>
      <p:sp>
        <p:nvSpPr>
          <p:cNvPr id="10" name="Text 8"/>
          <p:cNvSpPr txBox="1"/>
          <p:nvPr/>
        </p:nvSpPr>
        <p:spPr>
          <a:xfrm>
            <a:off x="1325880" y="3081528"/>
            <a:ext cx="4297680" cy="640080"/>
          </a:xfrm>
          <a:prstGeom prst="rect">
            <a:avLst/>
          </a:prstGeom>
          <a:noFill/>
          <a:ln/>
        </p:spPr>
        <p:txBody>
          <a:bodyPr wrap="square" lIns="0" tIns="0" rIns="0" bIns="0" rtlCol="0" anchor="t"/>
          <a:lstStyle/>
          <a:p>
            <a:pPr indent="0" marL="0">
              <a:buNone/>
            </a:pPr>
            <a:r>
              <a:rPr lang="en-US" sz="1500" dirty="0">
                <a:solidFill>
                  <a:schemeClr val="tx1"/>
                </a:solidFill>
              </a:rPr>
              <a:t>Holidays are excluded; days must not exceed the balance.</a:t>
            </a:r>
            <a:endParaRPr lang="en-US" sz="1500" dirty="0"/>
          </a:p>
        </p:txBody>
      </p:sp>
      <p:sp>
        <p:nvSpPr>
          <p:cNvPr id="11" name="leave step badge 3"/>
          <p:cNvSpPr/>
          <p:nvPr/>
        </p:nvSpPr>
        <p:spPr>
          <a:xfrm>
            <a:off x="548640" y="3886200"/>
            <a:ext cx="548640" cy="548640"/>
          </a:xfrm>
          <a:prstGeom prst="ellipse">
            <a:avLst/>
          </a:prstGeom>
          <a:solidFill>
            <a:schemeClr val="accent1"/>
          </a:solidFill>
          <a:ln/>
        </p:spPr>
      </p:sp>
      <p:sp>
        <p:nvSpPr>
          <p:cNvPr id="12" name="Text 10"/>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325880" y="3840480"/>
            <a:ext cx="4297680" cy="365760"/>
          </a:xfrm>
          <a:prstGeom prst="rect">
            <a:avLst/>
          </a:prstGeom>
          <a:noFill/>
          <a:ln/>
        </p:spPr>
        <p:txBody>
          <a:bodyPr wrap="square" lIns="0" tIns="0" rIns="0" bIns="0" rtlCol="0" anchor="t"/>
          <a:lstStyle/>
          <a:p>
            <a:pPr indent="0" marL="0">
              <a:buNone/>
            </a:pPr>
            <a:r>
              <a:rPr lang="en-US" sz="1900" b="1" dirty="0">
                <a:solidFill>
                  <a:schemeClr val="tx2"/>
                </a:solidFill>
              </a:rPr>
              <a:t>Decide</a:t>
            </a:r>
            <a:endParaRPr lang="en-US" sz="1900" dirty="0"/>
          </a:p>
        </p:txBody>
      </p:sp>
      <p:sp>
        <p:nvSpPr>
          <p:cNvPr id="14" name="Text 12"/>
          <p:cNvSpPr txBox="1"/>
          <p:nvPr/>
        </p:nvSpPr>
        <p:spPr>
          <a:xfrm>
            <a:off x="1325880" y="4224528"/>
            <a:ext cx="4297680" cy="640080"/>
          </a:xfrm>
          <a:prstGeom prst="rect">
            <a:avLst/>
          </a:prstGeom>
          <a:noFill/>
          <a:ln/>
        </p:spPr>
        <p:txBody>
          <a:bodyPr wrap="square" lIns="0" tIns="0" rIns="0" bIns="0" rtlCol="0" anchor="t"/>
          <a:lstStyle/>
          <a:p>
            <a:pPr indent="0" marL="0">
              <a:buNone/>
            </a:pPr>
            <a:r>
              <a:rPr lang="en-US" sz="1500" dirty="0">
                <a:solidFill>
                  <a:schemeClr val="tx1"/>
                </a:solidFill>
              </a:rPr>
              <a:t>Manager approves or rejects the application.</a:t>
            </a:r>
            <a:endParaRPr lang="en-US" sz="1500" dirty="0"/>
          </a:p>
        </p:txBody>
      </p:sp>
      <p:sp>
        <p:nvSpPr>
          <p:cNvPr id="15" name="leave step badge 4"/>
          <p:cNvSpPr/>
          <p:nvPr/>
        </p:nvSpPr>
        <p:spPr>
          <a:xfrm>
            <a:off x="548640" y="5029200"/>
            <a:ext cx="548640" cy="548640"/>
          </a:xfrm>
          <a:prstGeom prst="ellipse">
            <a:avLst/>
          </a:prstGeom>
          <a:solidFill>
            <a:schemeClr val="accent1"/>
          </a:solidFill>
          <a:ln/>
        </p:spPr>
      </p:sp>
      <p:sp>
        <p:nvSpPr>
          <p:cNvPr id="16" name="Text 14"/>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325880" y="4983480"/>
            <a:ext cx="4297680" cy="365760"/>
          </a:xfrm>
          <a:prstGeom prst="rect">
            <a:avLst/>
          </a:prstGeom>
          <a:noFill/>
          <a:ln/>
        </p:spPr>
        <p:txBody>
          <a:bodyPr wrap="square" lIns="0" tIns="0" rIns="0" bIns="0" rtlCol="0" anchor="t"/>
          <a:lstStyle/>
          <a:p>
            <a:pPr indent="0" marL="0">
              <a:buNone/>
            </a:pPr>
            <a:r>
              <a:rPr lang="en-US" sz="1900" b="1" dirty="0">
                <a:solidFill>
                  <a:schemeClr val="tx2"/>
                </a:solidFill>
              </a:rPr>
              <a:t>Update</a:t>
            </a:r>
            <a:endParaRPr lang="en-US" sz="1900" dirty="0"/>
          </a:p>
        </p:txBody>
      </p:sp>
      <p:sp>
        <p:nvSpPr>
          <p:cNvPr id="18" name="Text 16"/>
          <p:cNvSpPr txBox="1"/>
          <p:nvPr/>
        </p:nvSpPr>
        <p:spPr>
          <a:xfrm>
            <a:off x="1325880" y="5367528"/>
            <a:ext cx="4297680" cy="640080"/>
          </a:xfrm>
          <a:prstGeom prst="rect">
            <a:avLst/>
          </a:prstGeom>
          <a:noFill/>
          <a:ln/>
        </p:spPr>
        <p:txBody>
          <a:bodyPr wrap="square" lIns="0" tIns="0" rIns="0" bIns="0" rtlCol="0" anchor="t"/>
          <a:lstStyle/>
          <a:p>
            <a:pPr indent="0" marL="0">
              <a:buNone/>
            </a:pPr>
            <a:r>
              <a:rPr lang="en-US" sz="1500" dirty="0">
                <a:solidFill>
                  <a:schemeClr val="tx1"/>
                </a:solidFill>
              </a:rPr>
              <a:t>Status, approval record and balance change commit together.</a:t>
            </a:r>
            <a:endParaRPr lang="en-US" sz="1500" dirty="0"/>
          </a:p>
        </p:txBody>
      </p:sp>
      <p:sp>
        <p:nvSpPr>
          <p:cNvPr id="19" name="code panel"/>
          <p:cNvSpPr/>
          <p:nvPr/>
        </p:nvSpPr>
        <p:spPr>
          <a:xfrm>
            <a:off x="6126480" y="1554480"/>
            <a:ext cx="5513832" cy="4526280"/>
          </a:xfrm>
          <a:prstGeom prst="roundRect">
            <a:avLst>
              <a:gd name="adj" fmla="val 1616"/>
            </a:avLst>
          </a:prstGeom>
          <a:solidFill>
            <a:schemeClr val="tx2"/>
          </a:solidFill>
          <a:ln/>
        </p:spPr>
      </p:sp>
      <p:sp>
        <p:nvSpPr>
          <p:cNvPr id="20" name="Text 18"/>
          <p:cNvSpPr txBox="1"/>
          <p:nvPr/>
        </p:nvSpPr>
        <p:spPr>
          <a:xfrm>
            <a:off x="6446520" y="1810512"/>
            <a:ext cx="484632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ONE ATOMIC TRANSACTION</a:t>
            </a:r>
            <a:endParaRPr lang="en-US" sz="1300" dirty="0"/>
          </a:p>
        </p:txBody>
      </p:sp>
      <p:sp>
        <p:nvSpPr>
          <p:cNvPr id="21" name="Text 19"/>
          <p:cNvSpPr txBox="1"/>
          <p:nvPr/>
        </p:nvSpPr>
        <p:spPr>
          <a:xfrm>
            <a:off x="6446520" y="2240280"/>
            <a:ext cx="4937760" cy="36576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START TRANSACTION;</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UPDATE leave_application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SET status = 'APPROVED'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WHERE app_id = ?;</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UPDATE leave_balance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SET balance_days = balance_days -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WHERE emp_id = ? AND type_id =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AND year = ?;</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INSERT INTO approval (...) VALUES (...);</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COMMIT;  -- any error: ROLLBACK</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CRUD and search coverage</a:t>
            </a:r>
            <a:endParaRPr lang="en-US" sz="3400" dirty="0"/>
          </a:p>
        </p:txBody>
      </p:sp>
      <p:graphicFrame>
        <p:nvGraphicFramePr>
          <p:cNvPr id="10" name="crud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86000"/>
                <a:gridCol w="1097280"/>
                <a:gridCol w="1097280"/>
                <a:gridCol w="1828800"/>
                <a:gridCol w="1463040"/>
                <a:gridCol w="3322015"/>
              </a:tblGrid>
              <a:tr h="566928">
                <a:tc>
                  <a:txBody>
                    <a:bodyPr/>
                    <a:lstStyle/>
                    <a:p>
                      <a:pPr algn="l" indent="0" marL="0">
                        <a:buNone/>
                      </a:pPr>
                      <a:r>
                        <a:rPr lang="en-US" sz="1500" b="1" dirty="0">
                          <a:solidFill>
                            <a:schemeClr val="bg1"/>
                          </a:solidFill>
                        </a:rPr>
                        <a:t>Entity</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500" b="1" dirty="0">
                          <a:solidFill>
                            <a:schemeClr val="bg1"/>
                          </a:solidFill>
                        </a:rPr>
                        <a:t>Create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500" b="1" dirty="0">
                          <a:solidFill>
                            <a:schemeClr val="bg1"/>
                          </a:solidFill>
                        </a:rPr>
                        <a:t>Read</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500" b="1" dirty="0">
                          <a:solidFill>
                            <a:schemeClr val="bg1"/>
                          </a:solidFill>
                        </a:rPr>
                        <a:t>Update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500" b="1" dirty="0">
                          <a:solidFill>
                            <a:schemeClr val="bg1"/>
                          </a:solidFill>
                        </a:rPr>
                        <a:t>Delete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500" b="1" dirty="0">
                          <a:solidFill>
                            <a:schemeClr val="bg1"/>
                          </a:solidFill>
                        </a:rPr>
                        <a:t>Search by</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algn="l" indent="0" marL="0">
                        <a:buNone/>
                      </a:pPr>
                      <a:r>
                        <a:rPr lang="en-US" sz="1500" b="1" dirty="0">
                          <a:solidFill>
                            <a:schemeClr val="tx2"/>
                          </a:solidFill>
                        </a:rPr>
                        <a:t>Employee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tx1"/>
                          </a:solidFill>
                        </a:rPr>
                        <a:t>Deactivate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Name, ID, department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b="1" dirty="0">
                          <a:solidFill>
                            <a:schemeClr val="tx2"/>
                          </a:solidFill>
                        </a:rPr>
                        <a:t>Department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Name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b="1" dirty="0">
                          <a:solidFill>
                            <a:schemeClr val="tx2"/>
                          </a:solidFill>
                        </a:rPr>
                        <a:t>Shift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Name, time range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b="1" dirty="0">
                          <a:solidFill>
                            <a:schemeClr val="tx2"/>
                          </a:solidFill>
                        </a:rPr>
                        <a:t>Roster</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Employee, date, shift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b="1" dirty="0">
                          <a:solidFill>
                            <a:schemeClr val="tx2"/>
                          </a:solidFill>
                        </a:rPr>
                        <a:t>Attendance punch</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tx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Employee, date range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b="1" dirty="0">
                          <a:solidFill>
                            <a:schemeClr val="tx2"/>
                          </a:solidFill>
                        </a:rPr>
                        <a:t>Overtime request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tx1"/>
                          </a:solidFill>
                        </a:rPr>
                        <a:t>Approve / reject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dirty="0">
                          <a:solidFill>
                            <a:schemeClr val="tx1"/>
                          </a:solidFill>
                        </a:rPr>
                        <a:t>Withdraw</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Status, employee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b="1" dirty="0">
                          <a:solidFill>
                            <a:schemeClr val="tx2"/>
                          </a:solidFill>
                        </a:rPr>
                        <a:t>Leave application</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accent1"/>
                          </a:solidFill>
                        </a:rPr>
                        <a: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tx1"/>
                          </a:solidFill>
                        </a:rPr>
                        <a:t>Approve / reject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dirty="0">
                          <a:solidFill>
                            <a:schemeClr val="tx1"/>
                          </a:solidFill>
                        </a:rPr>
                        <a:t>Cancel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Status, type, dates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Validation and error handling</a:t>
            </a:r>
            <a:endParaRPr lang="en-US" sz="3400" dirty="0"/>
          </a:p>
        </p:txBody>
      </p:sp>
      <p:sp>
        <p:nvSpPr>
          <p:cNvPr id="3" name="validation chip 1"/>
          <p:cNvSpPr/>
          <p:nvPr/>
        </p:nvSpPr>
        <p:spPr>
          <a:xfrm>
            <a:off x="548640" y="1417320"/>
            <a:ext cx="2602154" cy="685800"/>
          </a:xfrm>
          <a:prstGeom prst="roundRect">
            <a:avLst>
              <a:gd name="adj" fmla="val 10667"/>
            </a:avLst>
          </a:prstGeom>
          <a:solidFill>
            <a:schemeClr val="bg2"/>
          </a:solidFill>
          <a:ln/>
        </p:spPr>
      </p:sp>
      <p:pic>
        <p:nvPicPr>
          <p:cNvPr id="4" name="validation check 1" descr="check">    </p:cNvPr>
          <p:cNvPicPr>
            <a:picLocks noChangeAspect="1"/>
          </p:cNvPicPr>
          <p:nvPr/>
        </p:nvPicPr>
        <p:blipFill>
          <a:blip r:embed="rId1"/>
          <a:stretch>
            <a:fillRect/>
          </a:stretch>
        </p:blipFill>
        <p:spPr>
          <a:xfrm>
            <a:off x="777240" y="1627632"/>
            <a:ext cx="274320" cy="274320"/>
          </a:xfrm>
          <a:prstGeom prst="rect">
            <a:avLst/>
          </a:prstGeom>
        </p:spPr>
      </p:pic>
      <p:sp>
        <p:nvSpPr>
          <p:cNvPr id="5" name="Text 2"/>
          <p:cNvSpPr txBox="1"/>
          <p:nvPr/>
        </p:nvSpPr>
        <p:spPr>
          <a:xfrm>
            <a:off x="1188720" y="1417320"/>
            <a:ext cx="1824914" cy="685800"/>
          </a:xfrm>
          <a:prstGeom prst="rect">
            <a:avLst/>
          </a:prstGeom>
          <a:noFill/>
          <a:ln/>
        </p:spPr>
        <p:txBody>
          <a:bodyPr wrap="square" lIns="0" tIns="0" rIns="0" bIns="0" rtlCol="0" anchor="ctr"/>
          <a:lstStyle/>
          <a:p>
            <a:pPr indent="0" marL="0">
              <a:buNone/>
            </a:pPr>
            <a:r>
              <a:rPr lang="en-US" sz="1500" b="1" dirty="0">
                <a:solidFill>
                  <a:schemeClr val="tx2"/>
                </a:solidFill>
              </a:rPr>
              <a:t>Mandatory fields</a:t>
            </a:r>
            <a:endParaRPr lang="en-US" sz="1500" dirty="0"/>
          </a:p>
        </p:txBody>
      </p:sp>
      <p:sp>
        <p:nvSpPr>
          <p:cNvPr id="6" name="validation chip 2"/>
          <p:cNvSpPr/>
          <p:nvPr/>
        </p:nvSpPr>
        <p:spPr>
          <a:xfrm>
            <a:off x="3379394" y="1417320"/>
            <a:ext cx="2602154" cy="685800"/>
          </a:xfrm>
          <a:prstGeom prst="roundRect">
            <a:avLst>
              <a:gd name="adj" fmla="val 10667"/>
            </a:avLst>
          </a:prstGeom>
          <a:solidFill>
            <a:schemeClr val="bg2"/>
          </a:solidFill>
          <a:ln/>
        </p:spPr>
      </p:sp>
      <p:pic>
        <p:nvPicPr>
          <p:cNvPr id="7" name="validation check 2" descr="check">    </p:cNvPr>
          <p:cNvPicPr>
            <a:picLocks noChangeAspect="1"/>
          </p:cNvPicPr>
          <p:nvPr/>
        </p:nvPicPr>
        <p:blipFill>
          <a:blip r:embed="rId2"/>
          <a:stretch>
            <a:fillRect/>
          </a:stretch>
        </p:blipFill>
        <p:spPr>
          <a:xfrm>
            <a:off x="3607994" y="1627632"/>
            <a:ext cx="274320" cy="274320"/>
          </a:xfrm>
          <a:prstGeom prst="rect">
            <a:avLst/>
          </a:prstGeom>
        </p:spPr>
      </p:pic>
      <p:sp>
        <p:nvSpPr>
          <p:cNvPr id="8" name="Text 4"/>
          <p:cNvSpPr txBox="1"/>
          <p:nvPr/>
        </p:nvSpPr>
        <p:spPr>
          <a:xfrm>
            <a:off x="4019474" y="1417320"/>
            <a:ext cx="1824914" cy="685800"/>
          </a:xfrm>
          <a:prstGeom prst="rect">
            <a:avLst/>
          </a:prstGeom>
          <a:noFill/>
          <a:ln/>
        </p:spPr>
        <p:txBody>
          <a:bodyPr wrap="square" lIns="0" tIns="0" rIns="0" bIns="0" rtlCol="0" anchor="ctr"/>
          <a:lstStyle/>
          <a:p>
            <a:pPr indent="0" marL="0">
              <a:buNone/>
            </a:pPr>
            <a:r>
              <a:rPr lang="en-US" sz="1500" b="1" dirty="0">
                <a:solidFill>
                  <a:schemeClr val="tx2"/>
                </a:solidFill>
              </a:rPr>
              <a:t>Date and time formats</a:t>
            </a:r>
            <a:endParaRPr lang="en-US" sz="1500" dirty="0"/>
          </a:p>
        </p:txBody>
      </p:sp>
      <p:sp>
        <p:nvSpPr>
          <p:cNvPr id="9" name="validation chip 3"/>
          <p:cNvSpPr/>
          <p:nvPr/>
        </p:nvSpPr>
        <p:spPr>
          <a:xfrm>
            <a:off x="6210148" y="1417320"/>
            <a:ext cx="2602154" cy="685800"/>
          </a:xfrm>
          <a:prstGeom prst="roundRect">
            <a:avLst>
              <a:gd name="adj" fmla="val 10667"/>
            </a:avLst>
          </a:prstGeom>
          <a:solidFill>
            <a:schemeClr val="bg2"/>
          </a:solidFill>
          <a:ln/>
        </p:spPr>
      </p:sp>
      <p:pic>
        <p:nvPicPr>
          <p:cNvPr id="10" name="validation check 3" descr="check">    </p:cNvPr>
          <p:cNvPicPr>
            <a:picLocks noChangeAspect="1"/>
          </p:cNvPicPr>
          <p:nvPr/>
        </p:nvPicPr>
        <p:blipFill>
          <a:blip r:embed="rId3"/>
          <a:stretch>
            <a:fillRect/>
          </a:stretch>
        </p:blipFill>
        <p:spPr>
          <a:xfrm>
            <a:off x="6438748" y="1627632"/>
            <a:ext cx="274320" cy="274320"/>
          </a:xfrm>
          <a:prstGeom prst="rect">
            <a:avLst/>
          </a:prstGeom>
        </p:spPr>
      </p:pic>
      <p:sp>
        <p:nvSpPr>
          <p:cNvPr id="11" name="Text 6"/>
          <p:cNvSpPr txBox="1"/>
          <p:nvPr/>
        </p:nvSpPr>
        <p:spPr>
          <a:xfrm>
            <a:off x="6850228" y="1417320"/>
            <a:ext cx="1824914" cy="685800"/>
          </a:xfrm>
          <a:prstGeom prst="rect">
            <a:avLst/>
          </a:prstGeom>
          <a:noFill/>
          <a:ln/>
        </p:spPr>
        <p:txBody>
          <a:bodyPr wrap="square" lIns="0" tIns="0" rIns="0" bIns="0" rtlCol="0" anchor="ctr"/>
          <a:lstStyle/>
          <a:p>
            <a:pPr indent="0" marL="0">
              <a:buNone/>
            </a:pPr>
            <a:r>
              <a:rPr lang="en-US" sz="1500" b="1" dirty="0">
                <a:solidFill>
                  <a:schemeClr val="tx2"/>
                </a:solidFill>
              </a:rPr>
              <a:t>Numeric ranges</a:t>
            </a:r>
            <a:endParaRPr lang="en-US" sz="1500" dirty="0"/>
          </a:p>
        </p:txBody>
      </p:sp>
      <p:sp>
        <p:nvSpPr>
          <p:cNvPr id="12" name="validation chip 4"/>
          <p:cNvSpPr/>
          <p:nvPr/>
        </p:nvSpPr>
        <p:spPr>
          <a:xfrm>
            <a:off x="9040901" y="1417320"/>
            <a:ext cx="2602154" cy="685800"/>
          </a:xfrm>
          <a:prstGeom prst="roundRect">
            <a:avLst>
              <a:gd name="adj" fmla="val 10667"/>
            </a:avLst>
          </a:prstGeom>
          <a:solidFill>
            <a:schemeClr val="bg2"/>
          </a:solidFill>
          <a:ln/>
        </p:spPr>
      </p:sp>
      <p:pic>
        <p:nvPicPr>
          <p:cNvPr id="13" name="validation check 4" descr="check">    </p:cNvPr>
          <p:cNvPicPr>
            <a:picLocks noChangeAspect="1"/>
          </p:cNvPicPr>
          <p:nvPr/>
        </p:nvPicPr>
        <p:blipFill>
          <a:blip r:embed="rId4"/>
          <a:stretch>
            <a:fillRect/>
          </a:stretch>
        </p:blipFill>
        <p:spPr>
          <a:xfrm>
            <a:off x="9269501" y="1627632"/>
            <a:ext cx="274320" cy="274320"/>
          </a:xfrm>
          <a:prstGeom prst="rect">
            <a:avLst/>
          </a:prstGeom>
        </p:spPr>
      </p:pic>
      <p:sp>
        <p:nvSpPr>
          <p:cNvPr id="14" name="Text 8"/>
          <p:cNvSpPr txBox="1"/>
          <p:nvPr/>
        </p:nvSpPr>
        <p:spPr>
          <a:xfrm>
            <a:off x="9680981" y="1417320"/>
            <a:ext cx="1824914" cy="685800"/>
          </a:xfrm>
          <a:prstGeom prst="rect">
            <a:avLst/>
          </a:prstGeom>
          <a:noFill/>
          <a:ln/>
        </p:spPr>
        <p:txBody>
          <a:bodyPr wrap="square" lIns="0" tIns="0" rIns="0" bIns="0" rtlCol="0" anchor="ctr"/>
          <a:lstStyle/>
          <a:p>
            <a:pPr indent="0" marL="0">
              <a:buNone/>
            </a:pPr>
            <a:r>
              <a:rPr lang="en-US" sz="1500" b="1" dirty="0">
                <a:solidFill>
                  <a:schemeClr val="tx2"/>
                </a:solidFill>
              </a:rPr>
              <a:t>Valid foreign keys</a:t>
            </a:r>
            <a:endParaRPr lang="en-US" sz="1500" dirty="0"/>
          </a:p>
        </p:txBody>
      </p:sp>
      <p:graphicFrame>
        <p:nvGraphicFramePr>
          <p:cNvPr id="11" name="error table"/>
          <p:cNvGraphicFramePr>
            <a:graphicFrameLocks noGrp="1"/>
          </p:cNvGraphicFramePr>
          <p:nvPr>
            <p:extLst>
              <p:ext uri="{D42A27DB-BD31-4B8C-83A1-F6EECF244321}">
                <p14:modId xmlns:p14="http://schemas.microsoft.com/office/powerpoint/2010/main" val="1579011935"/>
              </p:ext>
            </p:extLst>
          </p:nvPr>
        </p:nvGraphicFramePr>
        <p:xfrm>
          <a:off x="548640" y="2423160"/>
          <a:ext cx="11094415" cy="914400"/>
        </p:xfrm>
        <a:graphic>
          <a:graphicData uri="http://schemas.openxmlformats.org/drawingml/2006/table">
            <a:tbl>
              <a:tblPr/>
              <a:tblGrid>
                <a:gridCol w="4023360"/>
                <a:gridCol w="7071055"/>
              </a:tblGrid>
              <a:tr h="457200">
                <a:tc>
                  <a:txBody>
                    <a:bodyPr/>
                    <a:lstStyle/>
                    <a:p>
                      <a:pPr indent="0" marL="0">
                        <a:buNone/>
                      </a:pPr>
                      <a:r>
                        <a:rPr lang="en-US" sz="1500" b="1" dirty="0">
                          <a:solidFill>
                            <a:schemeClr val="bg1"/>
                          </a:solidFill>
                        </a:rPr>
                        <a:t>Scenario</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System response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2"/>
                    </a:solidFill>
                  </a:tcPr>
                </a:tc>
              </a:tr>
              <a:tr h="658368">
                <a:tc>
                  <a:txBody>
                    <a:bodyPr/>
                    <a:lstStyle/>
                    <a:p>
                      <a:pPr indent="0" marL="0">
                        <a:buNone/>
                      </a:pPr>
                      <a:r>
                        <a:rPr lang="en-US" sz="1500" b="1" dirty="0">
                          <a:solidFill>
                            <a:schemeClr val="tx2"/>
                          </a:solidFill>
                        </a:rPr>
                        <a:t>Clock-out earlier than clock-in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Rejected by CHECK; message: "Clock-out must be after clock-in"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500" b="1" dirty="0">
                          <a:solidFill>
                            <a:schemeClr val="tx2"/>
                          </a:solidFill>
                        </a:rPr>
                        <a:t>Employee rostered twice on one date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Rejected by UNIQUE; message: "Shift already assigned for this date"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500" b="1" dirty="0">
                          <a:solidFill>
                            <a:schemeClr val="tx2"/>
                          </a:solidFill>
                        </a:rPr>
                        <a:t>Leave days exceed balance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Blocked before saving; available balance is shown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500" b="1" dirty="0">
                          <a:solidFill>
                            <a:schemeClr val="tx2"/>
                          </a:solidFill>
                        </a:rPr>
                        <a:t>Overtime without approval</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Excluded from the summary and shown as Pending</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500" b="1" dirty="0">
                          <a:solidFill>
                            <a:schemeClr val="tx2"/>
                          </a:solidFill>
                        </a:rPr>
                        <a:t>Database error during an update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Transaction rolled back; no partial data; friendly error message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Reports</a:t>
            </a:r>
            <a:endParaRPr lang="en-US" sz="3400" dirty="0"/>
          </a:p>
        </p:txBody>
      </p:sp>
      <p:sp>
        <p:nvSpPr>
          <p:cNvPr id="3" name="report row 1"/>
          <p:cNvSpPr/>
          <p:nvPr/>
        </p:nvSpPr>
        <p:spPr>
          <a:xfrm>
            <a:off x="548640" y="1463040"/>
            <a:ext cx="6949440" cy="566928"/>
          </a:xfrm>
          <a:prstGeom prst="roundRect">
            <a:avLst>
              <a:gd name="adj" fmla="val 12903"/>
            </a:avLst>
          </a:prstGeom>
          <a:solidFill>
            <a:schemeClr val="bg2"/>
          </a:solidFill>
          <a:ln/>
        </p:spPr>
      </p:sp>
      <p:sp>
        <p:nvSpPr>
          <p:cNvPr id="4" name="report badge 1"/>
          <p:cNvSpPr/>
          <p:nvPr/>
        </p:nvSpPr>
        <p:spPr>
          <a:xfrm>
            <a:off x="685800" y="1554480"/>
            <a:ext cx="384048" cy="384048"/>
          </a:xfrm>
          <a:prstGeom prst="ellipse">
            <a:avLst/>
          </a:prstGeom>
          <a:solidFill>
            <a:schemeClr val="accent1"/>
          </a:solidFill>
          <a:ln/>
        </p:spPr>
      </p:sp>
      <p:sp>
        <p:nvSpPr>
          <p:cNvPr id="5" name="Text 3"/>
          <p:cNvSpPr txBox="1"/>
          <p:nvPr/>
        </p:nvSpPr>
        <p:spPr>
          <a:xfrm>
            <a:off x="68580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280160" y="1463040"/>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Roster</a:t>
            </a:r>
            <a:endParaRPr lang="en-US" sz="1700" dirty="0"/>
          </a:p>
        </p:txBody>
      </p:sp>
      <p:sp>
        <p:nvSpPr>
          <p:cNvPr id="7" name="Text 5"/>
          <p:cNvSpPr txBox="1"/>
          <p:nvPr/>
        </p:nvSpPr>
        <p:spPr>
          <a:xfrm>
            <a:off x="3657600" y="1463040"/>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JOIN across employee, roster, shift</a:t>
            </a:r>
            <a:endParaRPr lang="en-US" sz="1500" dirty="0"/>
          </a:p>
        </p:txBody>
      </p:sp>
      <p:sp>
        <p:nvSpPr>
          <p:cNvPr id="8" name="report row 2"/>
          <p:cNvSpPr/>
          <p:nvPr/>
        </p:nvSpPr>
        <p:spPr>
          <a:xfrm>
            <a:off x="548640" y="2121408"/>
            <a:ext cx="6949440" cy="566928"/>
          </a:xfrm>
          <a:prstGeom prst="roundRect">
            <a:avLst>
              <a:gd name="adj" fmla="val 12903"/>
            </a:avLst>
          </a:prstGeom>
          <a:solidFill>
            <a:schemeClr val="bg2"/>
          </a:solidFill>
          <a:ln/>
        </p:spPr>
      </p:sp>
      <p:sp>
        <p:nvSpPr>
          <p:cNvPr id="9" name="report badge 2"/>
          <p:cNvSpPr/>
          <p:nvPr/>
        </p:nvSpPr>
        <p:spPr>
          <a:xfrm>
            <a:off x="685800" y="2212848"/>
            <a:ext cx="384048" cy="384048"/>
          </a:xfrm>
          <a:prstGeom prst="ellipse">
            <a:avLst/>
          </a:prstGeom>
          <a:solidFill>
            <a:schemeClr val="accent1"/>
          </a:solidFill>
          <a:ln/>
        </p:spPr>
      </p:sp>
      <p:sp>
        <p:nvSpPr>
          <p:cNvPr id="10" name="Text 8"/>
          <p:cNvSpPr txBox="1"/>
          <p:nvPr/>
        </p:nvSpPr>
        <p:spPr>
          <a:xfrm>
            <a:off x="68580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1280160" y="2121408"/>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Lateness</a:t>
            </a:r>
            <a:endParaRPr lang="en-US" sz="1700" dirty="0"/>
          </a:p>
        </p:txBody>
      </p:sp>
      <p:sp>
        <p:nvSpPr>
          <p:cNvPr id="12" name="Text 10"/>
          <p:cNvSpPr txBox="1"/>
          <p:nvPr/>
        </p:nvSpPr>
        <p:spPr>
          <a:xfrm>
            <a:off x="3657600" y="2121408"/>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JOIN with date filter</a:t>
            </a:r>
            <a:endParaRPr lang="en-US" sz="1500" dirty="0"/>
          </a:p>
        </p:txBody>
      </p:sp>
      <p:sp>
        <p:nvSpPr>
          <p:cNvPr id="13" name="report row 3"/>
          <p:cNvSpPr/>
          <p:nvPr/>
        </p:nvSpPr>
        <p:spPr>
          <a:xfrm>
            <a:off x="548640" y="2779776"/>
            <a:ext cx="6949440" cy="566928"/>
          </a:xfrm>
          <a:prstGeom prst="roundRect">
            <a:avLst>
              <a:gd name="adj" fmla="val 12903"/>
            </a:avLst>
          </a:prstGeom>
          <a:solidFill>
            <a:schemeClr val="bg2"/>
          </a:solidFill>
          <a:ln/>
        </p:spPr>
      </p:sp>
      <p:sp>
        <p:nvSpPr>
          <p:cNvPr id="14" name="report badge 3"/>
          <p:cNvSpPr/>
          <p:nvPr/>
        </p:nvSpPr>
        <p:spPr>
          <a:xfrm>
            <a:off x="685800" y="2871216"/>
            <a:ext cx="384048" cy="384048"/>
          </a:xfrm>
          <a:prstGeom prst="ellipse">
            <a:avLst/>
          </a:prstGeom>
          <a:solidFill>
            <a:schemeClr val="accent1"/>
          </a:solidFill>
          <a:ln/>
        </p:spPr>
      </p:sp>
      <p:sp>
        <p:nvSpPr>
          <p:cNvPr id="15" name="Text 13"/>
          <p:cNvSpPr txBox="1"/>
          <p:nvPr/>
        </p:nvSpPr>
        <p:spPr>
          <a:xfrm>
            <a:off x="685800" y="28712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280160" y="2779776"/>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Absence</a:t>
            </a:r>
            <a:endParaRPr lang="en-US" sz="1700" dirty="0"/>
          </a:p>
        </p:txBody>
      </p:sp>
      <p:sp>
        <p:nvSpPr>
          <p:cNvPr id="17" name="Text 15"/>
          <p:cNvSpPr txBox="1"/>
          <p:nvPr/>
        </p:nvSpPr>
        <p:spPr>
          <a:xfrm>
            <a:off x="3657600" y="2779776"/>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NOT EXISTS subquery</a:t>
            </a:r>
            <a:endParaRPr lang="en-US" sz="1500" dirty="0"/>
          </a:p>
        </p:txBody>
      </p:sp>
      <p:sp>
        <p:nvSpPr>
          <p:cNvPr id="18" name="report row 4"/>
          <p:cNvSpPr/>
          <p:nvPr/>
        </p:nvSpPr>
        <p:spPr>
          <a:xfrm>
            <a:off x="548640" y="3438144"/>
            <a:ext cx="6949440" cy="566928"/>
          </a:xfrm>
          <a:prstGeom prst="roundRect">
            <a:avLst>
              <a:gd name="adj" fmla="val 12903"/>
            </a:avLst>
          </a:prstGeom>
          <a:solidFill>
            <a:schemeClr val="bg2"/>
          </a:solidFill>
          <a:ln/>
        </p:spPr>
      </p:sp>
      <p:sp>
        <p:nvSpPr>
          <p:cNvPr id="19" name="report badge 4"/>
          <p:cNvSpPr/>
          <p:nvPr/>
        </p:nvSpPr>
        <p:spPr>
          <a:xfrm>
            <a:off x="685800" y="3529584"/>
            <a:ext cx="384048" cy="384048"/>
          </a:xfrm>
          <a:prstGeom prst="ellipse">
            <a:avLst/>
          </a:prstGeom>
          <a:solidFill>
            <a:schemeClr val="accent1"/>
          </a:solidFill>
          <a:ln/>
        </p:spPr>
      </p:sp>
      <p:sp>
        <p:nvSpPr>
          <p:cNvPr id="20" name="Text 18"/>
          <p:cNvSpPr txBox="1"/>
          <p:nvPr/>
        </p:nvSpPr>
        <p:spPr>
          <a:xfrm>
            <a:off x="685800" y="35295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280160" y="3438144"/>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Overtime</a:t>
            </a:r>
            <a:endParaRPr lang="en-US" sz="1700" dirty="0"/>
          </a:p>
        </p:txBody>
      </p:sp>
      <p:sp>
        <p:nvSpPr>
          <p:cNvPr id="22" name="Text 20"/>
          <p:cNvSpPr txBox="1"/>
          <p:nvPr/>
        </p:nvSpPr>
        <p:spPr>
          <a:xfrm>
            <a:off x="3657600" y="3438144"/>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GROUP BY with SUM</a:t>
            </a:r>
            <a:endParaRPr lang="en-US" sz="1500" dirty="0"/>
          </a:p>
        </p:txBody>
      </p:sp>
      <p:sp>
        <p:nvSpPr>
          <p:cNvPr id="23" name="report row 5"/>
          <p:cNvSpPr/>
          <p:nvPr/>
        </p:nvSpPr>
        <p:spPr>
          <a:xfrm>
            <a:off x="548640" y="4096512"/>
            <a:ext cx="6949440" cy="566928"/>
          </a:xfrm>
          <a:prstGeom prst="roundRect">
            <a:avLst>
              <a:gd name="adj" fmla="val 12903"/>
            </a:avLst>
          </a:prstGeom>
          <a:solidFill>
            <a:schemeClr val="bg2"/>
          </a:solidFill>
          <a:ln/>
        </p:spPr>
      </p:sp>
      <p:sp>
        <p:nvSpPr>
          <p:cNvPr id="24" name="report badge 5"/>
          <p:cNvSpPr/>
          <p:nvPr/>
        </p:nvSpPr>
        <p:spPr>
          <a:xfrm>
            <a:off x="685800" y="4187952"/>
            <a:ext cx="384048" cy="384048"/>
          </a:xfrm>
          <a:prstGeom prst="ellipse">
            <a:avLst/>
          </a:prstGeom>
          <a:solidFill>
            <a:schemeClr val="accent1"/>
          </a:solidFill>
          <a:ln/>
        </p:spPr>
      </p:sp>
      <p:sp>
        <p:nvSpPr>
          <p:cNvPr id="25" name="Text 23"/>
          <p:cNvSpPr txBox="1"/>
          <p:nvPr/>
        </p:nvSpPr>
        <p:spPr>
          <a:xfrm>
            <a:off x="685800" y="4187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1280160" y="4096512"/>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Leave balances</a:t>
            </a:r>
            <a:endParaRPr lang="en-US" sz="1700" dirty="0"/>
          </a:p>
        </p:txBody>
      </p:sp>
      <p:sp>
        <p:nvSpPr>
          <p:cNvPr id="27" name="Text 25"/>
          <p:cNvSpPr txBox="1"/>
          <p:nvPr/>
        </p:nvSpPr>
        <p:spPr>
          <a:xfrm>
            <a:off x="3657600" y="4096512"/>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JOIN with calculation</a:t>
            </a:r>
            <a:endParaRPr lang="en-US" sz="1500" dirty="0"/>
          </a:p>
        </p:txBody>
      </p:sp>
      <p:sp>
        <p:nvSpPr>
          <p:cNvPr id="28" name="report row 6"/>
          <p:cNvSpPr/>
          <p:nvPr/>
        </p:nvSpPr>
        <p:spPr>
          <a:xfrm>
            <a:off x="548640" y="4754880"/>
            <a:ext cx="6949440" cy="566928"/>
          </a:xfrm>
          <a:prstGeom prst="roundRect">
            <a:avLst>
              <a:gd name="adj" fmla="val 12903"/>
            </a:avLst>
          </a:prstGeom>
          <a:solidFill>
            <a:schemeClr val="bg2"/>
          </a:solidFill>
          <a:ln/>
        </p:spPr>
      </p:sp>
      <p:sp>
        <p:nvSpPr>
          <p:cNvPr id="29" name="report badge 6"/>
          <p:cNvSpPr/>
          <p:nvPr/>
        </p:nvSpPr>
        <p:spPr>
          <a:xfrm>
            <a:off x="685800" y="4846320"/>
            <a:ext cx="384048" cy="384048"/>
          </a:xfrm>
          <a:prstGeom prst="ellipse">
            <a:avLst/>
          </a:prstGeom>
          <a:solidFill>
            <a:schemeClr val="accent1"/>
          </a:solidFill>
          <a:ln/>
        </p:spPr>
      </p:sp>
      <p:sp>
        <p:nvSpPr>
          <p:cNvPr id="30" name="Text 28"/>
          <p:cNvSpPr txBox="1"/>
          <p:nvPr/>
        </p:nvSpPr>
        <p:spPr>
          <a:xfrm>
            <a:off x="685800" y="4846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1280160" y="4754880"/>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Shift coverage</a:t>
            </a:r>
            <a:endParaRPr lang="en-US" sz="1700" dirty="0"/>
          </a:p>
        </p:txBody>
      </p:sp>
      <p:sp>
        <p:nvSpPr>
          <p:cNvPr id="32" name="Text 30"/>
          <p:cNvSpPr txBox="1"/>
          <p:nvPr/>
        </p:nvSpPr>
        <p:spPr>
          <a:xfrm>
            <a:off x="3657600" y="4754880"/>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COUNT per shift and day</a:t>
            </a:r>
            <a:endParaRPr lang="en-US" sz="1500" dirty="0"/>
          </a:p>
        </p:txBody>
      </p:sp>
      <p:sp>
        <p:nvSpPr>
          <p:cNvPr id="33" name="report row 7"/>
          <p:cNvSpPr/>
          <p:nvPr/>
        </p:nvSpPr>
        <p:spPr>
          <a:xfrm>
            <a:off x="548640" y="5413248"/>
            <a:ext cx="6949440" cy="566928"/>
          </a:xfrm>
          <a:prstGeom prst="roundRect">
            <a:avLst>
              <a:gd name="adj" fmla="val 12903"/>
            </a:avLst>
          </a:prstGeom>
          <a:solidFill>
            <a:schemeClr val="bg2"/>
          </a:solidFill>
          <a:ln/>
        </p:spPr>
      </p:sp>
      <p:sp>
        <p:nvSpPr>
          <p:cNvPr id="34" name="report badge 7"/>
          <p:cNvSpPr/>
          <p:nvPr/>
        </p:nvSpPr>
        <p:spPr>
          <a:xfrm>
            <a:off x="685800" y="5504688"/>
            <a:ext cx="384048" cy="384048"/>
          </a:xfrm>
          <a:prstGeom prst="ellipse">
            <a:avLst/>
          </a:prstGeom>
          <a:solidFill>
            <a:schemeClr val="accent1"/>
          </a:solidFill>
          <a:ln/>
        </p:spPr>
      </p:sp>
      <p:sp>
        <p:nvSpPr>
          <p:cNvPr id="35" name="Text 33"/>
          <p:cNvSpPr txBox="1"/>
          <p:nvPr/>
        </p:nvSpPr>
        <p:spPr>
          <a:xfrm>
            <a:off x="685800" y="55046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4"/>
          <p:cNvSpPr txBox="1"/>
          <p:nvPr/>
        </p:nvSpPr>
        <p:spPr>
          <a:xfrm>
            <a:off x="1280160" y="5413248"/>
            <a:ext cx="2377440" cy="566928"/>
          </a:xfrm>
          <a:prstGeom prst="rect">
            <a:avLst/>
          </a:prstGeom>
          <a:noFill/>
          <a:ln/>
        </p:spPr>
        <p:txBody>
          <a:bodyPr wrap="square" lIns="0" tIns="0" rIns="0" bIns="0" rtlCol="0" anchor="ctr"/>
          <a:lstStyle/>
          <a:p>
            <a:pPr indent="0" marL="0">
              <a:buNone/>
            </a:pPr>
            <a:r>
              <a:rPr lang="en-US" sz="1700" b="1" dirty="0">
                <a:solidFill>
                  <a:schemeClr val="tx2"/>
                </a:solidFill>
              </a:rPr>
              <a:t>Department summary</a:t>
            </a:r>
            <a:endParaRPr lang="en-US" sz="1700" dirty="0"/>
          </a:p>
        </p:txBody>
      </p:sp>
      <p:sp>
        <p:nvSpPr>
          <p:cNvPr id="37" name="Text 35"/>
          <p:cNvSpPr txBox="1"/>
          <p:nvPr/>
        </p:nvSpPr>
        <p:spPr>
          <a:xfrm>
            <a:off x="3657600" y="5413248"/>
            <a:ext cx="3749040" cy="566928"/>
          </a:xfrm>
          <a:prstGeom prst="rect">
            <a:avLst/>
          </a:prstGeom>
          <a:noFill/>
          <a:ln/>
        </p:spPr>
        <p:txBody>
          <a:bodyPr wrap="square" lIns="0" tIns="0" rIns="0" bIns="0" rtlCol="0" anchor="ctr"/>
          <a:lstStyle/>
          <a:p>
            <a:pPr indent="0" marL="0">
              <a:buNone/>
            </a:pPr>
            <a:r>
              <a:rPr lang="en-US" sz="1500" dirty="0">
                <a:solidFill>
                  <a:schemeClr val="accent3"/>
                </a:solidFill>
              </a:rPr>
              <a:t>GROUP BY with HAVING</a:t>
            </a:r>
            <a:endParaRPr lang="en-US" sz="1500" dirty="0"/>
          </a:p>
        </p:txBody>
      </p:sp>
      <p:sp>
        <p:nvSpPr>
          <p:cNvPr id="38" name="views panel"/>
          <p:cNvSpPr/>
          <p:nvPr/>
        </p:nvSpPr>
        <p:spPr>
          <a:xfrm>
            <a:off x="7863840" y="1463040"/>
            <a:ext cx="3776472" cy="4572000"/>
          </a:xfrm>
          <a:prstGeom prst="roundRect">
            <a:avLst>
              <a:gd name="adj" fmla="val 1937"/>
            </a:avLst>
          </a:prstGeom>
          <a:solidFill>
            <a:schemeClr val="tx2"/>
          </a:solidFill>
          <a:ln/>
        </p:spPr>
      </p:sp>
      <p:sp>
        <p:nvSpPr>
          <p:cNvPr id="39" name="Text 37"/>
          <p:cNvSpPr txBox="1"/>
          <p:nvPr/>
        </p:nvSpPr>
        <p:spPr>
          <a:xfrm>
            <a:off x="8183880" y="1737360"/>
            <a:ext cx="320040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BUILT ON SQL VIEWS</a:t>
            </a:r>
            <a:endParaRPr lang="en-US" sz="1300" dirty="0"/>
          </a:p>
        </p:txBody>
      </p:sp>
      <p:sp>
        <p:nvSpPr>
          <p:cNvPr id="40" name="Text 38"/>
          <p:cNvSpPr txBox="1"/>
          <p:nvPr/>
        </p:nvSpPr>
        <p:spPr>
          <a:xfrm>
            <a:off x="8183880" y="2148840"/>
            <a:ext cx="3154680" cy="1554480"/>
          </a:xfrm>
          <a:prstGeom prst="rect">
            <a:avLst/>
          </a:prstGeom>
          <a:noFill/>
          <a:ln/>
        </p:spPr>
        <p:txBody>
          <a:bodyPr wrap="square" lIns="0" tIns="0" rIns="0" bIns="0" rtlCol="0" anchor="t"/>
          <a:lstStyle/>
          <a:p>
            <a:pPr indent="0" marL="0">
              <a:buNone/>
            </a:pPr>
            <a:r>
              <a:rPr lang="en-US" sz="1600" dirty="0">
                <a:solidFill>
                  <a:schemeClr val="bg1"/>
                </a:solidFill>
              </a:rPr>
              <a:t>Each report reads from a view that combines joins, aggregates and subqueries, so the interface stays simple.</a:t>
            </a:r>
            <a:endParaRPr lang="en-US" sz="1600" dirty="0"/>
          </a:p>
        </p:txBody>
      </p:sp>
      <p:sp>
        <p:nvSpPr>
          <p:cNvPr id="41" name="Text 39"/>
          <p:cNvSpPr txBox="1"/>
          <p:nvPr/>
        </p:nvSpPr>
        <p:spPr>
          <a:xfrm>
            <a:off x="8183880" y="3840480"/>
            <a:ext cx="3154680" cy="201168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v_roster</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v_lateness</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v_absence</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v_overtime</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v_leave_balance</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v_shift_coverage</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v_dept_summary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Output screens</a:t>
            </a:r>
            <a:endParaRPr lang="en-US" sz="3400" dirty="0"/>
          </a:p>
        </p:txBody>
      </p:sp>
      <p:sp>
        <p:nvSpPr>
          <p:cNvPr id="3" name="screenshot frame 1"/>
          <p:cNvSpPr/>
          <p:nvPr/>
        </p:nvSpPr>
        <p:spPr>
          <a:xfrm>
            <a:off x="548640" y="1371600"/>
            <a:ext cx="5387188" cy="1920240"/>
          </a:xfrm>
          <a:prstGeom prst="roundRect">
            <a:avLst>
              <a:gd name="adj" fmla="val 3810"/>
            </a:avLst>
          </a:prstGeom>
          <a:solidFill>
            <a:schemeClr val="bg2"/>
          </a:solidFill>
          <a:ln w="19050">
            <a:solidFill>
              <a:schemeClr val="accent6"/>
            </a:solidFill>
            <a:prstDash val="dash"/>
          </a:ln>
        </p:spPr>
      </p:sp>
      <p:pic>
        <p:nvPicPr>
          <p:cNvPr id="4" name="camera icon 1" descr="camera">    </p:cNvPr>
          <p:cNvPicPr>
            <a:picLocks noChangeAspect="1"/>
          </p:cNvPicPr>
          <p:nvPr/>
        </p:nvPicPr>
        <p:blipFill>
          <a:blip r:embed="rId1"/>
          <a:stretch>
            <a:fillRect/>
          </a:stretch>
        </p:blipFill>
        <p:spPr>
          <a:xfrm>
            <a:off x="3013634" y="1874520"/>
            <a:ext cx="457200" cy="457200"/>
          </a:xfrm>
          <a:prstGeom prst="rect">
            <a:avLst/>
          </a:prstGeom>
        </p:spPr>
      </p:pic>
      <p:sp>
        <p:nvSpPr>
          <p:cNvPr id="5" name="Text 2"/>
          <p:cNvSpPr txBox="1"/>
          <p:nvPr/>
        </p:nvSpPr>
        <p:spPr>
          <a:xfrm>
            <a:off x="548640" y="2468880"/>
            <a:ext cx="5387188" cy="365760"/>
          </a:xfrm>
          <a:prstGeom prst="rect">
            <a:avLst/>
          </a:prstGeom>
          <a:noFill/>
          <a:ln/>
        </p:spPr>
        <p:txBody>
          <a:bodyPr wrap="square" lIns="0" tIns="0" rIns="0" bIns="0" rtlCol="0" anchor="t"/>
          <a:lstStyle/>
          <a:p>
            <a:pPr algn="ctr" indent="0" marL="0">
              <a:buNone/>
            </a:pPr>
            <a:r>
              <a:rPr lang="en-US" sz="1400" dirty="0">
                <a:solidFill>
                  <a:schemeClr val="accent3"/>
                </a:solidFill>
              </a:rPr>
              <a:t>Insert screenshot here</a:t>
            </a:r>
            <a:endParaRPr lang="en-US" sz="1400" dirty="0"/>
          </a:p>
        </p:txBody>
      </p:sp>
      <p:sp>
        <p:nvSpPr>
          <p:cNvPr id="6" name="Text 3"/>
          <p:cNvSpPr txBox="1"/>
          <p:nvPr/>
        </p:nvSpPr>
        <p:spPr>
          <a:xfrm>
            <a:off x="548640" y="3355848"/>
            <a:ext cx="5387188" cy="274320"/>
          </a:xfrm>
          <a:prstGeom prst="rect">
            <a:avLst/>
          </a:prstGeom>
          <a:noFill/>
          <a:ln/>
        </p:spPr>
        <p:txBody>
          <a:bodyPr wrap="square" lIns="0" tIns="0" rIns="0" bIns="0" rtlCol="0" anchor="t"/>
          <a:lstStyle/>
          <a:p>
            <a:pPr indent="0" marL="0">
              <a:buNone/>
            </a:pPr>
            <a:r>
              <a:rPr lang="en-US" sz="1400" b="1" dirty="0">
                <a:solidFill>
                  <a:schemeClr val="tx2"/>
                </a:solidFill>
              </a:rPr>
              <a:t>1  Roster preparation</a:t>
            </a:r>
            <a:endParaRPr lang="en-US" sz="1400" dirty="0"/>
          </a:p>
        </p:txBody>
      </p:sp>
      <p:sp>
        <p:nvSpPr>
          <p:cNvPr id="7" name="screenshot frame 2"/>
          <p:cNvSpPr/>
          <p:nvPr/>
        </p:nvSpPr>
        <p:spPr>
          <a:xfrm>
            <a:off x="6255868" y="1371600"/>
            <a:ext cx="5387188" cy="1920240"/>
          </a:xfrm>
          <a:prstGeom prst="roundRect">
            <a:avLst>
              <a:gd name="adj" fmla="val 3810"/>
            </a:avLst>
          </a:prstGeom>
          <a:solidFill>
            <a:schemeClr val="bg2"/>
          </a:solidFill>
          <a:ln w="19050">
            <a:solidFill>
              <a:schemeClr val="accent6"/>
            </a:solidFill>
            <a:prstDash val="dash"/>
          </a:ln>
        </p:spPr>
      </p:sp>
      <p:pic>
        <p:nvPicPr>
          <p:cNvPr id="8" name="camera icon 2" descr="camera">    </p:cNvPr>
          <p:cNvPicPr>
            <a:picLocks noChangeAspect="1"/>
          </p:cNvPicPr>
          <p:nvPr/>
        </p:nvPicPr>
        <p:blipFill>
          <a:blip r:embed="rId2"/>
          <a:stretch>
            <a:fillRect/>
          </a:stretch>
        </p:blipFill>
        <p:spPr>
          <a:xfrm>
            <a:off x="8720861" y="1874520"/>
            <a:ext cx="457200" cy="457200"/>
          </a:xfrm>
          <a:prstGeom prst="rect">
            <a:avLst/>
          </a:prstGeom>
        </p:spPr>
      </p:pic>
      <p:sp>
        <p:nvSpPr>
          <p:cNvPr id="9" name="Text 5"/>
          <p:cNvSpPr txBox="1"/>
          <p:nvPr/>
        </p:nvSpPr>
        <p:spPr>
          <a:xfrm>
            <a:off x="6255868" y="2468880"/>
            <a:ext cx="5387188" cy="365760"/>
          </a:xfrm>
          <a:prstGeom prst="rect">
            <a:avLst/>
          </a:prstGeom>
          <a:noFill/>
          <a:ln/>
        </p:spPr>
        <p:txBody>
          <a:bodyPr wrap="square" lIns="0" tIns="0" rIns="0" bIns="0" rtlCol="0" anchor="t"/>
          <a:lstStyle/>
          <a:p>
            <a:pPr algn="ctr" indent="0" marL="0">
              <a:buNone/>
            </a:pPr>
            <a:r>
              <a:rPr lang="en-US" sz="1400" dirty="0">
                <a:solidFill>
                  <a:schemeClr val="accent3"/>
                </a:solidFill>
              </a:rPr>
              <a:t>Insert screenshot here</a:t>
            </a:r>
            <a:endParaRPr lang="en-US" sz="1400" dirty="0"/>
          </a:p>
        </p:txBody>
      </p:sp>
      <p:sp>
        <p:nvSpPr>
          <p:cNvPr id="10" name="Text 6"/>
          <p:cNvSpPr txBox="1"/>
          <p:nvPr/>
        </p:nvSpPr>
        <p:spPr>
          <a:xfrm>
            <a:off x="6255868" y="3355848"/>
            <a:ext cx="5387188" cy="274320"/>
          </a:xfrm>
          <a:prstGeom prst="rect">
            <a:avLst/>
          </a:prstGeom>
          <a:noFill/>
          <a:ln/>
        </p:spPr>
        <p:txBody>
          <a:bodyPr wrap="square" lIns="0" tIns="0" rIns="0" bIns="0" rtlCol="0" anchor="t"/>
          <a:lstStyle/>
          <a:p>
            <a:pPr indent="0" marL="0">
              <a:buNone/>
            </a:pPr>
            <a:r>
              <a:rPr lang="en-US" sz="1400" b="1" dirty="0">
                <a:solidFill>
                  <a:schemeClr val="tx2"/>
                </a:solidFill>
              </a:rPr>
              <a:t>2  Clock-in / clock-out entry</a:t>
            </a:r>
            <a:endParaRPr lang="en-US" sz="1400" dirty="0"/>
          </a:p>
        </p:txBody>
      </p:sp>
      <p:sp>
        <p:nvSpPr>
          <p:cNvPr id="11" name="screenshot frame 3"/>
          <p:cNvSpPr/>
          <p:nvPr/>
        </p:nvSpPr>
        <p:spPr>
          <a:xfrm>
            <a:off x="548640" y="3840480"/>
            <a:ext cx="5387188" cy="1920240"/>
          </a:xfrm>
          <a:prstGeom prst="roundRect">
            <a:avLst>
              <a:gd name="adj" fmla="val 3810"/>
            </a:avLst>
          </a:prstGeom>
          <a:solidFill>
            <a:schemeClr val="bg2"/>
          </a:solidFill>
          <a:ln w="19050">
            <a:solidFill>
              <a:schemeClr val="accent6"/>
            </a:solidFill>
            <a:prstDash val="dash"/>
          </a:ln>
        </p:spPr>
      </p:sp>
      <p:pic>
        <p:nvPicPr>
          <p:cNvPr id="12" name="camera icon 3" descr="camera">    </p:cNvPr>
          <p:cNvPicPr>
            <a:picLocks noChangeAspect="1"/>
          </p:cNvPicPr>
          <p:nvPr/>
        </p:nvPicPr>
        <p:blipFill>
          <a:blip r:embed="rId3"/>
          <a:stretch>
            <a:fillRect/>
          </a:stretch>
        </p:blipFill>
        <p:spPr>
          <a:xfrm>
            <a:off x="3013634" y="4343400"/>
            <a:ext cx="457200" cy="457200"/>
          </a:xfrm>
          <a:prstGeom prst="rect">
            <a:avLst/>
          </a:prstGeom>
        </p:spPr>
      </p:pic>
      <p:sp>
        <p:nvSpPr>
          <p:cNvPr id="13" name="Text 8"/>
          <p:cNvSpPr txBox="1"/>
          <p:nvPr/>
        </p:nvSpPr>
        <p:spPr>
          <a:xfrm>
            <a:off x="548640" y="4937760"/>
            <a:ext cx="5387188" cy="365760"/>
          </a:xfrm>
          <a:prstGeom prst="rect">
            <a:avLst/>
          </a:prstGeom>
          <a:noFill/>
          <a:ln/>
        </p:spPr>
        <p:txBody>
          <a:bodyPr wrap="square" lIns="0" tIns="0" rIns="0" bIns="0" rtlCol="0" anchor="t"/>
          <a:lstStyle/>
          <a:p>
            <a:pPr algn="ctr" indent="0" marL="0">
              <a:buNone/>
            </a:pPr>
            <a:r>
              <a:rPr lang="en-US" sz="1400" dirty="0">
                <a:solidFill>
                  <a:schemeClr val="accent3"/>
                </a:solidFill>
              </a:rPr>
              <a:t>Insert screenshot here</a:t>
            </a:r>
            <a:endParaRPr lang="en-US" sz="1400" dirty="0"/>
          </a:p>
        </p:txBody>
      </p:sp>
      <p:sp>
        <p:nvSpPr>
          <p:cNvPr id="14" name="Text 9"/>
          <p:cNvSpPr txBox="1"/>
          <p:nvPr/>
        </p:nvSpPr>
        <p:spPr>
          <a:xfrm>
            <a:off x="548640" y="5824728"/>
            <a:ext cx="5387188" cy="274320"/>
          </a:xfrm>
          <a:prstGeom prst="rect">
            <a:avLst/>
          </a:prstGeom>
          <a:noFill/>
          <a:ln/>
        </p:spPr>
        <p:txBody>
          <a:bodyPr wrap="square" lIns="0" tIns="0" rIns="0" bIns="0" rtlCol="0" anchor="t"/>
          <a:lstStyle/>
          <a:p>
            <a:pPr indent="0" marL="0">
              <a:buNone/>
            </a:pPr>
            <a:r>
              <a:rPr lang="en-US" sz="1400" b="1" dirty="0">
                <a:solidFill>
                  <a:schemeClr val="tx2"/>
                </a:solidFill>
              </a:rPr>
              <a:t>3  Leave application and approval</a:t>
            </a:r>
            <a:endParaRPr lang="en-US" sz="1400" dirty="0"/>
          </a:p>
        </p:txBody>
      </p:sp>
      <p:sp>
        <p:nvSpPr>
          <p:cNvPr id="15" name="screenshot frame 4"/>
          <p:cNvSpPr/>
          <p:nvPr/>
        </p:nvSpPr>
        <p:spPr>
          <a:xfrm>
            <a:off x="6255868" y="3840480"/>
            <a:ext cx="5387188" cy="1920240"/>
          </a:xfrm>
          <a:prstGeom prst="roundRect">
            <a:avLst>
              <a:gd name="adj" fmla="val 3810"/>
            </a:avLst>
          </a:prstGeom>
          <a:solidFill>
            <a:schemeClr val="bg2"/>
          </a:solidFill>
          <a:ln w="19050">
            <a:solidFill>
              <a:schemeClr val="accent6"/>
            </a:solidFill>
            <a:prstDash val="dash"/>
          </a:ln>
        </p:spPr>
      </p:sp>
      <p:pic>
        <p:nvPicPr>
          <p:cNvPr id="16" name="camera icon 4" descr="camera">    </p:cNvPr>
          <p:cNvPicPr>
            <a:picLocks noChangeAspect="1"/>
          </p:cNvPicPr>
          <p:nvPr/>
        </p:nvPicPr>
        <p:blipFill>
          <a:blip r:embed="rId4"/>
          <a:stretch>
            <a:fillRect/>
          </a:stretch>
        </p:blipFill>
        <p:spPr>
          <a:xfrm>
            <a:off x="8720861" y="4343400"/>
            <a:ext cx="457200" cy="457200"/>
          </a:xfrm>
          <a:prstGeom prst="rect">
            <a:avLst/>
          </a:prstGeom>
        </p:spPr>
      </p:pic>
      <p:sp>
        <p:nvSpPr>
          <p:cNvPr id="17" name="Text 11"/>
          <p:cNvSpPr txBox="1"/>
          <p:nvPr/>
        </p:nvSpPr>
        <p:spPr>
          <a:xfrm>
            <a:off x="6255868" y="4937760"/>
            <a:ext cx="5387188" cy="365760"/>
          </a:xfrm>
          <a:prstGeom prst="rect">
            <a:avLst/>
          </a:prstGeom>
          <a:noFill/>
          <a:ln/>
        </p:spPr>
        <p:txBody>
          <a:bodyPr wrap="square" lIns="0" tIns="0" rIns="0" bIns="0" rtlCol="0" anchor="t"/>
          <a:lstStyle/>
          <a:p>
            <a:pPr algn="ctr" indent="0" marL="0">
              <a:buNone/>
            </a:pPr>
            <a:r>
              <a:rPr lang="en-US" sz="1400" dirty="0">
                <a:solidFill>
                  <a:schemeClr val="accent3"/>
                </a:solidFill>
              </a:rPr>
              <a:t>Insert screenshot here</a:t>
            </a:r>
            <a:endParaRPr lang="en-US" sz="1400" dirty="0"/>
          </a:p>
        </p:txBody>
      </p:sp>
      <p:sp>
        <p:nvSpPr>
          <p:cNvPr id="18" name="Text 12"/>
          <p:cNvSpPr txBox="1"/>
          <p:nvPr/>
        </p:nvSpPr>
        <p:spPr>
          <a:xfrm>
            <a:off x="6255868" y="5824728"/>
            <a:ext cx="5387188" cy="274320"/>
          </a:xfrm>
          <a:prstGeom prst="rect">
            <a:avLst/>
          </a:prstGeom>
          <a:noFill/>
          <a:ln/>
        </p:spPr>
        <p:txBody>
          <a:bodyPr wrap="square" lIns="0" tIns="0" rIns="0" bIns="0" rtlCol="0" anchor="t"/>
          <a:lstStyle/>
          <a:p>
            <a:pPr indent="0" marL="0">
              <a:buNone/>
            </a:pPr>
            <a:r>
              <a:rPr lang="en-US" sz="1400" b="1" dirty="0">
                <a:solidFill>
                  <a:schemeClr val="tx2"/>
                </a:solidFill>
              </a:rPr>
              <a:t>4  Department summary report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Testing summary</a:t>
            </a:r>
            <a:endParaRPr lang="en-US" sz="3400" dirty="0"/>
          </a:p>
        </p:txBody>
      </p:sp>
      <p:graphicFrame>
        <p:nvGraphicFramePr>
          <p:cNvPr id="14" name="test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731520"/>
                <a:gridCol w="3017520"/>
                <a:gridCol w="3566160"/>
                <a:gridCol w="3779215"/>
              </a:tblGrid>
              <a:tr h="457200">
                <a:tc>
                  <a:txBody>
                    <a:bodyPr/>
                    <a:lstStyle/>
                    <a:p>
                      <a:pPr indent="0" marL="0">
                        <a:buNone/>
                      </a:pPr>
                      <a:r>
                        <a:rPr lang="en-US" sz="1500" b="1" dirty="0">
                          <a:solidFill>
                            <a:schemeClr val="bg1"/>
                          </a:solidFill>
                        </a:rPr>
                        <a:t>ID</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Scenario</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Test input</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Expected result</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tx2"/>
                    </a:solidFill>
                  </a:tcPr>
                </a:tc>
              </a:tr>
              <a:tr h="658368">
                <a:tc>
                  <a:txBody>
                    <a:bodyPr/>
                    <a:lstStyle/>
                    <a:p>
                      <a:pPr indent="0" marL="0">
                        <a:buNone/>
                      </a:pPr>
                      <a:r>
                        <a:rPr lang="en-US" sz="1500" b="1" dirty="0">
                          <a:solidFill>
                            <a:schemeClr val="tx2"/>
                          </a:solidFill>
                        </a:rPr>
                        <a:t>T1</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2"/>
                          </a:solidFill>
                        </a:rPr>
                        <a:t>Clock-out before clock-in</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In 09:00, out 08:30</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Rejected with error message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500" b="1" dirty="0">
                          <a:solidFill>
                            <a:schemeClr val="tx2"/>
                          </a:solidFill>
                        </a:rPr>
                        <a:t>T2</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b="1" dirty="0">
                          <a:solidFill>
                            <a:schemeClr val="tx2"/>
                          </a:solidFill>
                        </a:rPr>
                        <a:t>Duplicate roster entry</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Same employee, same date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Rejected; original entry kept</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500" b="1" dirty="0">
                          <a:solidFill>
                            <a:schemeClr val="tx2"/>
                          </a:solidFill>
                        </a:rPr>
                        <a:t>T3</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2"/>
                          </a:solidFill>
                        </a:rPr>
                        <a:t>Leave beyond balance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6 days asked, 4 available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Blocked; balance unchanged</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500" b="1" dirty="0">
                          <a:solidFill>
                            <a:schemeClr val="tx2"/>
                          </a:solidFill>
                        </a:rPr>
                        <a:t>T4</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b="1" dirty="0">
                          <a:solidFill>
                            <a:schemeClr val="tx2"/>
                          </a:solidFill>
                        </a:rPr>
                        <a:t>Approved leave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2 days, balance 10</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Status APPROVED; balance becomes 8</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500" b="1" dirty="0">
                          <a:solidFill>
                            <a:schemeClr val="tx2"/>
                          </a:solidFill>
                        </a:rPr>
                        <a:t>T5</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b="1" dirty="0">
                          <a:solidFill>
                            <a:schemeClr val="tx2"/>
                          </a:solidFill>
                        </a:rPr>
                        <a:t>Overtime approval</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2-hour request approved</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Summary shows 2 hours overtime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500" b="1" dirty="0">
                          <a:solidFill>
                            <a:schemeClr val="tx2"/>
                          </a:solidFill>
                        </a:rPr>
                        <a:t>T6</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b="1" dirty="0">
                          <a:solidFill>
                            <a:schemeClr val="tx2"/>
                          </a:solidFill>
                        </a:rPr>
                        <a:t>Second daily summary</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Same employee and date</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Rejected by UNIQUE constraint</a:t>
                      </a:r>
                      <a:endParaRPr lang="en-US" sz="1500" dirty="0"/>
                    </a:p>
                  </a:txBody>
                  <a:tcPr marL="164592" marR="164592"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Review 3 deliverables</a:t>
            </a:r>
            <a:endParaRPr lang="en-US" sz="3400" dirty="0"/>
          </a:p>
        </p:txBody>
      </p:sp>
      <p:sp>
        <p:nvSpPr>
          <p:cNvPr id="3" name="deliverable card 1"/>
          <p:cNvSpPr/>
          <p:nvPr/>
        </p:nvSpPr>
        <p:spPr>
          <a:xfrm>
            <a:off x="548640" y="1463040"/>
            <a:ext cx="3515258" cy="2194560"/>
          </a:xfrm>
          <a:prstGeom prst="roundRect">
            <a:avLst>
              <a:gd name="adj" fmla="val 3333"/>
            </a:avLst>
          </a:prstGeom>
          <a:solidFill>
            <a:schemeClr val="bg2"/>
          </a:solidFill>
          <a:ln/>
        </p:spPr>
      </p:sp>
      <p:sp>
        <p:nvSpPr>
          <p:cNvPr id="4" name="Source code icon bg"/>
          <p:cNvSpPr/>
          <p:nvPr/>
        </p:nvSpPr>
        <p:spPr>
          <a:xfrm>
            <a:off x="822960" y="1737360"/>
            <a:ext cx="640080" cy="640080"/>
          </a:xfrm>
          <a:prstGeom prst="ellipse">
            <a:avLst/>
          </a:prstGeom>
          <a:solidFill>
            <a:schemeClr val="accent1"/>
          </a:solidFill>
          <a:ln/>
        </p:spPr>
      </p:sp>
      <p:pic>
        <p:nvPicPr>
          <p:cNvPr id="5" name="Source code icon" descr="Source code icon">    </p:cNvPr>
          <p:cNvPicPr>
            <a:picLocks noChangeAspect="1"/>
          </p:cNvPicPr>
          <p:nvPr/>
        </p:nvPicPr>
        <p:blipFill>
          <a:blip r:embed="rId1"/>
          <a:stretch>
            <a:fillRect/>
          </a:stretch>
        </p:blipFill>
        <p:spPr>
          <a:xfrm>
            <a:off x="989381" y="1903781"/>
            <a:ext cx="307238" cy="307238"/>
          </a:xfrm>
          <a:prstGeom prst="rect">
            <a:avLst/>
          </a:prstGeom>
        </p:spPr>
      </p:pic>
      <p:sp>
        <p:nvSpPr>
          <p:cNvPr id="6" name="Text 3"/>
          <p:cNvSpPr txBox="1"/>
          <p:nvPr/>
        </p:nvSpPr>
        <p:spPr>
          <a:xfrm>
            <a:off x="1645920" y="182880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Source code</a:t>
            </a:r>
            <a:endParaRPr lang="en-US" sz="2000" dirty="0"/>
          </a:p>
        </p:txBody>
      </p:sp>
      <p:sp>
        <p:nvSpPr>
          <p:cNvPr id="7" name="Text 4"/>
          <p:cNvSpPr txBox="1"/>
          <p:nvPr/>
        </p:nvSpPr>
        <p:spPr>
          <a:xfrm>
            <a:off x="822960" y="2651760"/>
            <a:ext cx="2966618" cy="822960"/>
          </a:xfrm>
          <a:prstGeom prst="rect">
            <a:avLst/>
          </a:prstGeom>
          <a:noFill/>
          <a:ln/>
        </p:spPr>
        <p:txBody>
          <a:bodyPr wrap="square" lIns="0" tIns="0" rIns="0" bIns="0" rtlCol="0" anchor="t"/>
          <a:lstStyle/>
          <a:p>
            <a:pPr indent="0" marL="0">
              <a:buNone/>
            </a:pPr>
            <a:r>
              <a:rPr lang="en-US" sz="1600" dirty="0">
                <a:solidFill>
                  <a:schemeClr val="tx1"/>
                </a:solidFill>
              </a:rPr>
              <a:t>Python modules for interface, logic and database access</a:t>
            </a:r>
            <a:endParaRPr lang="en-US" sz="1600" dirty="0"/>
          </a:p>
        </p:txBody>
      </p:sp>
      <p:sp>
        <p:nvSpPr>
          <p:cNvPr id="8" name="deliverable card 2"/>
          <p:cNvSpPr/>
          <p:nvPr/>
        </p:nvSpPr>
        <p:spPr>
          <a:xfrm>
            <a:off x="4338218" y="1463040"/>
            <a:ext cx="3515258" cy="2194560"/>
          </a:xfrm>
          <a:prstGeom prst="roundRect">
            <a:avLst>
              <a:gd name="adj" fmla="val 3333"/>
            </a:avLst>
          </a:prstGeom>
          <a:solidFill>
            <a:schemeClr val="bg2"/>
          </a:solidFill>
          <a:ln/>
        </p:spPr>
      </p:sp>
      <p:sp>
        <p:nvSpPr>
          <p:cNvPr id="9" name="Database script icon bg"/>
          <p:cNvSpPr/>
          <p:nvPr/>
        </p:nvSpPr>
        <p:spPr>
          <a:xfrm>
            <a:off x="4612538" y="1737360"/>
            <a:ext cx="640080" cy="640080"/>
          </a:xfrm>
          <a:prstGeom prst="ellipse">
            <a:avLst/>
          </a:prstGeom>
          <a:solidFill>
            <a:schemeClr val="accent1"/>
          </a:solidFill>
          <a:ln/>
        </p:spPr>
      </p:sp>
      <p:pic>
        <p:nvPicPr>
          <p:cNvPr id="10" name="Database script icon" descr="Database script icon">    </p:cNvPr>
          <p:cNvPicPr>
            <a:picLocks noChangeAspect="1"/>
          </p:cNvPicPr>
          <p:nvPr/>
        </p:nvPicPr>
        <p:blipFill>
          <a:blip r:embed="rId2"/>
          <a:stretch>
            <a:fillRect/>
          </a:stretch>
        </p:blipFill>
        <p:spPr>
          <a:xfrm>
            <a:off x="4778959" y="1903781"/>
            <a:ext cx="307238" cy="307238"/>
          </a:xfrm>
          <a:prstGeom prst="rect">
            <a:avLst/>
          </a:prstGeom>
        </p:spPr>
      </p:pic>
      <p:sp>
        <p:nvSpPr>
          <p:cNvPr id="11" name="Text 7"/>
          <p:cNvSpPr txBox="1"/>
          <p:nvPr/>
        </p:nvSpPr>
        <p:spPr>
          <a:xfrm>
            <a:off x="5435498" y="182880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Database script</a:t>
            </a:r>
            <a:endParaRPr lang="en-US" sz="2000" dirty="0"/>
          </a:p>
        </p:txBody>
      </p:sp>
      <p:sp>
        <p:nvSpPr>
          <p:cNvPr id="12" name="Text 8"/>
          <p:cNvSpPr txBox="1"/>
          <p:nvPr/>
        </p:nvSpPr>
        <p:spPr>
          <a:xfrm>
            <a:off x="4612538" y="2651760"/>
            <a:ext cx="2966618" cy="822960"/>
          </a:xfrm>
          <a:prstGeom prst="rect">
            <a:avLst/>
          </a:prstGeom>
          <a:noFill/>
          <a:ln/>
        </p:spPr>
        <p:txBody>
          <a:bodyPr wrap="square" lIns="0" tIns="0" rIns="0" bIns="0" rtlCol="0" anchor="t"/>
          <a:lstStyle/>
          <a:p>
            <a:pPr indent="0" marL="0">
              <a:buNone/>
            </a:pPr>
            <a:r>
              <a:rPr lang="en-US" sz="1600" dirty="0">
                <a:solidFill>
                  <a:schemeClr val="tx1"/>
                </a:solidFill>
              </a:rPr>
              <a:t>Tables, constraints, triggers, indexes and views</a:t>
            </a:r>
            <a:endParaRPr lang="en-US" sz="1600" dirty="0"/>
          </a:p>
        </p:txBody>
      </p:sp>
      <p:sp>
        <p:nvSpPr>
          <p:cNvPr id="13" name="deliverable card 3"/>
          <p:cNvSpPr/>
          <p:nvPr/>
        </p:nvSpPr>
        <p:spPr>
          <a:xfrm>
            <a:off x="8127797" y="1463040"/>
            <a:ext cx="3515258" cy="2194560"/>
          </a:xfrm>
          <a:prstGeom prst="roundRect">
            <a:avLst>
              <a:gd name="adj" fmla="val 3333"/>
            </a:avLst>
          </a:prstGeom>
          <a:solidFill>
            <a:schemeClr val="bg2"/>
          </a:solidFill>
          <a:ln/>
        </p:spPr>
      </p:sp>
      <p:sp>
        <p:nvSpPr>
          <p:cNvPr id="14" name="Test data icon bg"/>
          <p:cNvSpPr/>
          <p:nvPr/>
        </p:nvSpPr>
        <p:spPr>
          <a:xfrm>
            <a:off x="8402117" y="1737360"/>
            <a:ext cx="640080" cy="640080"/>
          </a:xfrm>
          <a:prstGeom prst="ellipse">
            <a:avLst/>
          </a:prstGeom>
          <a:solidFill>
            <a:schemeClr val="accent1"/>
          </a:solidFill>
          <a:ln/>
        </p:spPr>
      </p:sp>
      <p:pic>
        <p:nvPicPr>
          <p:cNvPr id="15" name="Test data icon" descr="Test data icon">    </p:cNvPr>
          <p:cNvPicPr>
            <a:picLocks noChangeAspect="1"/>
          </p:cNvPicPr>
          <p:nvPr/>
        </p:nvPicPr>
        <p:blipFill>
          <a:blip r:embed="rId3"/>
          <a:stretch>
            <a:fillRect/>
          </a:stretch>
        </p:blipFill>
        <p:spPr>
          <a:xfrm>
            <a:off x="8568538" y="1903781"/>
            <a:ext cx="307238" cy="307238"/>
          </a:xfrm>
          <a:prstGeom prst="rect">
            <a:avLst/>
          </a:prstGeom>
        </p:spPr>
      </p:pic>
      <p:sp>
        <p:nvSpPr>
          <p:cNvPr id="16" name="Text 11"/>
          <p:cNvSpPr txBox="1"/>
          <p:nvPr/>
        </p:nvSpPr>
        <p:spPr>
          <a:xfrm>
            <a:off x="9225077" y="182880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Test data</a:t>
            </a:r>
            <a:endParaRPr lang="en-US" sz="2000" dirty="0"/>
          </a:p>
        </p:txBody>
      </p:sp>
      <p:sp>
        <p:nvSpPr>
          <p:cNvPr id="17" name="Text 12"/>
          <p:cNvSpPr txBox="1"/>
          <p:nvPr/>
        </p:nvSpPr>
        <p:spPr>
          <a:xfrm>
            <a:off x="8402117" y="2651760"/>
            <a:ext cx="2966618" cy="822960"/>
          </a:xfrm>
          <a:prstGeom prst="rect">
            <a:avLst/>
          </a:prstGeom>
          <a:noFill/>
          <a:ln/>
        </p:spPr>
        <p:txBody>
          <a:bodyPr wrap="square" lIns="0" tIns="0" rIns="0" bIns="0" rtlCol="0" anchor="t"/>
          <a:lstStyle/>
          <a:p>
            <a:pPr indent="0" marL="0">
              <a:buNone/>
            </a:pPr>
            <a:r>
              <a:rPr lang="en-US" sz="1600" dirty="0">
                <a:solidFill>
                  <a:schemeClr val="tx1"/>
                </a:solidFill>
              </a:rPr>
              <a:t>Realistic employees, rosters, punches and leave records</a:t>
            </a:r>
            <a:endParaRPr lang="en-US" sz="1600" dirty="0"/>
          </a:p>
        </p:txBody>
      </p:sp>
      <p:sp>
        <p:nvSpPr>
          <p:cNvPr id="18" name="deliverable card 4"/>
          <p:cNvSpPr/>
          <p:nvPr/>
        </p:nvSpPr>
        <p:spPr>
          <a:xfrm>
            <a:off x="548640" y="3886200"/>
            <a:ext cx="3515258" cy="2194560"/>
          </a:xfrm>
          <a:prstGeom prst="roundRect">
            <a:avLst>
              <a:gd name="adj" fmla="val 3333"/>
            </a:avLst>
          </a:prstGeom>
          <a:solidFill>
            <a:schemeClr val="bg2"/>
          </a:solidFill>
          <a:ln/>
        </p:spPr>
      </p:sp>
      <p:sp>
        <p:nvSpPr>
          <p:cNvPr id="19" name="Output screens icon bg"/>
          <p:cNvSpPr/>
          <p:nvPr/>
        </p:nvSpPr>
        <p:spPr>
          <a:xfrm>
            <a:off x="822960" y="4160520"/>
            <a:ext cx="640080" cy="640080"/>
          </a:xfrm>
          <a:prstGeom prst="ellipse">
            <a:avLst/>
          </a:prstGeom>
          <a:solidFill>
            <a:schemeClr val="accent1"/>
          </a:solidFill>
          <a:ln/>
        </p:spPr>
      </p:sp>
      <p:pic>
        <p:nvPicPr>
          <p:cNvPr id="20" name="Output screens icon" descr="Output screens icon">    </p:cNvPr>
          <p:cNvPicPr>
            <a:picLocks noChangeAspect="1"/>
          </p:cNvPicPr>
          <p:nvPr/>
        </p:nvPicPr>
        <p:blipFill>
          <a:blip r:embed="rId4"/>
          <a:stretch>
            <a:fillRect/>
          </a:stretch>
        </p:blipFill>
        <p:spPr>
          <a:xfrm>
            <a:off x="989381" y="4326941"/>
            <a:ext cx="307238" cy="307238"/>
          </a:xfrm>
          <a:prstGeom prst="rect">
            <a:avLst/>
          </a:prstGeom>
        </p:spPr>
      </p:pic>
      <p:sp>
        <p:nvSpPr>
          <p:cNvPr id="21" name="Text 15"/>
          <p:cNvSpPr txBox="1"/>
          <p:nvPr/>
        </p:nvSpPr>
        <p:spPr>
          <a:xfrm>
            <a:off x="1645920" y="425196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Output screens</a:t>
            </a:r>
            <a:endParaRPr lang="en-US" sz="2000" dirty="0"/>
          </a:p>
        </p:txBody>
      </p:sp>
      <p:sp>
        <p:nvSpPr>
          <p:cNvPr id="22" name="Text 16"/>
          <p:cNvSpPr txBox="1"/>
          <p:nvPr/>
        </p:nvSpPr>
        <p:spPr>
          <a:xfrm>
            <a:off x="822960" y="5074920"/>
            <a:ext cx="2966618" cy="822960"/>
          </a:xfrm>
          <a:prstGeom prst="rect">
            <a:avLst/>
          </a:prstGeom>
          <a:noFill/>
          <a:ln/>
        </p:spPr>
        <p:txBody>
          <a:bodyPr wrap="square" lIns="0" tIns="0" rIns="0" bIns="0" rtlCol="0" anchor="t"/>
          <a:lstStyle/>
          <a:p>
            <a:pPr indent="0" marL="0">
              <a:buNone/>
            </a:pPr>
            <a:r>
              <a:rPr lang="en-US" sz="1600" dirty="0">
                <a:solidFill>
                  <a:schemeClr val="tx1"/>
                </a:solidFill>
              </a:rPr>
              <a:t>Screenshots of every module and report</a:t>
            </a:r>
            <a:endParaRPr lang="en-US" sz="1600" dirty="0"/>
          </a:p>
        </p:txBody>
      </p:sp>
      <p:sp>
        <p:nvSpPr>
          <p:cNvPr id="23" name="deliverable card 5"/>
          <p:cNvSpPr/>
          <p:nvPr/>
        </p:nvSpPr>
        <p:spPr>
          <a:xfrm>
            <a:off x="4338218" y="3886200"/>
            <a:ext cx="3515258" cy="2194560"/>
          </a:xfrm>
          <a:prstGeom prst="roundRect">
            <a:avLst>
              <a:gd name="adj" fmla="val 3333"/>
            </a:avLst>
          </a:prstGeom>
          <a:solidFill>
            <a:schemeClr val="bg2"/>
          </a:solidFill>
          <a:ln/>
        </p:spPr>
      </p:sp>
      <p:sp>
        <p:nvSpPr>
          <p:cNvPr id="24" name="Project report icon bg"/>
          <p:cNvSpPr/>
          <p:nvPr/>
        </p:nvSpPr>
        <p:spPr>
          <a:xfrm>
            <a:off x="4612538" y="4160520"/>
            <a:ext cx="640080" cy="640080"/>
          </a:xfrm>
          <a:prstGeom prst="ellipse">
            <a:avLst/>
          </a:prstGeom>
          <a:solidFill>
            <a:schemeClr val="accent1"/>
          </a:solidFill>
          <a:ln/>
        </p:spPr>
      </p:sp>
      <p:pic>
        <p:nvPicPr>
          <p:cNvPr id="25" name="Project report icon" descr="Project report icon">    </p:cNvPr>
          <p:cNvPicPr>
            <a:picLocks noChangeAspect="1"/>
          </p:cNvPicPr>
          <p:nvPr/>
        </p:nvPicPr>
        <p:blipFill>
          <a:blip r:embed="rId5"/>
          <a:stretch>
            <a:fillRect/>
          </a:stretch>
        </p:blipFill>
        <p:spPr>
          <a:xfrm>
            <a:off x="4778959" y="4326941"/>
            <a:ext cx="307238" cy="307238"/>
          </a:xfrm>
          <a:prstGeom prst="rect">
            <a:avLst/>
          </a:prstGeom>
        </p:spPr>
      </p:pic>
      <p:sp>
        <p:nvSpPr>
          <p:cNvPr id="26" name="Text 19"/>
          <p:cNvSpPr txBox="1"/>
          <p:nvPr/>
        </p:nvSpPr>
        <p:spPr>
          <a:xfrm>
            <a:off x="5435498" y="425196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Project report</a:t>
            </a:r>
            <a:endParaRPr lang="en-US" sz="2000" dirty="0"/>
          </a:p>
        </p:txBody>
      </p:sp>
      <p:sp>
        <p:nvSpPr>
          <p:cNvPr id="27" name="Text 20"/>
          <p:cNvSpPr txBox="1"/>
          <p:nvPr/>
        </p:nvSpPr>
        <p:spPr>
          <a:xfrm>
            <a:off x="4612538" y="5074920"/>
            <a:ext cx="2966618" cy="822960"/>
          </a:xfrm>
          <a:prstGeom prst="rect">
            <a:avLst/>
          </a:prstGeom>
          <a:noFill/>
          <a:ln/>
        </p:spPr>
        <p:txBody>
          <a:bodyPr wrap="square" lIns="0" tIns="0" rIns="0" bIns="0" rtlCol="0" anchor="t"/>
          <a:lstStyle/>
          <a:p>
            <a:pPr indent="0" marL="0">
              <a:buNone/>
            </a:pPr>
            <a:r>
              <a:rPr lang="en-US" sz="1600" dirty="0">
                <a:solidFill>
                  <a:schemeClr val="tx1"/>
                </a:solidFill>
              </a:rPr>
              <a:t>Design, implementation and testing documented</a:t>
            </a:r>
            <a:endParaRPr lang="en-US" sz="1600" dirty="0"/>
          </a:p>
        </p:txBody>
      </p:sp>
      <p:sp>
        <p:nvSpPr>
          <p:cNvPr id="28" name="deliverable card 6"/>
          <p:cNvSpPr/>
          <p:nvPr/>
        </p:nvSpPr>
        <p:spPr>
          <a:xfrm>
            <a:off x="8127797" y="3886200"/>
            <a:ext cx="3515258" cy="2194560"/>
          </a:xfrm>
          <a:prstGeom prst="roundRect">
            <a:avLst>
              <a:gd name="adj" fmla="val 3333"/>
            </a:avLst>
          </a:prstGeom>
          <a:solidFill>
            <a:schemeClr val="bg2"/>
          </a:solidFill>
          <a:ln/>
        </p:spPr>
      </p:sp>
      <p:sp>
        <p:nvSpPr>
          <p:cNvPr id="29" name="Viva-voce icon bg"/>
          <p:cNvSpPr/>
          <p:nvPr/>
        </p:nvSpPr>
        <p:spPr>
          <a:xfrm>
            <a:off x="8402117" y="4160520"/>
            <a:ext cx="640080" cy="640080"/>
          </a:xfrm>
          <a:prstGeom prst="ellipse">
            <a:avLst/>
          </a:prstGeom>
          <a:solidFill>
            <a:schemeClr val="accent1"/>
          </a:solidFill>
          <a:ln/>
        </p:spPr>
      </p:sp>
      <p:pic>
        <p:nvPicPr>
          <p:cNvPr id="30" name="Viva-voce icon" descr="Viva-voce icon">    </p:cNvPr>
          <p:cNvPicPr>
            <a:picLocks noChangeAspect="1"/>
          </p:cNvPicPr>
          <p:nvPr/>
        </p:nvPicPr>
        <p:blipFill>
          <a:blip r:embed="rId6"/>
          <a:stretch>
            <a:fillRect/>
          </a:stretch>
        </p:blipFill>
        <p:spPr>
          <a:xfrm>
            <a:off x="8568538" y="4326941"/>
            <a:ext cx="307238" cy="307238"/>
          </a:xfrm>
          <a:prstGeom prst="rect">
            <a:avLst/>
          </a:prstGeom>
        </p:spPr>
      </p:pic>
      <p:sp>
        <p:nvSpPr>
          <p:cNvPr id="31" name="Text 23"/>
          <p:cNvSpPr txBox="1"/>
          <p:nvPr/>
        </p:nvSpPr>
        <p:spPr>
          <a:xfrm>
            <a:off x="9225077" y="4251960"/>
            <a:ext cx="2235098" cy="457200"/>
          </a:xfrm>
          <a:prstGeom prst="rect">
            <a:avLst/>
          </a:prstGeom>
          <a:noFill/>
          <a:ln/>
        </p:spPr>
        <p:txBody>
          <a:bodyPr wrap="square" lIns="0" tIns="0" rIns="0" bIns="0" rtlCol="0" anchor="ctr"/>
          <a:lstStyle/>
          <a:p>
            <a:pPr indent="0" marL="0">
              <a:buNone/>
            </a:pPr>
            <a:r>
              <a:rPr lang="en-US" sz="2000" b="1" dirty="0">
                <a:solidFill>
                  <a:schemeClr val="tx2"/>
                </a:solidFill>
              </a:rPr>
              <a:t>Viva-voce</a:t>
            </a:r>
            <a:endParaRPr lang="en-US" sz="2000" dirty="0"/>
          </a:p>
        </p:txBody>
      </p:sp>
      <p:sp>
        <p:nvSpPr>
          <p:cNvPr id="32" name="Text 24"/>
          <p:cNvSpPr txBox="1"/>
          <p:nvPr/>
        </p:nvSpPr>
        <p:spPr>
          <a:xfrm>
            <a:off x="8402117" y="5074920"/>
            <a:ext cx="2966618" cy="822960"/>
          </a:xfrm>
          <a:prstGeom prst="rect">
            <a:avLst/>
          </a:prstGeom>
          <a:noFill/>
          <a:ln/>
        </p:spPr>
        <p:txBody>
          <a:bodyPr wrap="square" lIns="0" tIns="0" rIns="0" bIns="0" rtlCol="0" anchor="t"/>
          <a:lstStyle/>
          <a:p>
            <a:pPr indent="0" marL="0">
              <a:buNone/>
            </a:pPr>
            <a:r>
              <a:rPr lang="en-US" sz="1600" dirty="0">
                <a:solidFill>
                  <a:schemeClr val="tx1"/>
                </a:solidFill>
              </a:rPr>
              <a:t>Ready to explain the design, queries and code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losing card 1"/>
          <p:cNvSpPr/>
          <p:nvPr/>
        </p:nvSpPr>
        <p:spPr>
          <a:xfrm>
            <a:off x="548640" y="1463040"/>
            <a:ext cx="5364328" cy="3108960"/>
          </a:xfrm>
          <a:prstGeom prst="roundRect">
            <a:avLst>
              <a:gd name="adj" fmla="val 2353"/>
            </a:avLst>
          </a:prstGeom>
          <a:solidFill>
            <a:schemeClr val="bg1">
              <a:alpha val="10000"/>
            </a:schemeClr>
          </a:solidFill>
          <a:ln/>
        </p:spPr>
      </p:sp>
      <p:sp>
        <p:nvSpPr>
          <p:cNvPr id="4" name="Text 2"/>
          <p:cNvSpPr txBox="1"/>
          <p:nvPr/>
        </p:nvSpPr>
        <p:spPr>
          <a:xfrm>
            <a:off x="914400" y="1737360"/>
            <a:ext cx="4632808"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WHAT WE DELIVERED</a:t>
            </a:r>
            <a:endParaRPr lang="en-US" sz="1300" dirty="0"/>
          </a:p>
        </p:txBody>
      </p:sp>
      <p:sp>
        <p:nvSpPr>
          <p:cNvPr id="5" name="Text 3"/>
          <p:cNvSpPr txBox="1"/>
          <p:nvPr/>
        </p:nvSpPr>
        <p:spPr>
          <a:xfrm>
            <a:off x="914400" y="2194560"/>
            <a:ext cx="4632808" cy="21945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A 3NF database with all five business rules enforced</a:t>
            </a:r>
            <a:endParaRPr lang="en-US" sz="1800" dirty="0"/>
          </a:p>
          <a:p>
            <a:pPr marL="342900" indent="-342900">
              <a:spcAft>
                <a:spcPts val="1000"/>
              </a:spcAft>
              <a:buSzPct val="100000"/>
              <a:buChar char="•"/>
            </a:pPr>
            <a:r>
              <a:rPr lang="en-US" sz="1800" dirty="0">
                <a:solidFill>
                  <a:schemeClr val="bg1"/>
                </a:solidFill>
              </a:rPr>
              <a:t>A working application from roster to reporting</a:t>
            </a:r>
            <a:endParaRPr lang="en-US" sz="1800" dirty="0"/>
          </a:p>
          <a:p>
            <a:pPr marL="342900" indent="-342900">
              <a:spcAft>
                <a:spcPts val="1000"/>
              </a:spcAft>
              <a:buSzPct val="100000"/>
              <a:buChar char="•"/>
            </a:pPr>
            <a:r>
              <a:rPr lang="en-US" sz="1800" dirty="0">
                <a:solidFill>
                  <a:schemeClr val="bg1"/>
                </a:solidFill>
              </a:rPr>
              <a:t>Validated, tested and demonstrated with CRUD, search and reports</a:t>
            </a:r>
            <a:endParaRPr lang="en-US" sz="1800" dirty="0"/>
          </a:p>
        </p:txBody>
      </p:sp>
      <p:sp>
        <p:nvSpPr>
          <p:cNvPr id="6" name="closing card 2"/>
          <p:cNvSpPr/>
          <p:nvPr/>
        </p:nvSpPr>
        <p:spPr>
          <a:xfrm>
            <a:off x="6278728" y="1463040"/>
            <a:ext cx="5364328" cy="3108960"/>
          </a:xfrm>
          <a:prstGeom prst="roundRect">
            <a:avLst>
              <a:gd name="adj" fmla="val 2353"/>
            </a:avLst>
          </a:prstGeom>
          <a:solidFill>
            <a:schemeClr val="bg1">
              <a:alpha val="10000"/>
            </a:schemeClr>
          </a:solidFill>
          <a:ln/>
        </p:spPr>
      </p:sp>
      <p:sp>
        <p:nvSpPr>
          <p:cNvPr id="7" name="Text 5"/>
          <p:cNvSpPr txBox="1"/>
          <p:nvPr/>
        </p:nvSpPr>
        <p:spPr>
          <a:xfrm>
            <a:off x="6644488" y="1737360"/>
            <a:ext cx="4632808"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FUTURE SCOPE</a:t>
            </a:r>
            <a:endParaRPr lang="en-US" sz="1300" dirty="0"/>
          </a:p>
        </p:txBody>
      </p:sp>
      <p:sp>
        <p:nvSpPr>
          <p:cNvPr id="8" name="Text 6"/>
          <p:cNvSpPr txBox="1"/>
          <p:nvPr/>
        </p:nvSpPr>
        <p:spPr>
          <a:xfrm>
            <a:off x="6644488" y="2194560"/>
            <a:ext cx="4632808" cy="21945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Biometric or card-reader integration for punches</a:t>
            </a:r>
            <a:endParaRPr lang="en-US" sz="1800" dirty="0"/>
          </a:p>
          <a:p>
            <a:pPr marL="342900" indent="-342900">
              <a:spcAft>
                <a:spcPts val="1000"/>
              </a:spcAft>
              <a:buSzPct val="100000"/>
              <a:buChar char="•"/>
            </a:pPr>
            <a:r>
              <a:rPr lang="en-US" sz="1800" dirty="0">
                <a:solidFill>
                  <a:schemeClr val="bg1"/>
                </a:solidFill>
              </a:rPr>
              <a:t>Payroll export from daily summaries</a:t>
            </a:r>
            <a:endParaRPr lang="en-US" sz="1800" dirty="0"/>
          </a:p>
          <a:p>
            <a:pPr marL="342900" indent="-342900">
              <a:spcAft>
                <a:spcPts val="1000"/>
              </a:spcAft>
              <a:buSzPct val="100000"/>
              <a:buChar char="•"/>
            </a:pPr>
            <a:r>
              <a:rPr lang="en-US" sz="1800" dirty="0">
                <a:solidFill>
                  <a:schemeClr val="bg1"/>
                </a:solidFill>
              </a:rPr>
              <a:t>Web or mobile access for employees</a:t>
            </a:r>
            <a:endParaRPr lang="en-US" sz="1800" dirty="0"/>
          </a:p>
        </p:txBody>
      </p:sp>
      <p:sp>
        <p:nvSpPr>
          <p:cNvPr id="9" name="Text 7"/>
          <p:cNvSpPr txBox="1"/>
          <p:nvPr/>
        </p:nvSpPr>
        <p:spPr>
          <a:xfrm>
            <a:off x="548640" y="5029200"/>
            <a:ext cx="548640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10" name="Text 8"/>
          <p:cNvSpPr txBox="1"/>
          <p:nvPr/>
        </p:nvSpPr>
        <p:spPr>
          <a:xfrm>
            <a:off x="6217920" y="5138928"/>
            <a:ext cx="5422392" cy="731520"/>
          </a:xfrm>
          <a:prstGeom prst="rect">
            <a:avLst/>
          </a:prstGeom>
          <a:noFill/>
          <a:ln/>
        </p:spPr>
        <p:txBody>
          <a:bodyPr wrap="square" lIns="0" tIns="0" rIns="0" bIns="0" rtlCol="0" anchor="t"/>
          <a:lstStyle/>
          <a:p>
            <a:pPr algn="r" indent="0" marL="0">
              <a:buNone/>
            </a:pPr>
            <a:r>
              <a:rPr lang="en-US" sz="3200" dirty="0">
                <a:solidFill>
                  <a:schemeClr val="accent2"/>
                </a:solidFill>
              </a:rPr>
              <a:t>Questions?</a:t>
            </a:r>
            <a:endParaRPr lang="en-US" sz="3200" dirty="0"/>
          </a:p>
        </p:txBody>
      </p:sp>
    </p:spTree>
  </p:cSld>
  <p:clrMapOvr>
    <a:masterClrMapping/>
  </p:clrMapOvr>
</p:sld>
</file>

<file path=ppt/theme/theme1.xml><?xml version="1.0" encoding="utf-8"?>
<a:theme xmlns:a="http://schemas.openxmlformats.org/drawingml/2006/main" name="ShiftTime">
  <a:themeElements>
    <a:clrScheme name="ShiftTime">
      <a:dk1>
        <a:srgbClr val="1B2433"/>
      </a:dk1>
      <a:lt1>
        <a:srgbClr val="FFFFFF"/>
      </a:lt1>
      <a:dk2>
        <a:srgbClr val="14213D"/>
      </a:dk2>
      <a:lt2>
        <a:srgbClr val="EEF4F3"/>
      </a:lt2>
      <a:accent1>
        <a:srgbClr val="0F766E"/>
      </a:accent1>
      <a:accent2>
        <a:srgbClr val="F59E0B"/>
      </a:accent2>
      <a:accent3>
        <a:srgbClr val="64748B"/>
      </a:accent3>
      <a:accent4>
        <a:srgbClr val="5EEAD4"/>
      </a:accent4>
      <a:accent5>
        <a:srgbClr val="DC2626"/>
      </a:accent5>
      <a:accent6>
        <a:srgbClr val="CBD5E1"/>
      </a:accent6>
      <a:hlink>
        <a:srgbClr val="0F766E"/>
      </a:hlink>
      <a:folHlink>
        <a:srgbClr val="64748B"/>
      </a:folHlink>
    </a:clrScheme>
    <a:fontScheme name="ShiftTi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38 - Review 3</dc:title>
  <dc:subject>PptxGenJS Presentation</dc:subject>
  <dc:creator>PptxGenJS</dc:creator>
  <cp:lastModifiedBy>PptxGenJS</cp:lastModifiedBy>
  <cp:revision>1</cp:revision>
  <dcterms:created xsi:type="dcterms:W3CDTF">2026-10-09T19:26:37Z</dcterms:created>
  <dcterms:modified xsi:type="dcterms:W3CDTF">2026-10-09T19:26:37Z</dcterms:modified>
</cp:coreProperties>
</file>